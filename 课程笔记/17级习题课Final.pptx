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8" r:id="rId1"/>
  </p:sldMasterIdLst>
  <p:notesMasterIdLst>
    <p:notesMasterId r:id="rId58"/>
  </p:notesMasterIdLst>
  <p:handoutMasterIdLst>
    <p:handoutMasterId r:id="rId59"/>
  </p:handoutMasterIdLst>
  <p:sldIdLst>
    <p:sldId id="740" r:id="rId2"/>
    <p:sldId id="741" r:id="rId3"/>
    <p:sldId id="742" r:id="rId4"/>
    <p:sldId id="744" r:id="rId5"/>
    <p:sldId id="761" r:id="rId6"/>
    <p:sldId id="774" r:id="rId7"/>
    <p:sldId id="745" r:id="rId8"/>
    <p:sldId id="747" r:id="rId9"/>
    <p:sldId id="748" r:id="rId10"/>
    <p:sldId id="763" r:id="rId11"/>
    <p:sldId id="775" r:id="rId12"/>
    <p:sldId id="749" r:id="rId13"/>
    <p:sldId id="762" r:id="rId14"/>
    <p:sldId id="777" r:id="rId15"/>
    <p:sldId id="778" r:id="rId16"/>
    <p:sldId id="750" r:id="rId17"/>
    <p:sldId id="752" r:id="rId18"/>
    <p:sldId id="751" r:id="rId19"/>
    <p:sldId id="753" r:id="rId20"/>
    <p:sldId id="779" r:id="rId21"/>
    <p:sldId id="780" r:id="rId22"/>
    <p:sldId id="781" r:id="rId23"/>
    <p:sldId id="782" r:id="rId24"/>
    <p:sldId id="754" r:id="rId25"/>
    <p:sldId id="786" r:id="rId26"/>
    <p:sldId id="785" r:id="rId27"/>
    <p:sldId id="755" r:id="rId28"/>
    <p:sldId id="764" r:id="rId29"/>
    <p:sldId id="756" r:id="rId30"/>
    <p:sldId id="787" r:id="rId31"/>
    <p:sldId id="788" r:id="rId32"/>
    <p:sldId id="765" r:id="rId33"/>
    <p:sldId id="790" r:id="rId34"/>
    <p:sldId id="791" r:id="rId35"/>
    <p:sldId id="766" r:id="rId36"/>
    <p:sldId id="792" r:id="rId37"/>
    <p:sldId id="757" r:id="rId38"/>
    <p:sldId id="767" r:id="rId39"/>
    <p:sldId id="758" r:id="rId40"/>
    <p:sldId id="759" r:id="rId41"/>
    <p:sldId id="794" r:id="rId42"/>
    <p:sldId id="793" r:id="rId43"/>
    <p:sldId id="769" r:id="rId44"/>
    <p:sldId id="770" r:id="rId45"/>
    <p:sldId id="795" r:id="rId46"/>
    <p:sldId id="796" r:id="rId47"/>
    <p:sldId id="797" r:id="rId48"/>
    <p:sldId id="798" r:id="rId49"/>
    <p:sldId id="799" r:id="rId50"/>
    <p:sldId id="772" r:id="rId51"/>
    <p:sldId id="771" r:id="rId52"/>
    <p:sldId id="801" r:id="rId53"/>
    <p:sldId id="773" r:id="rId54"/>
    <p:sldId id="800" r:id="rId55"/>
    <p:sldId id="802" r:id="rId56"/>
    <p:sldId id="803" r:id="rId57"/>
  </p:sldIdLst>
  <p:sldSz cx="9144000" cy="6858000" type="screen4x3"/>
  <p:notesSz cx="7302500" cy="9586913"/>
  <p:custDataLst>
    <p:tags r:id="rId60"/>
  </p:custDataLst>
  <p:defaultTex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19">
          <p15:clr>
            <a:srgbClr val="A4A3A4"/>
          </p15:clr>
        </p15:guide>
        <p15:guide id="2" pos="230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clrMru>
    <a:srgbClr val="B20E12"/>
    <a:srgbClr val="E0F4E3"/>
    <a:srgbClr val="E0E0E0"/>
    <a:srgbClr val="E3E4E6"/>
    <a:srgbClr val="FFFF99"/>
    <a:srgbClr val="FF9999"/>
    <a:srgbClr val="EFBFBF"/>
    <a:srgbClr val="A8E799"/>
    <a:srgbClr val="CDF1C5"/>
    <a:srgbClr val="F1C7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855" autoAdjust="0"/>
    <p:restoredTop sz="67539" autoAdjust="0"/>
  </p:normalViewPr>
  <p:slideViewPr>
    <p:cSldViewPr snapToObjects="1">
      <p:cViewPr varScale="1">
        <p:scale>
          <a:sx n="37" d="100"/>
          <a:sy n="37" d="100"/>
        </p:scale>
        <p:origin x="1569" y="27"/>
      </p:cViewPr>
      <p:guideLst>
        <p:guide orient="horz" pos="2160"/>
        <p:guide pos="2880"/>
      </p:guideLst>
    </p:cSldViewPr>
  </p:slideViewPr>
  <p:notesTextViewPr>
    <p:cViewPr>
      <p:scale>
        <a:sx n="3" d="2"/>
        <a:sy n="3" d="2"/>
      </p:scale>
      <p:origin x="0" y="0"/>
    </p:cViewPr>
  </p:notesTextViewPr>
  <p:sorterViewPr>
    <p:cViewPr>
      <p:scale>
        <a:sx n="66" d="100"/>
        <a:sy n="66" d="100"/>
      </p:scale>
      <p:origin x="0" y="2464"/>
    </p:cViewPr>
  </p:sorterViewPr>
  <p:notesViewPr>
    <p:cSldViewPr snapToObjects="1">
      <p:cViewPr varScale="1">
        <p:scale>
          <a:sx n="64" d="100"/>
          <a:sy n="64" d="100"/>
        </p:scale>
        <p:origin x="3082" y="62"/>
      </p:cViewPr>
      <p:guideLst>
        <p:guide orient="horz" pos="3019"/>
        <p:guide pos="230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2931" name="Rectangle 3"/>
          <p:cNvSpPr>
            <a:spLocks noGrp="1" noChangeArrowheads="1"/>
          </p:cNvSpPr>
          <p:nvPr>
            <p:ph type="dt" sz="quarter" idx="1"/>
          </p:nvPr>
        </p:nvSpPr>
        <p:spPr bwMode="auto">
          <a:xfrm>
            <a:off x="4171950" y="0"/>
            <a:ext cx="3130550" cy="482600"/>
          </a:xfrm>
          <a:prstGeom prst="rect">
            <a:avLst/>
          </a:prstGeom>
          <a:noFill/>
          <a:ln w="9525">
            <a:noFill/>
            <a:miter lim="800000"/>
            <a:headEnd/>
            <a:tailEnd/>
          </a:ln>
          <a:effectLst/>
        </p:spPr>
        <p:txBody>
          <a:bodyPr vert="horz" wrap="square" lIns="96422" tIns="48211" rIns="96422" bIns="48211" numCol="1" anchor="t" anchorCtr="0" compatLnSpc="1">
            <a:prstTxWarp prst="textNoShape">
              <a:avLst/>
            </a:prstTxWarp>
          </a:bodyPr>
          <a:lstStyle>
            <a:lvl1pPr algn="r" defTabSz="965200">
              <a:defRPr sz="1200" smtClean="0">
                <a:latin typeface="Times New Roman" pitchFamily="18" charset="0"/>
              </a:defRPr>
            </a:lvl1pPr>
          </a:lstStyle>
          <a:p>
            <a:pPr>
              <a:defRPr/>
            </a:pPr>
            <a:endParaRPr lang="en-US"/>
          </a:p>
        </p:txBody>
      </p:sp>
      <p:sp>
        <p:nvSpPr>
          <p:cNvPr id="252933" name="Rectangle 5"/>
          <p:cNvSpPr>
            <a:spLocks noGrp="1" noChangeArrowheads="1"/>
          </p:cNvSpPr>
          <p:nvPr>
            <p:ph type="sldNum" sz="quarter" idx="3"/>
          </p:nvPr>
        </p:nvSpPr>
        <p:spPr bwMode="auto">
          <a:xfrm>
            <a:off x="4171950" y="9091613"/>
            <a:ext cx="3130550" cy="482600"/>
          </a:xfrm>
          <a:prstGeom prst="rect">
            <a:avLst/>
          </a:prstGeom>
          <a:noFill/>
          <a:ln w="9525">
            <a:noFill/>
            <a:miter lim="800000"/>
            <a:headEnd/>
            <a:tailEnd/>
          </a:ln>
          <a:effectLst/>
        </p:spPr>
        <p:txBody>
          <a:bodyPr vert="horz" wrap="square" lIns="96422" tIns="48211" rIns="96422" bIns="48211" numCol="1" anchor="b" anchorCtr="0" compatLnSpc="1">
            <a:prstTxWarp prst="textNoShape">
              <a:avLst/>
            </a:prstTxWarp>
          </a:bodyPr>
          <a:lstStyle>
            <a:lvl1pPr algn="r" defTabSz="965200">
              <a:defRPr sz="1200" smtClean="0">
                <a:latin typeface="Times New Roman" pitchFamily="18" charset="0"/>
              </a:defRPr>
            </a:lvl1pPr>
          </a:lstStyle>
          <a:p>
            <a:pPr>
              <a:defRPr/>
            </a:pPr>
            <a:fld id="{83587096-7852-44F5-9A71-D621B1FF2472}" type="slidenum">
              <a:rPr lang="en-US"/>
              <a:pPr>
                <a:defRPr/>
              </a:pPr>
              <a:t>‹#›</a:t>
            </a:fld>
            <a:endParaRPr lang="en-US"/>
          </a:p>
        </p:txBody>
      </p:sp>
    </p:spTree>
    <p:extLst>
      <p:ext uri="{BB962C8B-B14F-4D97-AF65-F5344CB8AC3E}">
        <p14:creationId xmlns:p14="http://schemas.microsoft.com/office/powerpoint/2010/main" val="322115488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8578" name="Rectangle 2"/>
          <p:cNvSpPr>
            <a:spLocks noGrp="1" noChangeArrowheads="1"/>
          </p:cNvSpPr>
          <p:nvPr>
            <p:ph type="hdr" sz="quarter"/>
          </p:nvPr>
        </p:nvSpPr>
        <p:spPr bwMode="auto">
          <a:xfrm>
            <a:off x="0" y="0"/>
            <a:ext cx="3200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smtClean="0">
                <a:latin typeface="Times New Roman" pitchFamily="18" charset="0"/>
              </a:defRPr>
            </a:lvl1pPr>
          </a:lstStyle>
          <a:p>
            <a:pPr>
              <a:defRPr/>
            </a:pPr>
            <a:endParaRPr lang="en-US"/>
          </a:p>
        </p:txBody>
      </p:sp>
      <p:sp>
        <p:nvSpPr>
          <p:cNvPr id="408579" name="Rectangle 3"/>
          <p:cNvSpPr>
            <a:spLocks noGrp="1" noChangeArrowheads="1"/>
          </p:cNvSpPr>
          <p:nvPr>
            <p:ph type="dt" idx="1"/>
          </p:nvPr>
        </p:nvSpPr>
        <p:spPr bwMode="auto">
          <a:xfrm>
            <a:off x="4114800" y="0"/>
            <a:ext cx="3200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smtClean="0">
                <a:latin typeface="Times New Roman" pitchFamily="18" charset="0"/>
              </a:defRPr>
            </a:lvl1pPr>
          </a:lstStyle>
          <a:p>
            <a:pPr>
              <a:defRPr/>
            </a:pPr>
            <a:endParaRPr lang="en-US"/>
          </a:p>
        </p:txBody>
      </p:sp>
      <p:sp>
        <p:nvSpPr>
          <p:cNvPr id="50180" name="Rectangle 4"/>
          <p:cNvSpPr>
            <a:spLocks noGrp="1" noRot="1" noChangeAspect="1" noChangeArrowheads="1" noTextEdit="1"/>
          </p:cNvSpPr>
          <p:nvPr>
            <p:ph type="sldImg" idx="2"/>
          </p:nvPr>
        </p:nvSpPr>
        <p:spPr bwMode="auto">
          <a:xfrm>
            <a:off x="1219200" y="685800"/>
            <a:ext cx="4875213" cy="3657600"/>
          </a:xfrm>
          <a:prstGeom prst="rect">
            <a:avLst/>
          </a:prstGeom>
          <a:noFill/>
          <a:ln w="9525">
            <a:solidFill>
              <a:srgbClr val="000000"/>
            </a:solidFill>
            <a:miter lim="800000"/>
            <a:headEnd/>
            <a:tailEnd/>
          </a:ln>
        </p:spPr>
      </p:sp>
      <p:sp>
        <p:nvSpPr>
          <p:cNvPr id="408581" name="Rectangle 5"/>
          <p:cNvSpPr>
            <a:spLocks noGrp="1" noChangeArrowheads="1"/>
          </p:cNvSpPr>
          <p:nvPr>
            <p:ph type="body" sz="quarter" idx="3"/>
          </p:nvPr>
        </p:nvSpPr>
        <p:spPr bwMode="auto">
          <a:xfrm>
            <a:off x="990600" y="4572000"/>
            <a:ext cx="5334000" cy="426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08582" name="Rectangle 6"/>
          <p:cNvSpPr>
            <a:spLocks noGrp="1" noChangeArrowheads="1"/>
          </p:cNvSpPr>
          <p:nvPr>
            <p:ph type="ftr" sz="quarter" idx="4"/>
          </p:nvPr>
        </p:nvSpPr>
        <p:spPr bwMode="auto">
          <a:xfrm>
            <a:off x="0" y="9143999"/>
            <a:ext cx="3200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smtClean="0">
                <a:latin typeface="Times New Roman" pitchFamily="18" charset="0"/>
              </a:defRPr>
            </a:lvl1pPr>
          </a:lstStyle>
          <a:p>
            <a:pPr>
              <a:defRPr/>
            </a:pPr>
            <a:endParaRPr lang="en-US"/>
          </a:p>
        </p:txBody>
      </p:sp>
      <p:sp>
        <p:nvSpPr>
          <p:cNvPr id="408583" name="Rectangle 7"/>
          <p:cNvSpPr>
            <a:spLocks noGrp="1" noChangeArrowheads="1"/>
          </p:cNvSpPr>
          <p:nvPr>
            <p:ph type="sldNum" sz="quarter" idx="5"/>
          </p:nvPr>
        </p:nvSpPr>
        <p:spPr bwMode="auto">
          <a:xfrm>
            <a:off x="4114800" y="9143999"/>
            <a:ext cx="3200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smtClean="0">
                <a:latin typeface="Times New Roman" pitchFamily="18" charset="0"/>
              </a:defRPr>
            </a:lvl1pPr>
          </a:lstStyle>
          <a:p>
            <a:pPr>
              <a:defRPr/>
            </a:pPr>
            <a:fld id="{40F64717-A5A5-4C4E-9291-2F18B7410B06}" type="slidenum">
              <a:rPr lang="en-US"/>
              <a:pPr>
                <a:defRPr/>
              </a:pPr>
              <a:t>‹#›</a:t>
            </a:fld>
            <a:endParaRPr lang="en-US"/>
          </a:p>
        </p:txBody>
      </p:sp>
    </p:spTree>
    <p:extLst>
      <p:ext uri="{BB962C8B-B14F-4D97-AF65-F5344CB8AC3E}">
        <p14:creationId xmlns:p14="http://schemas.microsoft.com/office/powerpoint/2010/main" val="213525716"/>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0F64717-A5A5-4C4E-9291-2F18B7410B06}" type="slidenum">
              <a:rPr lang="en-US" smtClean="0"/>
              <a:pPr>
                <a:defRPr/>
              </a:pPr>
              <a:t>1</a:t>
            </a:fld>
            <a:endParaRPr lang="en-US" dirty="0"/>
          </a:p>
        </p:txBody>
      </p:sp>
    </p:spTree>
    <p:extLst>
      <p:ext uri="{BB962C8B-B14F-4D97-AF65-F5344CB8AC3E}">
        <p14:creationId xmlns:p14="http://schemas.microsoft.com/office/powerpoint/2010/main" val="34718064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CPI  </a:t>
            </a:r>
            <a:r>
              <a:rPr lang="zh-CN" altLang="en-US" dirty="0" smtClean="0"/>
              <a:t>执行一条指令所需的平均时钟周期数</a:t>
            </a:r>
            <a:endParaRPr lang="en-US" altLang="zh-CN" dirty="0" smtClean="0"/>
          </a:p>
          <a:p>
            <a:r>
              <a:rPr lang="en-US" altLang="zh-CN" dirty="0" smtClean="0"/>
              <a:t>MIPS  </a:t>
            </a:r>
            <a:r>
              <a:rPr lang="zh-CN" altLang="en-US" dirty="0" smtClean="0"/>
              <a:t>平均每秒执行多少百万条定点指令数   </a:t>
            </a:r>
            <a:r>
              <a:rPr lang="en-US" altLang="zh-CN" dirty="0" smtClean="0"/>
              <a:t>=  </a:t>
            </a:r>
            <a:r>
              <a:rPr lang="zh-CN" altLang="en-US" dirty="0" smtClean="0"/>
              <a:t>频率</a:t>
            </a:r>
            <a:r>
              <a:rPr lang="en-US" altLang="zh-CN" dirty="0" smtClean="0"/>
              <a:t>/CPI</a:t>
            </a:r>
          </a:p>
          <a:p>
            <a:r>
              <a:rPr lang="en-US" altLang="zh-CN" dirty="0" smtClean="0"/>
              <a:t>MFLOPS  </a:t>
            </a:r>
            <a:r>
              <a:rPr lang="zh-CN" altLang="en-US" dirty="0" smtClean="0"/>
              <a:t>每秒执行浮点操作的次数</a:t>
            </a:r>
            <a:endParaRPr lang="zh-CN" altLang="en-US" dirty="0"/>
          </a:p>
        </p:txBody>
      </p:sp>
      <p:sp>
        <p:nvSpPr>
          <p:cNvPr id="4" name="灯片编号占位符 3"/>
          <p:cNvSpPr>
            <a:spLocks noGrp="1"/>
          </p:cNvSpPr>
          <p:nvPr>
            <p:ph type="sldNum" sz="quarter" idx="10"/>
          </p:nvPr>
        </p:nvSpPr>
        <p:spPr/>
        <p:txBody>
          <a:bodyPr/>
          <a:lstStyle/>
          <a:p>
            <a:pPr>
              <a:defRPr/>
            </a:pPr>
            <a:fld id="{40F64717-A5A5-4C4E-9291-2F18B7410B06}" type="slidenum">
              <a:rPr lang="en-US" smtClean="0"/>
              <a:pPr>
                <a:defRPr/>
              </a:pPr>
              <a:t>3</a:t>
            </a:fld>
            <a:endParaRPr lang="en-US"/>
          </a:p>
        </p:txBody>
      </p:sp>
    </p:spTree>
    <p:extLst>
      <p:ext uri="{BB962C8B-B14F-4D97-AF65-F5344CB8AC3E}">
        <p14:creationId xmlns:p14="http://schemas.microsoft.com/office/powerpoint/2010/main" val="19062509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smtClean="0"/>
              <a:t>CPI  </a:t>
            </a:r>
            <a:r>
              <a:rPr lang="zh-CN" altLang="en-US" dirty="0" smtClean="0"/>
              <a:t>执行一条指令所需的平均时钟周期数</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pPr>
              <a:defRPr/>
            </a:pPr>
            <a:fld id="{40F64717-A5A5-4C4E-9291-2F18B7410B06}" type="slidenum">
              <a:rPr lang="en-US" smtClean="0"/>
              <a:pPr>
                <a:defRPr/>
              </a:pPr>
              <a:t>4</a:t>
            </a:fld>
            <a:endParaRPr lang="en-US"/>
          </a:p>
        </p:txBody>
      </p:sp>
    </p:spTree>
    <p:extLst>
      <p:ext uri="{BB962C8B-B14F-4D97-AF65-F5344CB8AC3E}">
        <p14:creationId xmlns:p14="http://schemas.microsoft.com/office/powerpoint/2010/main" val="31219588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smtClean="0">
                <a:solidFill>
                  <a:schemeClr val="tx1"/>
                </a:solidFill>
                <a:effectLst/>
                <a:latin typeface="Times New Roman" pitchFamily="18" charset="0"/>
                <a:ea typeface="+mn-ea"/>
                <a:cs typeface="+mn-cs"/>
              </a:rPr>
              <a:t>解：不妨设原来指令条数为 </a:t>
            </a:r>
            <a:r>
              <a:rPr lang="en-US" altLang="zh-CN" sz="1200" kern="1200" dirty="0" smtClean="0">
                <a:solidFill>
                  <a:schemeClr val="tx1"/>
                </a:solidFill>
                <a:effectLst/>
                <a:latin typeface="Times New Roman" pitchFamily="18" charset="0"/>
                <a:ea typeface="+mn-ea"/>
                <a:cs typeface="+mn-cs"/>
              </a:rPr>
              <a:t>x</a:t>
            </a:r>
            <a:r>
              <a:rPr lang="zh-CN" altLang="zh-CN" sz="1200" kern="1200" dirty="0" smtClean="0">
                <a:solidFill>
                  <a:schemeClr val="tx1"/>
                </a:solidFill>
                <a:effectLst/>
                <a:latin typeface="Times New Roman" pitchFamily="18" charset="0"/>
                <a:ea typeface="+mn-ea"/>
                <a:cs typeface="+mn-cs"/>
              </a:rPr>
              <a:t>，那么原 </a:t>
            </a:r>
            <a:r>
              <a:rPr lang="en-US" altLang="zh-CN" sz="1200" kern="1200" dirty="0" smtClean="0">
                <a:solidFill>
                  <a:schemeClr val="tx1"/>
                </a:solidFill>
                <a:effectLst/>
                <a:latin typeface="Times New Roman" pitchFamily="18" charset="0"/>
                <a:ea typeface="+mn-ea"/>
                <a:cs typeface="+mn-cs"/>
              </a:rPr>
              <a:t>CPI </a:t>
            </a:r>
            <a:r>
              <a:rPr lang="zh-CN" altLang="zh-CN" sz="1200" kern="1200" dirty="0" smtClean="0">
                <a:solidFill>
                  <a:schemeClr val="tx1"/>
                </a:solidFill>
                <a:effectLst/>
                <a:latin typeface="Times New Roman" pitchFamily="18" charset="0"/>
                <a:ea typeface="+mn-ea"/>
                <a:cs typeface="+mn-cs"/>
              </a:rPr>
              <a:t>就为 </a:t>
            </a:r>
            <a:r>
              <a:rPr lang="en-US" altLang="zh-CN" sz="1200" kern="1200" dirty="0" smtClean="0">
                <a:solidFill>
                  <a:schemeClr val="tx1"/>
                </a:solidFill>
                <a:effectLst/>
                <a:latin typeface="Times New Roman" pitchFamily="18" charset="0"/>
                <a:ea typeface="+mn-ea"/>
                <a:cs typeface="+mn-cs"/>
              </a:rPr>
              <a:t>20/x</a:t>
            </a:r>
            <a:r>
              <a:rPr lang="zh-CN" altLang="zh-CN" sz="1200" kern="1200" dirty="0" smtClean="0">
                <a:solidFill>
                  <a:schemeClr val="tx1"/>
                </a:solidFill>
                <a:effectLst/>
                <a:latin typeface="Times New Roman" pitchFamily="18" charset="0"/>
                <a:ea typeface="+mn-ea"/>
                <a:cs typeface="+mn-cs"/>
              </a:rPr>
              <a:t>，经过编译优化后，指令条数减少 到原来的 </a:t>
            </a:r>
            <a:r>
              <a:rPr lang="en-US" altLang="zh-CN" sz="1200" kern="1200" dirty="0" smtClean="0">
                <a:solidFill>
                  <a:schemeClr val="tx1"/>
                </a:solidFill>
                <a:effectLst/>
                <a:latin typeface="Times New Roman" pitchFamily="18" charset="0"/>
                <a:ea typeface="+mn-ea"/>
                <a:cs typeface="+mn-cs"/>
              </a:rPr>
              <a:t>70%</a:t>
            </a:r>
            <a:r>
              <a:rPr lang="zh-CN" altLang="zh-CN" sz="1200" kern="1200" dirty="0" smtClean="0">
                <a:solidFill>
                  <a:schemeClr val="tx1"/>
                </a:solidFill>
                <a:effectLst/>
                <a:latin typeface="Times New Roman" pitchFamily="18" charset="0"/>
                <a:ea typeface="+mn-ea"/>
                <a:cs typeface="+mn-cs"/>
              </a:rPr>
              <a:t>，即指令条数为 </a:t>
            </a:r>
            <a:r>
              <a:rPr lang="en-US" altLang="zh-CN" sz="1200" kern="1200" dirty="0" smtClean="0">
                <a:solidFill>
                  <a:schemeClr val="tx1"/>
                </a:solidFill>
                <a:effectLst/>
                <a:latin typeface="Times New Roman" pitchFamily="18" charset="0"/>
                <a:ea typeface="+mn-ea"/>
                <a:cs typeface="+mn-cs"/>
              </a:rPr>
              <a:t>0.7x</a:t>
            </a:r>
            <a:r>
              <a:rPr lang="zh-CN" altLang="zh-CN" sz="1200" kern="1200" dirty="0" smtClean="0">
                <a:solidFill>
                  <a:schemeClr val="tx1"/>
                </a:solidFill>
                <a:effectLst/>
                <a:latin typeface="Times New Roman" pitchFamily="18" charset="0"/>
                <a:ea typeface="+mn-ea"/>
                <a:cs typeface="+mn-cs"/>
              </a:rPr>
              <a:t>，而 </a:t>
            </a:r>
            <a:r>
              <a:rPr lang="en-US" altLang="zh-CN" sz="1200" kern="1200" dirty="0" smtClean="0">
                <a:solidFill>
                  <a:schemeClr val="tx1"/>
                </a:solidFill>
                <a:effectLst/>
                <a:latin typeface="Times New Roman" pitchFamily="18" charset="0"/>
                <a:ea typeface="+mn-ea"/>
                <a:cs typeface="+mn-cs"/>
              </a:rPr>
              <a:t>CPI </a:t>
            </a:r>
            <a:r>
              <a:rPr lang="zh-CN" altLang="zh-CN" sz="1200" kern="1200" dirty="0" smtClean="0">
                <a:solidFill>
                  <a:schemeClr val="tx1"/>
                </a:solidFill>
                <a:effectLst/>
                <a:latin typeface="Times New Roman" pitchFamily="18" charset="0"/>
                <a:ea typeface="+mn-ea"/>
                <a:cs typeface="+mn-cs"/>
              </a:rPr>
              <a:t>增加到原来的 </a:t>
            </a:r>
            <a:r>
              <a:rPr lang="en-US" altLang="zh-CN" sz="1200" kern="1200" dirty="0" smtClean="0">
                <a:solidFill>
                  <a:schemeClr val="tx1"/>
                </a:solidFill>
                <a:effectLst/>
                <a:latin typeface="Times New Roman" pitchFamily="18" charset="0"/>
                <a:ea typeface="+mn-ea"/>
                <a:cs typeface="+mn-cs"/>
              </a:rPr>
              <a:t>1.2 </a:t>
            </a:r>
            <a:r>
              <a:rPr lang="zh-CN" altLang="zh-CN" sz="1200" kern="1200" dirty="0" smtClean="0">
                <a:solidFill>
                  <a:schemeClr val="tx1"/>
                </a:solidFill>
                <a:effectLst/>
                <a:latin typeface="Times New Roman" pitchFamily="18" charset="0"/>
                <a:ea typeface="+mn-ea"/>
                <a:cs typeface="+mn-cs"/>
              </a:rPr>
              <a:t>倍，即 </a:t>
            </a:r>
            <a:r>
              <a:rPr lang="en-US" altLang="zh-CN" sz="1200" kern="1200" dirty="0" smtClean="0">
                <a:solidFill>
                  <a:schemeClr val="tx1"/>
                </a:solidFill>
                <a:effectLst/>
                <a:latin typeface="Times New Roman" pitchFamily="18" charset="0"/>
                <a:ea typeface="+mn-ea"/>
                <a:cs typeface="+mn-cs"/>
              </a:rPr>
              <a:t>24/x</a:t>
            </a:r>
            <a:r>
              <a:rPr lang="zh-CN" altLang="zh-CN" sz="1200" kern="1200" dirty="0" smtClean="0">
                <a:solidFill>
                  <a:schemeClr val="tx1"/>
                </a:solidFill>
                <a:effectLst/>
                <a:latin typeface="Times New Roman" pitchFamily="18" charset="0"/>
                <a:ea typeface="+mn-ea"/>
                <a:cs typeface="+mn-cs"/>
              </a:rPr>
              <a:t>，那么现在 </a:t>
            </a:r>
            <a:r>
              <a:rPr lang="en-US" altLang="zh-CN" sz="1200" kern="1200" dirty="0" smtClean="0">
                <a:solidFill>
                  <a:schemeClr val="tx1"/>
                </a:solidFill>
                <a:effectLst/>
                <a:latin typeface="Times New Roman" pitchFamily="18" charset="0"/>
                <a:ea typeface="+mn-ea"/>
                <a:cs typeface="+mn-cs"/>
              </a:rPr>
              <a:t>P </a:t>
            </a:r>
            <a:r>
              <a:rPr lang="zh-CN" altLang="zh-CN" sz="1200" kern="1200" dirty="0" smtClean="0">
                <a:solidFill>
                  <a:schemeClr val="tx1"/>
                </a:solidFill>
                <a:effectLst/>
                <a:latin typeface="Times New Roman" pitchFamily="18" charset="0"/>
                <a:ea typeface="+mn-ea"/>
                <a:cs typeface="+mn-cs"/>
              </a:rPr>
              <a:t>在 </a:t>
            </a:r>
            <a:r>
              <a:rPr lang="en-US" altLang="zh-CN" sz="1200" kern="1200" dirty="0" smtClean="0">
                <a:solidFill>
                  <a:schemeClr val="tx1"/>
                </a:solidFill>
                <a:effectLst/>
                <a:latin typeface="Times New Roman" pitchFamily="18" charset="0"/>
                <a:ea typeface="+mn-ea"/>
                <a:cs typeface="+mn-cs"/>
              </a:rPr>
              <a:t>M </a:t>
            </a:r>
            <a:r>
              <a:rPr lang="zh-CN" altLang="zh-CN" sz="1200" kern="1200" dirty="0" smtClean="0">
                <a:solidFill>
                  <a:schemeClr val="tx1"/>
                </a:solidFill>
                <a:effectLst/>
                <a:latin typeface="Times New Roman" pitchFamily="18" charset="0"/>
                <a:ea typeface="+mn-ea"/>
                <a:cs typeface="+mn-cs"/>
              </a:rPr>
              <a:t>上的执行时间就为指令条数</a:t>
            </a:r>
            <a:r>
              <a:rPr lang="en-US" altLang="zh-CN" sz="1200" kern="1200" dirty="0" smtClean="0">
                <a:solidFill>
                  <a:schemeClr val="tx1"/>
                </a:solidFill>
                <a:effectLst/>
                <a:latin typeface="Times New Roman" pitchFamily="18" charset="0"/>
                <a:ea typeface="+mn-ea"/>
                <a:cs typeface="+mn-cs"/>
              </a:rPr>
              <a:t>*CPI=0.7x*24/x=24*0.7=16.8 </a:t>
            </a:r>
            <a:r>
              <a:rPr lang="zh-CN" altLang="zh-CN" sz="1200" kern="1200" dirty="0" smtClean="0">
                <a:solidFill>
                  <a:schemeClr val="tx1"/>
                </a:solidFill>
                <a:effectLst/>
                <a:latin typeface="Times New Roman" pitchFamily="18" charset="0"/>
                <a:ea typeface="+mn-ea"/>
                <a:cs typeface="+mn-cs"/>
              </a:rPr>
              <a:t>秒，选 </a:t>
            </a:r>
            <a:r>
              <a:rPr lang="en-US" altLang="zh-CN" sz="1200" kern="1200" dirty="0" smtClean="0">
                <a:solidFill>
                  <a:schemeClr val="tx1"/>
                </a:solidFill>
                <a:effectLst/>
                <a:latin typeface="Times New Roman" pitchFamily="18" charset="0"/>
                <a:ea typeface="+mn-ea"/>
                <a:cs typeface="+mn-cs"/>
              </a:rPr>
              <a:t>D</a:t>
            </a:r>
            <a:r>
              <a:rPr lang="zh-CN" altLang="zh-CN" sz="1200" kern="1200" dirty="0" smtClean="0">
                <a:solidFill>
                  <a:schemeClr val="tx1"/>
                </a:solidFill>
                <a:effectLst/>
                <a:latin typeface="Times New Roman" pitchFamily="18" charset="0"/>
                <a:ea typeface="+mn-ea"/>
                <a:cs typeface="+mn-cs"/>
              </a:rPr>
              <a:t>。</a:t>
            </a:r>
          </a:p>
          <a:p>
            <a:endParaRPr lang="zh-CN" altLang="en-US" dirty="0"/>
          </a:p>
        </p:txBody>
      </p:sp>
      <p:sp>
        <p:nvSpPr>
          <p:cNvPr id="4" name="灯片编号占位符 3"/>
          <p:cNvSpPr>
            <a:spLocks noGrp="1"/>
          </p:cNvSpPr>
          <p:nvPr>
            <p:ph type="sldNum" sz="quarter" idx="10"/>
          </p:nvPr>
        </p:nvSpPr>
        <p:spPr/>
        <p:txBody>
          <a:bodyPr/>
          <a:lstStyle/>
          <a:p>
            <a:pPr>
              <a:defRPr/>
            </a:pPr>
            <a:fld id="{40F64717-A5A5-4C4E-9291-2F18B7410B06}" type="slidenum">
              <a:rPr lang="en-US" smtClean="0"/>
              <a:pPr>
                <a:defRPr/>
              </a:pPr>
              <a:t>5</a:t>
            </a:fld>
            <a:endParaRPr lang="en-US"/>
          </a:p>
        </p:txBody>
      </p:sp>
    </p:spTree>
    <p:extLst>
      <p:ext uri="{BB962C8B-B14F-4D97-AF65-F5344CB8AC3E}">
        <p14:creationId xmlns:p14="http://schemas.microsoft.com/office/powerpoint/2010/main" val="10599401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smtClean="0"/>
              <a:t>CPI  </a:t>
            </a:r>
            <a:r>
              <a:rPr lang="zh-CN" altLang="en-US" dirty="0" smtClean="0"/>
              <a:t>执行一条指令所需的平均时钟周期数</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pPr>
              <a:defRPr/>
            </a:pPr>
            <a:fld id="{40F64717-A5A5-4C4E-9291-2F18B7410B06}" type="slidenum">
              <a:rPr lang="en-US" smtClean="0"/>
              <a:pPr>
                <a:defRPr/>
              </a:pPr>
              <a:t>6</a:t>
            </a:fld>
            <a:endParaRPr lang="en-US"/>
          </a:p>
        </p:txBody>
      </p:sp>
    </p:spTree>
    <p:extLst>
      <p:ext uri="{BB962C8B-B14F-4D97-AF65-F5344CB8AC3E}">
        <p14:creationId xmlns:p14="http://schemas.microsoft.com/office/powerpoint/2010/main" val="22278702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Times New Roman" pitchFamily="18" charset="0"/>
                <a:ea typeface="+mn-ea"/>
                <a:cs typeface="+mn-cs"/>
              </a:rPr>
              <a:t>(f1)</a:t>
            </a:r>
            <a:r>
              <a:rPr lang="zh-CN" altLang="zh-CN" sz="1200" kern="1200" dirty="0" smtClean="0">
                <a:solidFill>
                  <a:schemeClr val="tx1"/>
                </a:solidFill>
                <a:effectLst/>
                <a:latin typeface="Times New Roman" pitchFamily="18" charset="0"/>
                <a:ea typeface="+mn-ea"/>
                <a:cs typeface="+mn-cs"/>
              </a:rPr>
              <a:t>和</a:t>
            </a:r>
            <a:r>
              <a:rPr lang="en-US" altLang="zh-CN" sz="1200" kern="1200" dirty="0" smtClean="0">
                <a:solidFill>
                  <a:schemeClr val="tx1"/>
                </a:solidFill>
                <a:effectLst/>
                <a:latin typeface="Times New Roman" pitchFamily="18" charset="0"/>
                <a:ea typeface="+mn-ea"/>
                <a:cs typeface="+mn-cs"/>
              </a:rPr>
              <a:t>(f2)</a:t>
            </a:r>
            <a:r>
              <a:rPr lang="zh-CN" altLang="zh-CN" sz="1200" kern="1200" dirty="0" smtClean="0">
                <a:solidFill>
                  <a:schemeClr val="tx1"/>
                </a:solidFill>
                <a:effectLst/>
                <a:latin typeface="Times New Roman" pitchFamily="18" charset="0"/>
                <a:ea typeface="+mn-ea"/>
                <a:cs typeface="+mn-cs"/>
              </a:rPr>
              <a:t>对应的二进制分别是</a:t>
            </a:r>
            <a:r>
              <a:rPr lang="en-US" altLang="zh-CN" sz="1200" kern="1200" dirty="0" smtClean="0">
                <a:solidFill>
                  <a:schemeClr val="tx1"/>
                </a:solidFill>
                <a:effectLst/>
                <a:latin typeface="Times New Roman" pitchFamily="18" charset="0"/>
                <a:ea typeface="+mn-ea"/>
                <a:cs typeface="+mn-cs"/>
              </a:rPr>
              <a:t>(110011001001……)2 </a:t>
            </a:r>
            <a:r>
              <a:rPr lang="zh-CN" altLang="zh-CN" sz="1200" kern="1200" dirty="0" smtClean="0">
                <a:solidFill>
                  <a:schemeClr val="tx1"/>
                </a:solidFill>
                <a:effectLst/>
                <a:latin typeface="Times New Roman" pitchFamily="18" charset="0"/>
                <a:ea typeface="+mn-ea"/>
                <a:cs typeface="+mn-cs"/>
              </a:rPr>
              <a:t>和</a:t>
            </a:r>
            <a:r>
              <a:rPr lang="en-US" altLang="zh-CN" sz="1200" kern="1200" dirty="0" smtClean="0">
                <a:solidFill>
                  <a:schemeClr val="tx1"/>
                </a:solidFill>
                <a:effectLst/>
                <a:latin typeface="Times New Roman" pitchFamily="18" charset="0"/>
                <a:ea typeface="+mn-ea"/>
                <a:cs typeface="+mn-cs"/>
              </a:rPr>
              <a:t>(101100001100……)2</a:t>
            </a:r>
            <a:r>
              <a:rPr lang="zh-CN" altLang="zh-CN" sz="1200" kern="1200" dirty="0" smtClean="0">
                <a:solidFill>
                  <a:schemeClr val="tx1"/>
                </a:solidFill>
                <a:effectLst/>
                <a:latin typeface="Times New Roman" pitchFamily="18" charset="0"/>
                <a:ea typeface="+mn-ea"/>
                <a:cs typeface="+mn-cs"/>
              </a:rPr>
              <a:t>，根据 </a:t>
            </a:r>
            <a:r>
              <a:rPr lang="en-US" altLang="zh-CN" sz="1200" kern="1200" dirty="0" smtClean="0">
                <a:solidFill>
                  <a:schemeClr val="tx1"/>
                </a:solidFill>
                <a:effectLst/>
                <a:latin typeface="Times New Roman" pitchFamily="18" charset="0"/>
                <a:ea typeface="+mn-ea"/>
                <a:cs typeface="+mn-cs"/>
              </a:rPr>
              <a:t>IEEE754 </a:t>
            </a:r>
            <a:r>
              <a:rPr lang="zh-CN" altLang="zh-CN" sz="1200" kern="1200" dirty="0" smtClean="0">
                <a:solidFill>
                  <a:schemeClr val="tx1"/>
                </a:solidFill>
                <a:effectLst/>
                <a:latin typeface="Times New Roman" pitchFamily="18" charset="0"/>
                <a:ea typeface="+mn-ea"/>
                <a:cs typeface="+mn-cs"/>
              </a:rPr>
              <a:t>浮点数标准，可知</a:t>
            </a:r>
            <a:r>
              <a:rPr lang="en-US" altLang="zh-CN" sz="1200" kern="1200" dirty="0" smtClean="0">
                <a:solidFill>
                  <a:schemeClr val="tx1"/>
                </a:solidFill>
                <a:effectLst/>
                <a:latin typeface="Times New Roman" pitchFamily="18" charset="0"/>
                <a:ea typeface="+mn-ea"/>
                <a:cs typeface="+mn-cs"/>
              </a:rPr>
              <a:t>(f1)</a:t>
            </a:r>
            <a:r>
              <a:rPr lang="zh-CN" altLang="zh-CN" sz="1200" kern="1200" dirty="0" smtClean="0">
                <a:solidFill>
                  <a:schemeClr val="tx1"/>
                </a:solidFill>
                <a:effectLst/>
                <a:latin typeface="Times New Roman" pitchFamily="18" charset="0"/>
                <a:ea typeface="+mn-ea"/>
                <a:cs typeface="+mn-cs"/>
              </a:rPr>
              <a:t>的数符为 </a:t>
            </a:r>
            <a:r>
              <a:rPr lang="en-US" altLang="zh-CN" sz="1200" kern="1200" dirty="0" smtClean="0">
                <a:solidFill>
                  <a:schemeClr val="tx1"/>
                </a:solidFill>
                <a:effectLst/>
                <a:latin typeface="Times New Roman" pitchFamily="18" charset="0"/>
                <a:ea typeface="+mn-ea"/>
                <a:cs typeface="+mn-cs"/>
              </a:rPr>
              <a:t>1</a:t>
            </a:r>
            <a:r>
              <a:rPr lang="zh-CN" altLang="zh-CN" sz="1200" kern="1200" dirty="0" smtClean="0">
                <a:solidFill>
                  <a:schemeClr val="tx1"/>
                </a:solidFill>
                <a:effectLst/>
                <a:latin typeface="Times New Roman" pitchFamily="18" charset="0"/>
                <a:ea typeface="+mn-ea"/>
                <a:cs typeface="+mn-cs"/>
              </a:rPr>
              <a:t>，阶码为 </a:t>
            </a:r>
            <a:r>
              <a:rPr lang="en-US" altLang="zh-CN" sz="1200" kern="1200" dirty="0" smtClean="0">
                <a:solidFill>
                  <a:schemeClr val="tx1"/>
                </a:solidFill>
                <a:effectLst/>
                <a:latin typeface="Times New Roman" pitchFamily="18" charset="0"/>
                <a:ea typeface="+mn-ea"/>
                <a:cs typeface="+mn-cs"/>
              </a:rPr>
              <a:t>10011001</a:t>
            </a:r>
            <a:r>
              <a:rPr lang="zh-CN" altLang="zh-CN" sz="1200" kern="1200" dirty="0" smtClean="0">
                <a:solidFill>
                  <a:schemeClr val="tx1"/>
                </a:solidFill>
                <a:effectLst/>
                <a:latin typeface="Times New Roman" pitchFamily="18" charset="0"/>
                <a:ea typeface="+mn-ea"/>
                <a:cs typeface="+mn-cs"/>
              </a:rPr>
              <a:t>，尾数为 </a:t>
            </a:r>
            <a:r>
              <a:rPr lang="en-US" altLang="zh-CN" sz="1200" kern="1200" dirty="0" smtClean="0">
                <a:solidFill>
                  <a:schemeClr val="tx1"/>
                </a:solidFill>
                <a:effectLst/>
                <a:latin typeface="Times New Roman" pitchFamily="18" charset="0"/>
                <a:ea typeface="+mn-ea"/>
                <a:cs typeface="+mn-cs"/>
              </a:rPr>
              <a:t>1.001</a:t>
            </a:r>
            <a:r>
              <a:rPr lang="zh-CN" altLang="zh-CN" sz="1200" kern="1200" dirty="0" smtClean="0">
                <a:solidFill>
                  <a:schemeClr val="tx1"/>
                </a:solidFill>
                <a:effectLst/>
                <a:latin typeface="Times New Roman" pitchFamily="18" charset="0"/>
                <a:ea typeface="+mn-ea"/>
                <a:cs typeface="+mn-cs"/>
              </a:rPr>
              <a:t>，而</a:t>
            </a:r>
            <a:r>
              <a:rPr lang="en-US" altLang="zh-CN" sz="1200" kern="1200" dirty="0" smtClean="0">
                <a:solidFill>
                  <a:schemeClr val="tx1"/>
                </a:solidFill>
                <a:effectLst/>
                <a:latin typeface="Times New Roman" pitchFamily="18" charset="0"/>
                <a:ea typeface="+mn-ea"/>
                <a:cs typeface="+mn-cs"/>
              </a:rPr>
              <a:t>(f2)</a:t>
            </a:r>
            <a:r>
              <a:rPr lang="zh-CN" altLang="zh-CN" sz="1200" kern="1200" dirty="0" smtClean="0">
                <a:solidFill>
                  <a:schemeClr val="tx1"/>
                </a:solidFill>
                <a:effectLst/>
                <a:latin typeface="Times New Roman" pitchFamily="18" charset="0"/>
                <a:ea typeface="+mn-ea"/>
                <a:cs typeface="+mn-cs"/>
              </a:rPr>
              <a:t>的数符 为 </a:t>
            </a:r>
            <a:r>
              <a:rPr lang="en-US" altLang="zh-CN" sz="1200" kern="1200" dirty="0" smtClean="0">
                <a:solidFill>
                  <a:schemeClr val="tx1"/>
                </a:solidFill>
                <a:effectLst/>
                <a:latin typeface="Times New Roman" pitchFamily="18" charset="0"/>
                <a:ea typeface="+mn-ea"/>
                <a:cs typeface="+mn-cs"/>
              </a:rPr>
              <a:t>1</a:t>
            </a:r>
            <a:r>
              <a:rPr lang="zh-CN" altLang="zh-CN" sz="1200" kern="1200" dirty="0" smtClean="0">
                <a:solidFill>
                  <a:schemeClr val="tx1"/>
                </a:solidFill>
                <a:effectLst/>
                <a:latin typeface="Times New Roman" pitchFamily="18" charset="0"/>
                <a:ea typeface="+mn-ea"/>
                <a:cs typeface="+mn-cs"/>
              </a:rPr>
              <a:t>，阶码为 </a:t>
            </a:r>
            <a:r>
              <a:rPr lang="en-US" altLang="zh-CN" sz="1200" kern="1200" dirty="0" smtClean="0">
                <a:solidFill>
                  <a:schemeClr val="tx1"/>
                </a:solidFill>
                <a:effectLst/>
                <a:latin typeface="Times New Roman" pitchFamily="18" charset="0"/>
                <a:ea typeface="+mn-ea"/>
                <a:cs typeface="+mn-cs"/>
              </a:rPr>
              <a:t>01100001</a:t>
            </a:r>
            <a:r>
              <a:rPr lang="zh-CN" altLang="zh-CN" sz="1200" kern="1200" dirty="0" smtClean="0">
                <a:solidFill>
                  <a:schemeClr val="tx1"/>
                </a:solidFill>
                <a:effectLst/>
                <a:latin typeface="Times New Roman" pitchFamily="18" charset="0"/>
                <a:ea typeface="+mn-ea"/>
                <a:cs typeface="+mn-cs"/>
              </a:rPr>
              <a:t>，尾数为 </a:t>
            </a:r>
            <a:r>
              <a:rPr lang="en-US" altLang="zh-CN" sz="1200" kern="1200" dirty="0" smtClean="0">
                <a:solidFill>
                  <a:schemeClr val="tx1"/>
                </a:solidFill>
                <a:effectLst/>
                <a:latin typeface="Times New Roman" pitchFamily="18" charset="0"/>
                <a:ea typeface="+mn-ea"/>
                <a:cs typeface="+mn-cs"/>
              </a:rPr>
              <a:t>1.1</a:t>
            </a:r>
            <a:r>
              <a:rPr lang="zh-CN" altLang="zh-CN" sz="1200" kern="1200" dirty="0" smtClean="0">
                <a:solidFill>
                  <a:schemeClr val="tx1"/>
                </a:solidFill>
                <a:effectLst/>
                <a:latin typeface="Times New Roman" pitchFamily="18" charset="0"/>
                <a:ea typeface="+mn-ea"/>
                <a:cs typeface="+mn-cs"/>
              </a:rPr>
              <a:t>，则可知两数均为负数，符号相同，</a:t>
            </a:r>
            <a:r>
              <a:rPr lang="en-US" altLang="zh-CN" sz="1200" kern="1200" dirty="0" smtClean="0">
                <a:solidFill>
                  <a:schemeClr val="tx1"/>
                </a:solidFill>
                <a:effectLst/>
                <a:latin typeface="Times New Roman" pitchFamily="18" charset="0"/>
                <a:ea typeface="+mn-ea"/>
                <a:cs typeface="+mn-cs"/>
              </a:rPr>
              <a:t>B</a:t>
            </a:r>
            <a:r>
              <a:rPr lang="zh-CN" altLang="zh-CN" sz="1200" kern="1200" dirty="0" smtClean="0">
                <a:solidFill>
                  <a:schemeClr val="tx1"/>
                </a:solidFill>
                <a:effectLst/>
                <a:latin typeface="Times New Roman" pitchFamily="18" charset="0"/>
                <a:ea typeface="+mn-ea"/>
                <a:cs typeface="+mn-cs"/>
              </a:rPr>
              <a:t>、</a:t>
            </a:r>
            <a:r>
              <a:rPr lang="en-US" altLang="zh-CN" sz="1200" kern="1200" dirty="0" smtClean="0">
                <a:solidFill>
                  <a:schemeClr val="tx1"/>
                </a:solidFill>
                <a:effectLst/>
                <a:latin typeface="Times New Roman" pitchFamily="18" charset="0"/>
                <a:ea typeface="+mn-ea"/>
                <a:cs typeface="+mn-cs"/>
              </a:rPr>
              <a:t>D </a:t>
            </a:r>
            <a:r>
              <a:rPr lang="zh-CN" altLang="zh-CN" sz="1200" kern="1200" dirty="0" smtClean="0">
                <a:solidFill>
                  <a:schemeClr val="tx1"/>
                </a:solidFill>
                <a:effectLst/>
                <a:latin typeface="Times New Roman" pitchFamily="18" charset="0"/>
                <a:ea typeface="+mn-ea"/>
                <a:cs typeface="+mn-cs"/>
              </a:rPr>
              <a:t>排除，</a:t>
            </a:r>
            <a:r>
              <a:rPr lang="en-US" altLang="zh-CN" sz="1200" kern="1200" dirty="0" smtClean="0">
                <a:solidFill>
                  <a:schemeClr val="tx1"/>
                </a:solidFill>
                <a:effectLst/>
                <a:latin typeface="Times New Roman" pitchFamily="18" charset="0"/>
                <a:ea typeface="+mn-ea"/>
                <a:cs typeface="+mn-cs"/>
              </a:rPr>
              <a:t>(f1)</a:t>
            </a:r>
            <a:r>
              <a:rPr lang="zh-CN" altLang="zh-CN" sz="1200" kern="1200" dirty="0" smtClean="0">
                <a:solidFill>
                  <a:schemeClr val="tx1"/>
                </a:solidFill>
                <a:effectLst/>
                <a:latin typeface="Times New Roman" pitchFamily="18" charset="0"/>
                <a:ea typeface="+mn-ea"/>
                <a:cs typeface="+mn-cs"/>
              </a:rPr>
              <a:t>的 绝对值为 </a:t>
            </a:r>
            <a:r>
              <a:rPr lang="en-US" altLang="zh-CN" sz="1200" kern="1200" dirty="0" smtClean="0">
                <a:solidFill>
                  <a:schemeClr val="tx1"/>
                </a:solidFill>
                <a:effectLst/>
                <a:latin typeface="Times New Roman" pitchFamily="18" charset="0"/>
                <a:ea typeface="+mn-ea"/>
                <a:cs typeface="+mn-cs"/>
              </a:rPr>
              <a:t>1.001×226</a:t>
            </a:r>
            <a:r>
              <a:rPr lang="zh-CN" altLang="zh-CN" sz="1200" kern="1200" dirty="0" smtClean="0">
                <a:solidFill>
                  <a:schemeClr val="tx1"/>
                </a:solidFill>
                <a:effectLst/>
                <a:latin typeface="Times New Roman" pitchFamily="18" charset="0"/>
                <a:ea typeface="+mn-ea"/>
                <a:cs typeface="+mn-cs"/>
              </a:rPr>
              <a:t>，</a:t>
            </a:r>
            <a:r>
              <a:rPr lang="en-US" altLang="zh-CN" sz="1200" kern="1200" dirty="0" smtClean="0">
                <a:solidFill>
                  <a:schemeClr val="tx1"/>
                </a:solidFill>
                <a:effectLst/>
                <a:latin typeface="Times New Roman" pitchFamily="18" charset="0"/>
                <a:ea typeface="+mn-ea"/>
                <a:cs typeface="+mn-cs"/>
              </a:rPr>
              <a:t>(f2)</a:t>
            </a:r>
            <a:r>
              <a:rPr lang="zh-CN" altLang="zh-CN" sz="1200" kern="1200" dirty="0" smtClean="0">
                <a:solidFill>
                  <a:schemeClr val="tx1"/>
                </a:solidFill>
                <a:effectLst/>
                <a:latin typeface="Times New Roman" pitchFamily="18" charset="0"/>
                <a:ea typeface="+mn-ea"/>
                <a:cs typeface="+mn-cs"/>
              </a:rPr>
              <a:t>的绝对值为 </a:t>
            </a:r>
            <a:r>
              <a:rPr lang="en-US" altLang="zh-CN" sz="1200" kern="1200" dirty="0" smtClean="0">
                <a:solidFill>
                  <a:schemeClr val="tx1"/>
                </a:solidFill>
                <a:effectLst/>
                <a:latin typeface="Times New Roman" pitchFamily="18" charset="0"/>
                <a:ea typeface="+mn-ea"/>
                <a:cs typeface="+mn-cs"/>
              </a:rPr>
              <a:t>1.1×2-30</a:t>
            </a:r>
            <a:r>
              <a:rPr lang="zh-CN" altLang="zh-CN" sz="1200" kern="1200" dirty="0" smtClean="0">
                <a:solidFill>
                  <a:schemeClr val="tx1"/>
                </a:solidFill>
                <a:effectLst/>
                <a:latin typeface="Times New Roman" pitchFamily="18" charset="0"/>
                <a:ea typeface="+mn-ea"/>
                <a:cs typeface="+mn-cs"/>
              </a:rPr>
              <a:t>，则</a:t>
            </a:r>
            <a:r>
              <a:rPr lang="en-US" altLang="zh-CN" sz="1200" kern="1200" dirty="0" smtClean="0">
                <a:solidFill>
                  <a:schemeClr val="tx1"/>
                </a:solidFill>
                <a:effectLst/>
                <a:latin typeface="Times New Roman" pitchFamily="18" charset="0"/>
                <a:ea typeface="+mn-ea"/>
                <a:cs typeface="+mn-cs"/>
              </a:rPr>
              <a:t>(f1)</a:t>
            </a:r>
            <a:r>
              <a:rPr lang="zh-CN" altLang="zh-CN" sz="1200" kern="1200" dirty="0" smtClean="0">
                <a:solidFill>
                  <a:schemeClr val="tx1"/>
                </a:solidFill>
                <a:effectLst/>
                <a:latin typeface="Times New Roman" pitchFamily="18" charset="0"/>
                <a:ea typeface="+mn-ea"/>
                <a:cs typeface="+mn-cs"/>
              </a:rPr>
              <a:t>的绝对值比</a:t>
            </a:r>
            <a:r>
              <a:rPr lang="en-US" altLang="zh-CN" sz="1200" kern="1200" dirty="0" smtClean="0">
                <a:solidFill>
                  <a:schemeClr val="tx1"/>
                </a:solidFill>
                <a:effectLst/>
                <a:latin typeface="Times New Roman" pitchFamily="18" charset="0"/>
                <a:ea typeface="+mn-ea"/>
                <a:cs typeface="+mn-cs"/>
              </a:rPr>
              <a:t>(f2)</a:t>
            </a:r>
            <a:r>
              <a:rPr lang="zh-CN" altLang="zh-CN" sz="1200" kern="1200" dirty="0" smtClean="0">
                <a:solidFill>
                  <a:schemeClr val="tx1"/>
                </a:solidFill>
                <a:effectLst/>
                <a:latin typeface="Times New Roman" pitchFamily="18" charset="0"/>
                <a:ea typeface="+mn-ea"/>
                <a:cs typeface="+mn-cs"/>
              </a:rPr>
              <a:t>的绝对值大，而符号为 负，真值大小相反，即</a:t>
            </a:r>
            <a:r>
              <a:rPr lang="en-US" altLang="zh-CN" sz="1200" kern="1200" dirty="0" smtClean="0">
                <a:solidFill>
                  <a:schemeClr val="tx1"/>
                </a:solidFill>
                <a:effectLst/>
                <a:latin typeface="Times New Roman" pitchFamily="18" charset="0"/>
                <a:ea typeface="+mn-ea"/>
                <a:cs typeface="+mn-cs"/>
              </a:rPr>
              <a:t>(f1)</a:t>
            </a:r>
            <a:r>
              <a:rPr lang="zh-CN" altLang="zh-CN" sz="1200" kern="1200" dirty="0" smtClean="0">
                <a:solidFill>
                  <a:schemeClr val="tx1"/>
                </a:solidFill>
                <a:effectLst/>
                <a:latin typeface="Times New Roman" pitchFamily="18" charset="0"/>
                <a:ea typeface="+mn-ea"/>
                <a:cs typeface="+mn-cs"/>
              </a:rPr>
              <a:t>的真值比</a:t>
            </a:r>
            <a:r>
              <a:rPr lang="en-US" altLang="zh-CN" sz="1200" kern="1200" dirty="0" smtClean="0">
                <a:solidFill>
                  <a:schemeClr val="tx1"/>
                </a:solidFill>
                <a:effectLst/>
                <a:latin typeface="Times New Roman" pitchFamily="18" charset="0"/>
                <a:ea typeface="+mn-ea"/>
                <a:cs typeface="+mn-cs"/>
              </a:rPr>
              <a:t>(f2)</a:t>
            </a:r>
            <a:r>
              <a:rPr lang="zh-CN" altLang="zh-CN" sz="1200" kern="1200" dirty="0" smtClean="0">
                <a:solidFill>
                  <a:schemeClr val="tx1"/>
                </a:solidFill>
                <a:effectLst/>
                <a:latin typeface="Times New Roman" pitchFamily="18" charset="0"/>
                <a:ea typeface="+mn-ea"/>
                <a:cs typeface="+mn-cs"/>
              </a:rPr>
              <a:t>的真值小，即 </a:t>
            </a:r>
            <a:r>
              <a:rPr lang="en-US" altLang="zh-CN" sz="1200" kern="1200" dirty="0" smtClean="0">
                <a:solidFill>
                  <a:schemeClr val="tx1"/>
                </a:solidFill>
                <a:effectLst/>
                <a:latin typeface="Times New Roman" pitchFamily="18" charset="0"/>
                <a:ea typeface="+mn-ea"/>
                <a:cs typeface="+mn-cs"/>
              </a:rPr>
              <a:t>x&lt;y</a:t>
            </a:r>
            <a:r>
              <a:rPr lang="zh-CN" altLang="zh-CN" sz="1200" kern="1200" dirty="0" smtClean="0">
                <a:solidFill>
                  <a:schemeClr val="tx1"/>
                </a:solidFill>
                <a:effectLst/>
                <a:latin typeface="Times New Roman" pitchFamily="18" charset="0"/>
                <a:ea typeface="+mn-ea"/>
                <a:cs typeface="+mn-cs"/>
              </a:rPr>
              <a:t>，选 </a:t>
            </a:r>
            <a:r>
              <a:rPr lang="en-US" altLang="zh-CN" sz="1200" kern="1200" dirty="0" smtClean="0">
                <a:solidFill>
                  <a:schemeClr val="tx1"/>
                </a:solidFill>
                <a:effectLst/>
                <a:latin typeface="Times New Roman" pitchFamily="18" charset="0"/>
                <a:ea typeface="+mn-ea"/>
                <a:cs typeface="+mn-cs"/>
              </a:rPr>
              <a:t>A</a:t>
            </a:r>
            <a:r>
              <a:rPr lang="zh-CN" altLang="zh-CN" sz="1200" kern="1200" dirty="0" smtClean="0">
                <a:solidFill>
                  <a:schemeClr val="tx1"/>
                </a:solidFill>
                <a:effectLst/>
                <a:latin typeface="Times New Roman" pitchFamily="18" charset="0"/>
                <a:ea typeface="+mn-ea"/>
                <a:cs typeface="+mn-cs"/>
              </a:rPr>
              <a:t>。</a:t>
            </a:r>
          </a:p>
          <a:p>
            <a:r>
              <a:rPr lang="zh-CN" altLang="zh-CN" sz="1200" kern="1200" dirty="0" smtClean="0">
                <a:solidFill>
                  <a:schemeClr val="tx1"/>
                </a:solidFill>
                <a:effectLst/>
                <a:latin typeface="Times New Roman" pitchFamily="18" charset="0"/>
                <a:ea typeface="+mn-ea"/>
                <a:cs typeface="+mn-cs"/>
              </a:rPr>
              <a:t>此题还有更为简便的算法，</a:t>
            </a:r>
            <a:r>
              <a:rPr lang="en-US" altLang="zh-CN" sz="1200" kern="1200" dirty="0" smtClean="0">
                <a:solidFill>
                  <a:schemeClr val="tx1"/>
                </a:solidFill>
                <a:effectLst/>
                <a:latin typeface="Times New Roman" pitchFamily="18" charset="0"/>
                <a:ea typeface="+mn-ea"/>
                <a:cs typeface="+mn-cs"/>
              </a:rPr>
              <a:t>(f1)</a:t>
            </a:r>
            <a:r>
              <a:rPr lang="zh-CN" altLang="zh-CN" sz="1200" kern="1200" dirty="0" smtClean="0">
                <a:solidFill>
                  <a:schemeClr val="tx1"/>
                </a:solidFill>
                <a:effectLst/>
                <a:latin typeface="Times New Roman" pitchFamily="18" charset="0"/>
                <a:ea typeface="+mn-ea"/>
                <a:cs typeface="+mn-cs"/>
              </a:rPr>
              <a:t>与</a:t>
            </a:r>
            <a:r>
              <a:rPr lang="en-US" altLang="zh-CN" sz="1200" kern="1200" dirty="0" smtClean="0">
                <a:solidFill>
                  <a:schemeClr val="tx1"/>
                </a:solidFill>
                <a:effectLst/>
                <a:latin typeface="Times New Roman" pitchFamily="18" charset="0"/>
                <a:ea typeface="+mn-ea"/>
                <a:cs typeface="+mn-cs"/>
              </a:rPr>
              <a:t>(f2)</a:t>
            </a:r>
            <a:r>
              <a:rPr lang="zh-CN" altLang="zh-CN" sz="1200" kern="1200" dirty="0" smtClean="0">
                <a:solidFill>
                  <a:schemeClr val="tx1"/>
                </a:solidFill>
                <a:effectLst/>
                <a:latin typeface="Times New Roman" pitchFamily="18" charset="0"/>
                <a:ea typeface="+mn-ea"/>
                <a:cs typeface="+mn-cs"/>
              </a:rPr>
              <a:t>的前 </a:t>
            </a:r>
            <a:r>
              <a:rPr lang="en-US" altLang="zh-CN" sz="1200" kern="1200" dirty="0" smtClean="0">
                <a:solidFill>
                  <a:schemeClr val="tx1"/>
                </a:solidFill>
                <a:effectLst/>
                <a:latin typeface="Times New Roman" pitchFamily="18" charset="0"/>
                <a:ea typeface="+mn-ea"/>
                <a:cs typeface="+mn-cs"/>
              </a:rPr>
              <a:t>4 </a:t>
            </a:r>
            <a:r>
              <a:rPr lang="zh-CN" altLang="zh-CN" sz="1200" kern="1200" dirty="0" smtClean="0">
                <a:solidFill>
                  <a:schemeClr val="tx1"/>
                </a:solidFill>
                <a:effectLst/>
                <a:latin typeface="Times New Roman" pitchFamily="18" charset="0"/>
                <a:ea typeface="+mn-ea"/>
                <a:cs typeface="+mn-cs"/>
              </a:rPr>
              <a:t>位为 </a:t>
            </a:r>
            <a:r>
              <a:rPr lang="en-US" altLang="zh-CN" sz="1200" kern="1200" dirty="0" smtClean="0">
                <a:solidFill>
                  <a:schemeClr val="tx1"/>
                </a:solidFill>
                <a:effectLst/>
                <a:latin typeface="Times New Roman" pitchFamily="18" charset="0"/>
                <a:ea typeface="+mn-ea"/>
                <a:cs typeface="+mn-cs"/>
              </a:rPr>
              <a:t>1100 </a:t>
            </a:r>
            <a:r>
              <a:rPr lang="zh-CN" altLang="zh-CN" sz="1200" kern="1200" dirty="0" smtClean="0">
                <a:solidFill>
                  <a:schemeClr val="tx1"/>
                </a:solidFill>
                <a:effectLst/>
                <a:latin typeface="Times New Roman" pitchFamily="18" charset="0"/>
                <a:ea typeface="+mn-ea"/>
                <a:cs typeface="+mn-cs"/>
              </a:rPr>
              <a:t>与 </a:t>
            </a:r>
            <a:r>
              <a:rPr lang="en-US" altLang="zh-CN" sz="1200" kern="1200" dirty="0" smtClean="0">
                <a:solidFill>
                  <a:schemeClr val="tx1"/>
                </a:solidFill>
                <a:effectLst/>
                <a:latin typeface="Times New Roman" pitchFamily="18" charset="0"/>
                <a:ea typeface="+mn-ea"/>
                <a:cs typeface="+mn-cs"/>
              </a:rPr>
              <a:t>1011,</a:t>
            </a:r>
            <a:r>
              <a:rPr lang="zh-CN" altLang="zh-CN" sz="1200" kern="1200" dirty="0" smtClean="0">
                <a:solidFill>
                  <a:schemeClr val="tx1"/>
                </a:solidFill>
                <a:effectLst/>
                <a:latin typeface="Times New Roman" pitchFamily="18" charset="0"/>
                <a:ea typeface="+mn-ea"/>
                <a:cs typeface="+mn-cs"/>
              </a:rPr>
              <a:t>可以看出两数均为负数， 而阶码用移码表示，两数的阶码头三位分别为 </a:t>
            </a:r>
            <a:r>
              <a:rPr lang="en-US" altLang="zh-CN" sz="1200" kern="1200" dirty="0" smtClean="0">
                <a:solidFill>
                  <a:schemeClr val="tx1"/>
                </a:solidFill>
                <a:effectLst/>
                <a:latin typeface="Times New Roman" pitchFamily="18" charset="0"/>
                <a:ea typeface="+mn-ea"/>
                <a:cs typeface="+mn-cs"/>
              </a:rPr>
              <a:t>100 </a:t>
            </a:r>
            <a:r>
              <a:rPr lang="zh-CN" altLang="zh-CN" sz="1200" kern="1200" dirty="0" smtClean="0">
                <a:solidFill>
                  <a:schemeClr val="tx1"/>
                </a:solidFill>
                <a:effectLst/>
                <a:latin typeface="Times New Roman" pitchFamily="18" charset="0"/>
                <a:ea typeface="+mn-ea"/>
                <a:cs typeface="+mn-cs"/>
              </a:rPr>
              <a:t>和 </a:t>
            </a:r>
            <a:r>
              <a:rPr lang="en-US" altLang="zh-CN" sz="1200" kern="1200" dirty="0" smtClean="0">
                <a:solidFill>
                  <a:schemeClr val="tx1"/>
                </a:solidFill>
                <a:effectLst/>
                <a:latin typeface="Times New Roman" pitchFamily="18" charset="0"/>
                <a:ea typeface="+mn-ea"/>
                <a:cs typeface="+mn-cs"/>
              </a:rPr>
              <a:t>011</a:t>
            </a:r>
            <a:r>
              <a:rPr lang="zh-CN" altLang="zh-CN" sz="1200" kern="1200" dirty="0" smtClean="0">
                <a:solidFill>
                  <a:schemeClr val="tx1"/>
                </a:solidFill>
                <a:effectLst/>
                <a:latin typeface="Times New Roman" pitchFamily="18" charset="0"/>
                <a:ea typeface="+mn-ea"/>
                <a:cs typeface="+mn-cs"/>
              </a:rPr>
              <a:t>，可知</a:t>
            </a:r>
            <a:r>
              <a:rPr lang="en-US" altLang="zh-CN" sz="1200" kern="1200" dirty="0" smtClean="0">
                <a:solidFill>
                  <a:schemeClr val="tx1"/>
                </a:solidFill>
                <a:effectLst/>
                <a:latin typeface="Times New Roman" pitchFamily="18" charset="0"/>
                <a:ea typeface="+mn-ea"/>
                <a:cs typeface="+mn-cs"/>
              </a:rPr>
              <a:t>(f1)</a:t>
            </a:r>
            <a:r>
              <a:rPr lang="zh-CN" altLang="zh-CN" sz="1200" kern="1200" dirty="0" smtClean="0">
                <a:solidFill>
                  <a:schemeClr val="tx1"/>
                </a:solidFill>
                <a:effectLst/>
                <a:latin typeface="Times New Roman" pitchFamily="18" charset="0"/>
                <a:ea typeface="+mn-ea"/>
                <a:cs typeface="+mn-cs"/>
              </a:rPr>
              <a:t>的阶码大于</a:t>
            </a:r>
            <a:r>
              <a:rPr lang="en-US" altLang="zh-CN" sz="1200" kern="1200" dirty="0" smtClean="0">
                <a:solidFill>
                  <a:schemeClr val="tx1"/>
                </a:solidFill>
                <a:effectLst/>
                <a:latin typeface="Times New Roman" pitchFamily="18" charset="0"/>
                <a:ea typeface="+mn-ea"/>
                <a:cs typeface="+mn-cs"/>
              </a:rPr>
              <a:t>(f2)</a:t>
            </a:r>
            <a:r>
              <a:rPr lang="zh-CN" altLang="zh-CN" sz="1200" kern="1200" dirty="0" smtClean="0">
                <a:solidFill>
                  <a:schemeClr val="tx1"/>
                </a:solidFill>
                <a:effectLst/>
                <a:latin typeface="Times New Roman" pitchFamily="18" charset="0"/>
                <a:ea typeface="+mn-ea"/>
                <a:cs typeface="+mn-cs"/>
              </a:rPr>
              <a:t>的阶码， 又因为是 </a:t>
            </a:r>
            <a:r>
              <a:rPr lang="en-US" altLang="zh-CN" sz="1200" kern="1200" dirty="0" smtClean="0">
                <a:solidFill>
                  <a:schemeClr val="tx1"/>
                </a:solidFill>
                <a:effectLst/>
                <a:latin typeface="Times New Roman" pitchFamily="18" charset="0"/>
                <a:ea typeface="+mn-ea"/>
                <a:cs typeface="+mn-cs"/>
              </a:rPr>
              <a:t>IEEE754 </a:t>
            </a:r>
            <a:r>
              <a:rPr lang="zh-CN" altLang="zh-CN" sz="1200" kern="1200" dirty="0" smtClean="0">
                <a:solidFill>
                  <a:schemeClr val="tx1"/>
                </a:solidFill>
                <a:effectLst/>
                <a:latin typeface="Times New Roman" pitchFamily="18" charset="0"/>
                <a:ea typeface="+mn-ea"/>
                <a:cs typeface="+mn-cs"/>
              </a:rPr>
              <a:t>规格化的数，尾数部分均为 </a:t>
            </a:r>
            <a:r>
              <a:rPr lang="en-US" altLang="zh-CN" sz="1200" kern="1200" dirty="0" smtClean="0">
                <a:solidFill>
                  <a:schemeClr val="tx1"/>
                </a:solidFill>
                <a:effectLst/>
                <a:latin typeface="Times New Roman" pitchFamily="18" charset="0"/>
                <a:ea typeface="+mn-ea"/>
                <a:cs typeface="+mn-cs"/>
              </a:rPr>
              <a:t>1.xxx</a:t>
            </a:r>
            <a:r>
              <a:rPr lang="zh-CN" altLang="zh-CN" sz="1200" kern="1200" dirty="0" smtClean="0">
                <a:solidFill>
                  <a:schemeClr val="tx1"/>
                </a:solidFill>
                <a:effectLst/>
                <a:latin typeface="Times New Roman" pitchFamily="18" charset="0"/>
                <a:ea typeface="+mn-ea"/>
                <a:cs typeface="+mn-cs"/>
              </a:rPr>
              <a:t>，则阶码大的数，真值的绝对值必然大， 可知</a:t>
            </a:r>
            <a:r>
              <a:rPr lang="en-US" altLang="zh-CN" sz="1200" kern="1200" dirty="0" smtClean="0">
                <a:solidFill>
                  <a:schemeClr val="tx1"/>
                </a:solidFill>
                <a:effectLst/>
                <a:latin typeface="Times New Roman" pitchFamily="18" charset="0"/>
                <a:ea typeface="+mn-ea"/>
                <a:cs typeface="+mn-cs"/>
              </a:rPr>
              <a:t>(f1)</a:t>
            </a:r>
            <a:r>
              <a:rPr lang="zh-CN" altLang="zh-CN" sz="1200" kern="1200" dirty="0" smtClean="0">
                <a:solidFill>
                  <a:schemeClr val="tx1"/>
                </a:solidFill>
                <a:effectLst/>
                <a:latin typeface="Times New Roman" pitchFamily="18" charset="0"/>
                <a:ea typeface="+mn-ea"/>
                <a:cs typeface="+mn-cs"/>
              </a:rPr>
              <a:t>真值的绝对值大于</a:t>
            </a:r>
            <a:r>
              <a:rPr lang="en-US" altLang="zh-CN" sz="1200" kern="1200" dirty="0" smtClean="0">
                <a:solidFill>
                  <a:schemeClr val="tx1"/>
                </a:solidFill>
                <a:effectLst/>
                <a:latin typeface="Times New Roman" pitchFamily="18" charset="0"/>
                <a:ea typeface="+mn-ea"/>
                <a:cs typeface="+mn-cs"/>
              </a:rPr>
              <a:t>(f2)</a:t>
            </a:r>
            <a:r>
              <a:rPr lang="zh-CN" altLang="zh-CN" sz="1200" kern="1200" dirty="0" smtClean="0">
                <a:solidFill>
                  <a:schemeClr val="tx1"/>
                </a:solidFill>
                <a:effectLst/>
                <a:latin typeface="Times New Roman" pitchFamily="18" charset="0"/>
                <a:ea typeface="+mn-ea"/>
                <a:cs typeface="+mn-cs"/>
              </a:rPr>
              <a:t>真值的绝对值，因为都为负数，则</a:t>
            </a:r>
            <a:r>
              <a:rPr lang="en-US" altLang="zh-CN" sz="1200" kern="1200" dirty="0" smtClean="0">
                <a:solidFill>
                  <a:schemeClr val="tx1"/>
                </a:solidFill>
                <a:effectLst/>
                <a:latin typeface="Times New Roman" pitchFamily="18" charset="0"/>
                <a:ea typeface="+mn-ea"/>
                <a:cs typeface="+mn-cs"/>
              </a:rPr>
              <a:t>(f1)&lt;(f2)</a:t>
            </a:r>
            <a:r>
              <a:rPr lang="zh-CN" altLang="zh-CN" sz="1200" kern="1200" dirty="0" smtClean="0">
                <a:solidFill>
                  <a:schemeClr val="tx1"/>
                </a:solidFill>
                <a:effectLst/>
                <a:latin typeface="Times New Roman" pitchFamily="18" charset="0"/>
                <a:ea typeface="+mn-ea"/>
                <a:cs typeface="+mn-cs"/>
              </a:rPr>
              <a:t>，即 </a:t>
            </a:r>
            <a:r>
              <a:rPr lang="en-US" altLang="zh-CN" sz="1200" kern="1200" dirty="0" smtClean="0">
                <a:solidFill>
                  <a:schemeClr val="tx1"/>
                </a:solidFill>
                <a:effectLst/>
                <a:latin typeface="Times New Roman" pitchFamily="18" charset="0"/>
                <a:ea typeface="+mn-ea"/>
                <a:cs typeface="+mn-cs"/>
              </a:rPr>
              <a:t>x&lt;y</a:t>
            </a:r>
            <a:r>
              <a:rPr lang="zh-CN" altLang="zh-CN" sz="1200" kern="1200" dirty="0" smtClean="0">
                <a:solidFill>
                  <a:schemeClr val="tx1"/>
                </a:solidFill>
                <a:effectLst/>
                <a:latin typeface="Times New Roman" pitchFamily="18" charset="0"/>
                <a:ea typeface="+mn-ea"/>
                <a:cs typeface="+mn-cs"/>
              </a:rPr>
              <a:t>。</a:t>
            </a:r>
          </a:p>
          <a:p>
            <a:endParaRPr lang="zh-CN" altLang="en-US" dirty="0"/>
          </a:p>
        </p:txBody>
      </p:sp>
      <p:sp>
        <p:nvSpPr>
          <p:cNvPr id="4" name="灯片编号占位符 3"/>
          <p:cNvSpPr>
            <a:spLocks noGrp="1"/>
          </p:cNvSpPr>
          <p:nvPr>
            <p:ph type="sldNum" sz="quarter" idx="10"/>
          </p:nvPr>
        </p:nvSpPr>
        <p:spPr/>
        <p:txBody>
          <a:bodyPr/>
          <a:lstStyle/>
          <a:p>
            <a:pPr>
              <a:defRPr/>
            </a:pPr>
            <a:fld id="{40F64717-A5A5-4C4E-9291-2F18B7410B06}" type="slidenum">
              <a:rPr lang="en-US" smtClean="0"/>
              <a:pPr>
                <a:defRPr/>
              </a:pPr>
              <a:t>10</a:t>
            </a:fld>
            <a:endParaRPr lang="en-US"/>
          </a:p>
        </p:txBody>
      </p:sp>
    </p:spTree>
    <p:extLst>
      <p:ext uri="{BB962C8B-B14F-4D97-AF65-F5344CB8AC3E}">
        <p14:creationId xmlns:p14="http://schemas.microsoft.com/office/powerpoint/2010/main" val="10294520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kern="1200" dirty="0" smtClean="0">
                <a:solidFill>
                  <a:schemeClr val="tx1"/>
                </a:solidFill>
                <a:effectLst/>
                <a:latin typeface="Times New Roman" pitchFamily="18" charset="0"/>
                <a:ea typeface="+mn-ea"/>
                <a:cs typeface="+mn-cs"/>
              </a:rPr>
              <a:t>(f1)</a:t>
            </a:r>
            <a:r>
              <a:rPr lang="zh-CN" altLang="zh-CN" sz="1200" kern="1200" dirty="0" smtClean="0">
                <a:solidFill>
                  <a:schemeClr val="tx1"/>
                </a:solidFill>
                <a:effectLst/>
                <a:latin typeface="Times New Roman" pitchFamily="18" charset="0"/>
                <a:ea typeface="+mn-ea"/>
                <a:cs typeface="+mn-cs"/>
              </a:rPr>
              <a:t>与</a:t>
            </a:r>
            <a:r>
              <a:rPr lang="en-US" altLang="zh-CN" sz="1200" kern="1200" dirty="0" smtClean="0">
                <a:solidFill>
                  <a:schemeClr val="tx1"/>
                </a:solidFill>
                <a:effectLst/>
                <a:latin typeface="Times New Roman" pitchFamily="18" charset="0"/>
                <a:ea typeface="+mn-ea"/>
                <a:cs typeface="+mn-cs"/>
              </a:rPr>
              <a:t>(f2)</a:t>
            </a:r>
            <a:r>
              <a:rPr lang="zh-CN" altLang="zh-CN" sz="1200" kern="1200" dirty="0" smtClean="0">
                <a:solidFill>
                  <a:schemeClr val="tx1"/>
                </a:solidFill>
                <a:effectLst/>
                <a:latin typeface="Times New Roman" pitchFamily="18" charset="0"/>
                <a:ea typeface="+mn-ea"/>
                <a:cs typeface="+mn-cs"/>
              </a:rPr>
              <a:t>的前 </a:t>
            </a:r>
            <a:r>
              <a:rPr lang="en-US" altLang="zh-CN" sz="1200" kern="1200" dirty="0" smtClean="0">
                <a:solidFill>
                  <a:schemeClr val="tx1"/>
                </a:solidFill>
                <a:effectLst/>
                <a:latin typeface="Times New Roman" pitchFamily="18" charset="0"/>
                <a:ea typeface="+mn-ea"/>
                <a:cs typeface="+mn-cs"/>
              </a:rPr>
              <a:t>4 </a:t>
            </a:r>
            <a:r>
              <a:rPr lang="zh-CN" altLang="zh-CN" sz="1200" kern="1200" dirty="0" smtClean="0">
                <a:solidFill>
                  <a:schemeClr val="tx1"/>
                </a:solidFill>
                <a:effectLst/>
                <a:latin typeface="Times New Roman" pitchFamily="18" charset="0"/>
                <a:ea typeface="+mn-ea"/>
                <a:cs typeface="+mn-cs"/>
              </a:rPr>
              <a:t>位为 </a:t>
            </a:r>
            <a:r>
              <a:rPr lang="en-US" altLang="zh-CN" sz="1200" kern="1200" dirty="0" smtClean="0">
                <a:solidFill>
                  <a:schemeClr val="tx1"/>
                </a:solidFill>
                <a:effectLst/>
                <a:latin typeface="Times New Roman" pitchFamily="18" charset="0"/>
                <a:ea typeface="+mn-ea"/>
                <a:cs typeface="+mn-cs"/>
              </a:rPr>
              <a:t>1100 </a:t>
            </a:r>
            <a:r>
              <a:rPr lang="zh-CN" altLang="zh-CN" sz="1200" kern="1200" dirty="0" smtClean="0">
                <a:solidFill>
                  <a:schemeClr val="tx1"/>
                </a:solidFill>
                <a:effectLst/>
                <a:latin typeface="Times New Roman" pitchFamily="18" charset="0"/>
                <a:ea typeface="+mn-ea"/>
                <a:cs typeface="+mn-cs"/>
              </a:rPr>
              <a:t>与 </a:t>
            </a:r>
            <a:r>
              <a:rPr lang="en-US" altLang="zh-CN" sz="1200" kern="1200" dirty="0" smtClean="0">
                <a:solidFill>
                  <a:schemeClr val="tx1"/>
                </a:solidFill>
                <a:effectLst/>
                <a:latin typeface="Times New Roman" pitchFamily="18" charset="0"/>
                <a:ea typeface="+mn-ea"/>
                <a:cs typeface="+mn-cs"/>
              </a:rPr>
              <a:t>1011,</a:t>
            </a:r>
            <a:r>
              <a:rPr lang="zh-CN" altLang="zh-CN" sz="1200" kern="1200" dirty="0" smtClean="0">
                <a:solidFill>
                  <a:schemeClr val="tx1"/>
                </a:solidFill>
                <a:effectLst/>
                <a:latin typeface="Times New Roman" pitchFamily="18" charset="0"/>
                <a:ea typeface="+mn-ea"/>
                <a:cs typeface="+mn-cs"/>
              </a:rPr>
              <a:t>可以看出两数均为负数， 而阶码用移码表示，两数的阶码头三位分别为 </a:t>
            </a:r>
            <a:r>
              <a:rPr lang="en-US" altLang="zh-CN" sz="1200" kern="1200" dirty="0" smtClean="0">
                <a:solidFill>
                  <a:schemeClr val="tx1"/>
                </a:solidFill>
                <a:effectLst/>
                <a:latin typeface="Times New Roman" pitchFamily="18" charset="0"/>
                <a:ea typeface="+mn-ea"/>
                <a:cs typeface="+mn-cs"/>
              </a:rPr>
              <a:t>100 </a:t>
            </a:r>
            <a:r>
              <a:rPr lang="zh-CN" altLang="zh-CN" sz="1200" kern="1200" dirty="0" smtClean="0">
                <a:solidFill>
                  <a:schemeClr val="tx1"/>
                </a:solidFill>
                <a:effectLst/>
                <a:latin typeface="Times New Roman" pitchFamily="18" charset="0"/>
                <a:ea typeface="+mn-ea"/>
                <a:cs typeface="+mn-cs"/>
              </a:rPr>
              <a:t>和 </a:t>
            </a:r>
            <a:r>
              <a:rPr lang="en-US" altLang="zh-CN" sz="1200" kern="1200" dirty="0" smtClean="0">
                <a:solidFill>
                  <a:schemeClr val="tx1"/>
                </a:solidFill>
                <a:effectLst/>
                <a:latin typeface="Times New Roman" pitchFamily="18" charset="0"/>
                <a:ea typeface="+mn-ea"/>
                <a:cs typeface="+mn-cs"/>
              </a:rPr>
              <a:t>011</a:t>
            </a:r>
            <a:r>
              <a:rPr lang="zh-CN" altLang="zh-CN" sz="1200" kern="1200" dirty="0" smtClean="0">
                <a:solidFill>
                  <a:schemeClr val="tx1"/>
                </a:solidFill>
                <a:effectLst/>
                <a:latin typeface="Times New Roman" pitchFamily="18" charset="0"/>
                <a:ea typeface="+mn-ea"/>
                <a:cs typeface="+mn-cs"/>
              </a:rPr>
              <a:t>，可知</a:t>
            </a:r>
            <a:r>
              <a:rPr lang="en-US" altLang="zh-CN" sz="1200" kern="1200" dirty="0" smtClean="0">
                <a:solidFill>
                  <a:schemeClr val="tx1"/>
                </a:solidFill>
                <a:effectLst/>
                <a:latin typeface="Times New Roman" pitchFamily="18" charset="0"/>
                <a:ea typeface="+mn-ea"/>
                <a:cs typeface="+mn-cs"/>
              </a:rPr>
              <a:t>(f1)</a:t>
            </a:r>
            <a:r>
              <a:rPr lang="zh-CN" altLang="zh-CN" sz="1200" kern="1200" dirty="0" smtClean="0">
                <a:solidFill>
                  <a:schemeClr val="tx1"/>
                </a:solidFill>
                <a:effectLst/>
                <a:latin typeface="Times New Roman" pitchFamily="18" charset="0"/>
                <a:ea typeface="+mn-ea"/>
                <a:cs typeface="+mn-cs"/>
              </a:rPr>
              <a:t>的阶码大于</a:t>
            </a:r>
            <a:r>
              <a:rPr lang="en-US" altLang="zh-CN" sz="1200" kern="1200" dirty="0" smtClean="0">
                <a:solidFill>
                  <a:schemeClr val="tx1"/>
                </a:solidFill>
                <a:effectLst/>
                <a:latin typeface="Times New Roman" pitchFamily="18" charset="0"/>
                <a:ea typeface="+mn-ea"/>
                <a:cs typeface="+mn-cs"/>
              </a:rPr>
              <a:t>(f2)</a:t>
            </a:r>
            <a:r>
              <a:rPr lang="zh-CN" altLang="zh-CN" sz="1200" kern="1200" dirty="0" smtClean="0">
                <a:solidFill>
                  <a:schemeClr val="tx1"/>
                </a:solidFill>
                <a:effectLst/>
                <a:latin typeface="Times New Roman" pitchFamily="18" charset="0"/>
                <a:ea typeface="+mn-ea"/>
                <a:cs typeface="+mn-cs"/>
              </a:rPr>
              <a:t>的阶码， 又因为是 </a:t>
            </a:r>
            <a:r>
              <a:rPr lang="en-US" altLang="zh-CN" sz="1200" kern="1200" dirty="0" smtClean="0">
                <a:solidFill>
                  <a:schemeClr val="tx1"/>
                </a:solidFill>
                <a:effectLst/>
                <a:latin typeface="Times New Roman" pitchFamily="18" charset="0"/>
                <a:ea typeface="+mn-ea"/>
                <a:cs typeface="+mn-cs"/>
              </a:rPr>
              <a:t>IEEE754 </a:t>
            </a:r>
            <a:r>
              <a:rPr lang="zh-CN" altLang="zh-CN" sz="1200" kern="1200" dirty="0" smtClean="0">
                <a:solidFill>
                  <a:schemeClr val="tx1"/>
                </a:solidFill>
                <a:effectLst/>
                <a:latin typeface="Times New Roman" pitchFamily="18" charset="0"/>
                <a:ea typeface="+mn-ea"/>
                <a:cs typeface="+mn-cs"/>
              </a:rPr>
              <a:t>规格化的数，尾数部分均为 </a:t>
            </a:r>
            <a:r>
              <a:rPr lang="en-US" altLang="zh-CN" sz="1200" kern="1200" dirty="0" smtClean="0">
                <a:solidFill>
                  <a:schemeClr val="tx1"/>
                </a:solidFill>
                <a:effectLst/>
                <a:latin typeface="Times New Roman" pitchFamily="18" charset="0"/>
                <a:ea typeface="+mn-ea"/>
                <a:cs typeface="+mn-cs"/>
              </a:rPr>
              <a:t>1.xxx</a:t>
            </a:r>
            <a:r>
              <a:rPr lang="zh-CN" altLang="zh-CN" sz="1200" kern="1200" dirty="0" smtClean="0">
                <a:solidFill>
                  <a:schemeClr val="tx1"/>
                </a:solidFill>
                <a:effectLst/>
                <a:latin typeface="Times New Roman" pitchFamily="18" charset="0"/>
                <a:ea typeface="+mn-ea"/>
                <a:cs typeface="+mn-cs"/>
              </a:rPr>
              <a:t>，则阶码大的数，真值的绝对值必然大， 可知</a:t>
            </a:r>
            <a:r>
              <a:rPr lang="en-US" altLang="zh-CN" sz="1200" kern="1200" dirty="0" smtClean="0">
                <a:solidFill>
                  <a:schemeClr val="tx1"/>
                </a:solidFill>
                <a:effectLst/>
                <a:latin typeface="Times New Roman" pitchFamily="18" charset="0"/>
                <a:ea typeface="+mn-ea"/>
                <a:cs typeface="+mn-cs"/>
              </a:rPr>
              <a:t>(f1)</a:t>
            </a:r>
            <a:r>
              <a:rPr lang="zh-CN" altLang="zh-CN" sz="1200" kern="1200" dirty="0" smtClean="0">
                <a:solidFill>
                  <a:schemeClr val="tx1"/>
                </a:solidFill>
                <a:effectLst/>
                <a:latin typeface="Times New Roman" pitchFamily="18" charset="0"/>
                <a:ea typeface="+mn-ea"/>
                <a:cs typeface="+mn-cs"/>
              </a:rPr>
              <a:t>真值的绝对值大于</a:t>
            </a:r>
            <a:r>
              <a:rPr lang="en-US" altLang="zh-CN" sz="1200" kern="1200" dirty="0" smtClean="0">
                <a:solidFill>
                  <a:schemeClr val="tx1"/>
                </a:solidFill>
                <a:effectLst/>
                <a:latin typeface="Times New Roman" pitchFamily="18" charset="0"/>
                <a:ea typeface="+mn-ea"/>
                <a:cs typeface="+mn-cs"/>
              </a:rPr>
              <a:t>(f2)</a:t>
            </a:r>
            <a:r>
              <a:rPr lang="zh-CN" altLang="zh-CN" sz="1200" kern="1200" dirty="0" smtClean="0">
                <a:solidFill>
                  <a:schemeClr val="tx1"/>
                </a:solidFill>
                <a:effectLst/>
                <a:latin typeface="Times New Roman" pitchFamily="18" charset="0"/>
                <a:ea typeface="+mn-ea"/>
                <a:cs typeface="+mn-cs"/>
              </a:rPr>
              <a:t>真值的绝对值，因为都为负数，则</a:t>
            </a:r>
            <a:r>
              <a:rPr lang="en-US" altLang="zh-CN" sz="1200" kern="1200" dirty="0" smtClean="0">
                <a:solidFill>
                  <a:schemeClr val="tx1"/>
                </a:solidFill>
                <a:effectLst/>
                <a:latin typeface="Times New Roman" pitchFamily="18" charset="0"/>
                <a:ea typeface="+mn-ea"/>
                <a:cs typeface="+mn-cs"/>
              </a:rPr>
              <a:t>(f1)&lt;(f2)</a:t>
            </a:r>
            <a:r>
              <a:rPr lang="zh-CN" altLang="zh-CN" sz="1200" kern="1200" dirty="0" smtClean="0">
                <a:solidFill>
                  <a:schemeClr val="tx1"/>
                </a:solidFill>
                <a:effectLst/>
                <a:latin typeface="Times New Roman" pitchFamily="18" charset="0"/>
                <a:ea typeface="+mn-ea"/>
                <a:cs typeface="+mn-cs"/>
              </a:rPr>
              <a:t>，即 </a:t>
            </a:r>
            <a:r>
              <a:rPr lang="en-US" altLang="zh-CN" sz="1200" kern="1200" dirty="0" smtClean="0">
                <a:solidFill>
                  <a:schemeClr val="tx1"/>
                </a:solidFill>
                <a:effectLst/>
                <a:latin typeface="Times New Roman" pitchFamily="18" charset="0"/>
                <a:ea typeface="+mn-ea"/>
                <a:cs typeface="+mn-cs"/>
              </a:rPr>
              <a:t>x&lt;y</a:t>
            </a:r>
            <a:r>
              <a:rPr lang="zh-CN" altLang="zh-CN" sz="1200" kern="1200" dirty="0" smtClean="0">
                <a:solidFill>
                  <a:schemeClr val="tx1"/>
                </a:solidFill>
                <a:effectLst/>
                <a:latin typeface="Times New Roman" pitchFamily="18" charset="0"/>
                <a:ea typeface="+mn-ea"/>
                <a:cs typeface="+mn-cs"/>
              </a:rPr>
              <a:t>。</a:t>
            </a:r>
          </a:p>
        </p:txBody>
      </p:sp>
      <p:sp>
        <p:nvSpPr>
          <p:cNvPr id="4" name="灯片编号占位符 3"/>
          <p:cNvSpPr>
            <a:spLocks noGrp="1"/>
          </p:cNvSpPr>
          <p:nvPr>
            <p:ph type="sldNum" sz="quarter" idx="10"/>
          </p:nvPr>
        </p:nvSpPr>
        <p:spPr/>
        <p:txBody>
          <a:bodyPr/>
          <a:lstStyle/>
          <a:p>
            <a:pPr>
              <a:defRPr/>
            </a:pPr>
            <a:fld id="{40F64717-A5A5-4C4E-9291-2F18B7410B06}" type="slidenum">
              <a:rPr lang="en-US" smtClean="0"/>
              <a:pPr>
                <a:defRPr/>
              </a:pPr>
              <a:t>11</a:t>
            </a:fld>
            <a:endParaRPr lang="en-US"/>
          </a:p>
        </p:txBody>
      </p:sp>
    </p:spTree>
    <p:extLst>
      <p:ext uri="{BB962C8B-B14F-4D97-AF65-F5344CB8AC3E}">
        <p14:creationId xmlns:p14="http://schemas.microsoft.com/office/powerpoint/2010/main" val="26844650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itchFamily="18" charset="0"/>
                <a:ea typeface="+mn-ea"/>
                <a:cs typeface="+mn-cs"/>
              </a:rPr>
              <a:t>将</a:t>
            </a:r>
            <a:r>
              <a:rPr lang="en-US" altLang="zh-CN" sz="1200" kern="1200" dirty="0" smtClean="0">
                <a:solidFill>
                  <a:schemeClr val="tx1"/>
                </a:solidFill>
                <a:effectLst/>
                <a:latin typeface="Times New Roman" pitchFamily="18" charset="0"/>
                <a:ea typeface="+mn-ea"/>
                <a:cs typeface="+mn-cs"/>
              </a:rPr>
              <a:t>x </a:t>
            </a:r>
            <a:r>
              <a:rPr lang="zh-CN" altLang="zh-CN" sz="1200" kern="1200" dirty="0" smtClean="0">
                <a:solidFill>
                  <a:schemeClr val="tx1"/>
                </a:solidFill>
                <a:effectLst/>
                <a:latin typeface="Times New Roman" pitchFamily="18" charset="0"/>
                <a:ea typeface="+mn-ea"/>
                <a:cs typeface="+mn-cs"/>
              </a:rPr>
              <a:t>左移一位，</a:t>
            </a:r>
            <a:r>
              <a:rPr lang="en-US" altLang="zh-CN" sz="1200" kern="1200" dirty="0" smtClean="0">
                <a:solidFill>
                  <a:schemeClr val="tx1"/>
                </a:solidFill>
                <a:effectLst/>
                <a:latin typeface="Times New Roman" pitchFamily="18" charset="0"/>
                <a:ea typeface="+mn-ea"/>
                <a:cs typeface="+mn-cs"/>
              </a:rPr>
              <a:t>y </a:t>
            </a:r>
            <a:r>
              <a:rPr lang="zh-CN" altLang="zh-CN" sz="1200" kern="1200" dirty="0" smtClean="0">
                <a:solidFill>
                  <a:schemeClr val="tx1"/>
                </a:solidFill>
                <a:effectLst/>
                <a:latin typeface="Times New Roman" pitchFamily="18" charset="0"/>
                <a:ea typeface="+mn-ea"/>
                <a:cs typeface="+mn-cs"/>
              </a:rPr>
              <a:t>右移一位，两个数的补码相加的机器数为</a:t>
            </a:r>
          </a:p>
          <a:p>
            <a:r>
              <a:rPr lang="en-US" altLang="zh-CN" sz="1200" kern="1200" dirty="0" smtClean="0">
                <a:solidFill>
                  <a:schemeClr val="tx1"/>
                </a:solidFill>
                <a:effectLst/>
                <a:latin typeface="Times New Roman" pitchFamily="18" charset="0"/>
                <a:ea typeface="+mn-ea"/>
                <a:cs typeface="+mn-cs"/>
              </a:rPr>
              <a:t>11000000</a:t>
            </a:r>
            <a:endParaRPr lang="zh-CN" altLang="zh-CN" sz="1200" kern="1200" dirty="0" smtClean="0">
              <a:solidFill>
                <a:schemeClr val="tx1"/>
              </a:solidFill>
              <a:effectLst/>
              <a:latin typeface="Times New Roman" pitchFamily="18" charset="0"/>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40F64717-A5A5-4C4E-9291-2F18B7410B06}" type="slidenum">
              <a:rPr lang="en-US" smtClean="0"/>
              <a:pPr>
                <a:defRPr/>
              </a:pPr>
              <a:t>12</a:t>
            </a:fld>
            <a:endParaRPr lang="en-US"/>
          </a:p>
        </p:txBody>
      </p:sp>
    </p:spTree>
    <p:extLst>
      <p:ext uri="{BB962C8B-B14F-4D97-AF65-F5344CB8AC3E}">
        <p14:creationId xmlns:p14="http://schemas.microsoft.com/office/powerpoint/2010/main" val="36839605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Times New Roman" pitchFamily="18" charset="0"/>
                <a:ea typeface="+mn-ea"/>
                <a:cs typeface="+mn-cs"/>
              </a:rPr>
              <a:t>8 </a:t>
            </a:r>
            <a:r>
              <a:rPr lang="zh-CN" altLang="zh-CN" sz="1200" kern="1200" dirty="0" smtClean="0">
                <a:solidFill>
                  <a:schemeClr val="tx1"/>
                </a:solidFill>
                <a:effectLst/>
                <a:latin typeface="Times New Roman" pitchFamily="18" charset="0"/>
                <a:ea typeface="+mn-ea"/>
                <a:cs typeface="+mn-cs"/>
              </a:rPr>
              <a:t>位定点补码表示的数据范围为</a:t>
            </a:r>
            <a:r>
              <a:rPr lang="en-US" altLang="zh-CN" sz="1200" kern="1200" dirty="0" smtClean="0">
                <a:solidFill>
                  <a:schemeClr val="tx1"/>
                </a:solidFill>
                <a:effectLst/>
                <a:latin typeface="Times New Roman" pitchFamily="18" charset="0"/>
                <a:ea typeface="+mn-ea"/>
                <a:cs typeface="+mn-cs"/>
              </a:rPr>
              <a:t>-128~127</a:t>
            </a:r>
            <a:r>
              <a:rPr lang="zh-CN" altLang="zh-CN" sz="1200" kern="1200" dirty="0" smtClean="0">
                <a:solidFill>
                  <a:schemeClr val="tx1"/>
                </a:solidFill>
                <a:effectLst/>
                <a:latin typeface="Times New Roman" pitchFamily="18" charset="0"/>
                <a:ea typeface="+mn-ea"/>
                <a:cs typeface="+mn-cs"/>
              </a:rPr>
              <a:t>，若运算结果超出这个范围则会溢出，</a:t>
            </a:r>
            <a:r>
              <a:rPr lang="en-US" altLang="zh-CN" sz="1200" kern="1200" dirty="0" smtClean="0">
                <a:solidFill>
                  <a:schemeClr val="tx1"/>
                </a:solidFill>
                <a:effectLst/>
                <a:latin typeface="Times New Roman" pitchFamily="18" charset="0"/>
                <a:ea typeface="+mn-ea"/>
                <a:cs typeface="+mn-cs"/>
              </a:rPr>
              <a:t>A </a:t>
            </a:r>
            <a:r>
              <a:rPr lang="zh-CN" altLang="zh-CN" sz="1200" kern="1200" dirty="0" smtClean="0">
                <a:solidFill>
                  <a:schemeClr val="tx1"/>
                </a:solidFill>
                <a:effectLst/>
                <a:latin typeface="Times New Roman" pitchFamily="18" charset="0"/>
                <a:ea typeface="+mn-ea"/>
                <a:cs typeface="+mn-cs"/>
              </a:rPr>
              <a:t>选项 </a:t>
            </a:r>
            <a:r>
              <a:rPr lang="en-US" altLang="zh-CN" sz="1200" kern="1200" dirty="0" err="1" smtClean="0">
                <a:solidFill>
                  <a:schemeClr val="tx1"/>
                </a:solidFill>
                <a:effectLst/>
                <a:latin typeface="Times New Roman" pitchFamily="18" charset="0"/>
                <a:ea typeface="+mn-ea"/>
                <a:cs typeface="+mn-cs"/>
              </a:rPr>
              <a:t>x+y</a:t>
            </a:r>
            <a:r>
              <a:rPr lang="en-US" altLang="zh-CN" sz="1200" kern="1200" dirty="0" smtClean="0">
                <a:solidFill>
                  <a:schemeClr val="tx1"/>
                </a:solidFill>
                <a:effectLst/>
                <a:latin typeface="Times New Roman" pitchFamily="18" charset="0"/>
                <a:ea typeface="+mn-ea"/>
                <a:cs typeface="+mn-cs"/>
              </a:rPr>
              <a:t>=103-25=78</a:t>
            </a:r>
            <a:r>
              <a:rPr lang="zh-CN" altLang="zh-CN" sz="1200" kern="1200" dirty="0" smtClean="0">
                <a:solidFill>
                  <a:schemeClr val="tx1"/>
                </a:solidFill>
                <a:effectLst/>
                <a:latin typeface="Times New Roman" pitchFamily="18" charset="0"/>
                <a:ea typeface="+mn-ea"/>
                <a:cs typeface="+mn-cs"/>
              </a:rPr>
              <a:t>，符合范围，</a:t>
            </a:r>
            <a:r>
              <a:rPr lang="en-US" altLang="zh-CN" sz="1200" kern="1200" dirty="0" smtClean="0">
                <a:solidFill>
                  <a:schemeClr val="tx1"/>
                </a:solidFill>
                <a:effectLst/>
                <a:latin typeface="Times New Roman" pitchFamily="18" charset="0"/>
                <a:ea typeface="+mn-ea"/>
                <a:cs typeface="+mn-cs"/>
              </a:rPr>
              <a:t>A </a:t>
            </a:r>
            <a:r>
              <a:rPr lang="zh-CN" altLang="zh-CN" sz="1200" kern="1200" dirty="0" smtClean="0">
                <a:solidFill>
                  <a:schemeClr val="tx1"/>
                </a:solidFill>
                <a:effectLst/>
                <a:latin typeface="Times New Roman" pitchFamily="18" charset="0"/>
                <a:ea typeface="+mn-ea"/>
                <a:cs typeface="+mn-cs"/>
              </a:rPr>
              <a:t>排除；</a:t>
            </a:r>
            <a:r>
              <a:rPr lang="en-US" altLang="zh-CN" sz="1200" kern="1200" dirty="0" smtClean="0">
                <a:solidFill>
                  <a:schemeClr val="tx1"/>
                </a:solidFill>
                <a:effectLst/>
                <a:latin typeface="Times New Roman" pitchFamily="18" charset="0"/>
                <a:ea typeface="+mn-ea"/>
                <a:cs typeface="+mn-cs"/>
              </a:rPr>
              <a:t>B </a:t>
            </a:r>
            <a:r>
              <a:rPr lang="zh-CN" altLang="zh-CN" sz="1200" kern="1200" dirty="0" smtClean="0">
                <a:solidFill>
                  <a:schemeClr val="tx1"/>
                </a:solidFill>
                <a:effectLst/>
                <a:latin typeface="Times New Roman" pitchFamily="18" charset="0"/>
                <a:ea typeface="+mn-ea"/>
                <a:cs typeface="+mn-cs"/>
              </a:rPr>
              <a:t>选项</a:t>
            </a:r>
            <a:r>
              <a:rPr lang="en-US" altLang="zh-CN" sz="1200" kern="1200" dirty="0" smtClean="0">
                <a:solidFill>
                  <a:schemeClr val="tx1"/>
                </a:solidFill>
                <a:effectLst/>
                <a:latin typeface="Times New Roman" pitchFamily="18" charset="0"/>
                <a:ea typeface="+mn-ea"/>
                <a:cs typeface="+mn-cs"/>
              </a:rPr>
              <a:t>-</a:t>
            </a:r>
            <a:r>
              <a:rPr lang="en-US" altLang="zh-CN" sz="1200" kern="1200" dirty="0" err="1" smtClean="0">
                <a:solidFill>
                  <a:schemeClr val="tx1"/>
                </a:solidFill>
                <a:effectLst/>
                <a:latin typeface="Times New Roman" pitchFamily="18" charset="0"/>
                <a:ea typeface="+mn-ea"/>
                <a:cs typeface="+mn-cs"/>
              </a:rPr>
              <a:t>x+y</a:t>
            </a:r>
            <a:r>
              <a:rPr lang="en-US" altLang="zh-CN" sz="1200" kern="1200" dirty="0" smtClean="0">
                <a:solidFill>
                  <a:schemeClr val="tx1"/>
                </a:solidFill>
                <a:effectLst/>
                <a:latin typeface="Times New Roman" pitchFamily="18" charset="0"/>
                <a:ea typeface="+mn-ea"/>
                <a:cs typeface="+mn-cs"/>
              </a:rPr>
              <a:t>=-103-25=-128</a:t>
            </a:r>
            <a:r>
              <a:rPr lang="zh-CN" altLang="zh-CN" sz="1200" kern="1200" dirty="0" smtClean="0">
                <a:solidFill>
                  <a:schemeClr val="tx1"/>
                </a:solidFill>
                <a:effectLst/>
                <a:latin typeface="Times New Roman" pitchFamily="18" charset="0"/>
                <a:ea typeface="+mn-ea"/>
                <a:cs typeface="+mn-cs"/>
              </a:rPr>
              <a:t>，符合范围，</a:t>
            </a:r>
            <a:r>
              <a:rPr lang="en-US" altLang="zh-CN" sz="1200" kern="1200" dirty="0" smtClean="0">
                <a:solidFill>
                  <a:schemeClr val="tx1"/>
                </a:solidFill>
                <a:effectLst/>
                <a:latin typeface="Times New Roman" pitchFamily="18" charset="0"/>
                <a:ea typeface="+mn-ea"/>
                <a:cs typeface="+mn-cs"/>
              </a:rPr>
              <a:t>B </a:t>
            </a:r>
            <a:r>
              <a:rPr lang="zh-CN" altLang="zh-CN" sz="1200" kern="1200" dirty="0" smtClean="0">
                <a:solidFill>
                  <a:schemeClr val="tx1"/>
                </a:solidFill>
                <a:effectLst/>
                <a:latin typeface="Times New Roman" pitchFamily="18" charset="0"/>
                <a:ea typeface="+mn-ea"/>
                <a:cs typeface="+mn-cs"/>
              </a:rPr>
              <a:t>排除； </a:t>
            </a:r>
            <a:r>
              <a:rPr lang="en-US" altLang="zh-CN" sz="1200" kern="1200" dirty="0" smtClean="0">
                <a:solidFill>
                  <a:schemeClr val="tx1"/>
                </a:solidFill>
                <a:effectLst/>
                <a:latin typeface="Times New Roman" pitchFamily="18" charset="0"/>
                <a:ea typeface="+mn-ea"/>
                <a:cs typeface="+mn-cs"/>
              </a:rPr>
              <a:t>D </a:t>
            </a:r>
            <a:r>
              <a:rPr lang="zh-CN" altLang="zh-CN" sz="1200" kern="1200" dirty="0" smtClean="0">
                <a:solidFill>
                  <a:schemeClr val="tx1"/>
                </a:solidFill>
                <a:effectLst/>
                <a:latin typeface="Times New Roman" pitchFamily="18" charset="0"/>
                <a:ea typeface="+mn-ea"/>
                <a:cs typeface="+mn-cs"/>
              </a:rPr>
              <a:t>选项</a:t>
            </a:r>
            <a:r>
              <a:rPr lang="en-US" altLang="zh-CN" sz="1200" kern="1200" dirty="0" smtClean="0">
                <a:solidFill>
                  <a:schemeClr val="tx1"/>
                </a:solidFill>
                <a:effectLst/>
                <a:latin typeface="Times New Roman" pitchFamily="18" charset="0"/>
                <a:ea typeface="+mn-ea"/>
                <a:cs typeface="+mn-cs"/>
              </a:rPr>
              <a:t>-x-y=-103+25=-78</a:t>
            </a:r>
            <a:r>
              <a:rPr lang="zh-CN" altLang="zh-CN" sz="1200" kern="1200" dirty="0" smtClean="0">
                <a:solidFill>
                  <a:schemeClr val="tx1"/>
                </a:solidFill>
                <a:effectLst/>
                <a:latin typeface="Times New Roman" pitchFamily="18" charset="0"/>
                <a:ea typeface="+mn-ea"/>
                <a:cs typeface="+mn-cs"/>
              </a:rPr>
              <a:t>，符合范围，</a:t>
            </a:r>
            <a:r>
              <a:rPr lang="en-US" altLang="zh-CN" sz="1200" kern="1200" dirty="0" smtClean="0">
                <a:solidFill>
                  <a:schemeClr val="tx1"/>
                </a:solidFill>
                <a:effectLst/>
                <a:latin typeface="Times New Roman" pitchFamily="18" charset="0"/>
                <a:ea typeface="+mn-ea"/>
                <a:cs typeface="+mn-cs"/>
              </a:rPr>
              <a:t>D </a:t>
            </a:r>
            <a:r>
              <a:rPr lang="zh-CN" altLang="zh-CN" sz="1200" kern="1200" dirty="0" smtClean="0">
                <a:solidFill>
                  <a:schemeClr val="tx1"/>
                </a:solidFill>
                <a:effectLst/>
                <a:latin typeface="Times New Roman" pitchFamily="18" charset="0"/>
                <a:ea typeface="+mn-ea"/>
                <a:cs typeface="+mn-cs"/>
              </a:rPr>
              <a:t>排除；</a:t>
            </a:r>
            <a:r>
              <a:rPr lang="en-US" altLang="zh-CN" sz="1200" kern="1200" dirty="0" smtClean="0">
                <a:solidFill>
                  <a:schemeClr val="tx1"/>
                </a:solidFill>
                <a:effectLst/>
                <a:latin typeface="Times New Roman" pitchFamily="18" charset="0"/>
                <a:ea typeface="+mn-ea"/>
                <a:cs typeface="+mn-cs"/>
              </a:rPr>
              <a:t>C </a:t>
            </a:r>
            <a:r>
              <a:rPr lang="zh-CN" altLang="zh-CN" sz="1200" kern="1200" dirty="0" smtClean="0">
                <a:solidFill>
                  <a:schemeClr val="tx1"/>
                </a:solidFill>
                <a:effectLst/>
                <a:latin typeface="Times New Roman" pitchFamily="18" charset="0"/>
                <a:ea typeface="+mn-ea"/>
                <a:cs typeface="+mn-cs"/>
              </a:rPr>
              <a:t>选项 </a:t>
            </a:r>
            <a:r>
              <a:rPr lang="en-US" altLang="zh-CN" sz="1200" kern="1200" dirty="0" smtClean="0">
                <a:solidFill>
                  <a:schemeClr val="tx1"/>
                </a:solidFill>
                <a:effectLst/>
                <a:latin typeface="Times New Roman" pitchFamily="18" charset="0"/>
                <a:ea typeface="+mn-ea"/>
                <a:cs typeface="+mn-cs"/>
              </a:rPr>
              <a:t>x-y=103+25=128</a:t>
            </a:r>
            <a:r>
              <a:rPr lang="zh-CN" altLang="zh-CN" sz="1200" kern="1200" dirty="0" smtClean="0">
                <a:solidFill>
                  <a:schemeClr val="tx1"/>
                </a:solidFill>
                <a:effectLst/>
                <a:latin typeface="Times New Roman" pitchFamily="18" charset="0"/>
                <a:ea typeface="+mn-ea"/>
                <a:cs typeface="+mn-cs"/>
              </a:rPr>
              <a:t>，超过了 </a:t>
            </a:r>
            <a:r>
              <a:rPr lang="en-US" altLang="zh-CN" sz="1200" kern="1200" dirty="0" smtClean="0">
                <a:solidFill>
                  <a:schemeClr val="tx1"/>
                </a:solidFill>
                <a:effectLst/>
                <a:latin typeface="Times New Roman" pitchFamily="18" charset="0"/>
                <a:ea typeface="+mn-ea"/>
                <a:cs typeface="+mn-cs"/>
              </a:rPr>
              <a:t>127</a:t>
            </a:r>
            <a:r>
              <a:rPr lang="zh-CN" altLang="zh-CN" sz="1200" kern="1200" dirty="0" smtClean="0">
                <a:solidFill>
                  <a:schemeClr val="tx1"/>
                </a:solidFill>
                <a:effectLst/>
                <a:latin typeface="Times New Roman" pitchFamily="18" charset="0"/>
                <a:ea typeface="+mn-ea"/>
                <a:cs typeface="+mn-cs"/>
              </a:rPr>
              <a:t>，选 </a:t>
            </a:r>
            <a:r>
              <a:rPr lang="en-US" altLang="zh-CN" sz="1200" kern="1200" dirty="0" smtClean="0">
                <a:solidFill>
                  <a:schemeClr val="tx1"/>
                </a:solidFill>
                <a:effectLst/>
                <a:latin typeface="Times New Roman" pitchFamily="18" charset="0"/>
                <a:ea typeface="+mn-ea"/>
                <a:cs typeface="+mn-cs"/>
              </a:rPr>
              <a:t>C</a:t>
            </a:r>
            <a:r>
              <a:rPr lang="zh-CN" altLang="zh-CN" sz="1200" kern="1200" dirty="0" smtClean="0">
                <a:solidFill>
                  <a:schemeClr val="tx1"/>
                </a:solidFill>
                <a:effectLst/>
                <a:latin typeface="Times New Roman" pitchFamily="18" charset="0"/>
                <a:ea typeface="+mn-ea"/>
                <a:cs typeface="+mn-cs"/>
              </a:rPr>
              <a:t>。</a:t>
            </a:r>
          </a:p>
          <a:p>
            <a:r>
              <a:rPr lang="zh-CN" altLang="zh-CN" sz="1200" kern="1200" dirty="0" smtClean="0">
                <a:solidFill>
                  <a:schemeClr val="tx1"/>
                </a:solidFill>
                <a:effectLst/>
                <a:latin typeface="Times New Roman" pitchFamily="18" charset="0"/>
                <a:ea typeface="+mn-ea"/>
                <a:cs typeface="+mn-cs"/>
              </a:rPr>
              <a:t>该题也可按照二进制写出两个数进行运算观察运算的进位信息得到结果，不过这种方法 更为麻烦和耗时，在实际考试中并不推荐</a:t>
            </a:r>
            <a:endParaRPr lang="zh-CN" altLang="en-US" dirty="0"/>
          </a:p>
        </p:txBody>
      </p:sp>
      <p:sp>
        <p:nvSpPr>
          <p:cNvPr id="4" name="灯片编号占位符 3"/>
          <p:cNvSpPr>
            <a:spLocks noGrp="1"/>
          </p:cNvSpPr>
          <p:nvPr>
            <p:ph type="sldNum" sz="quarter" idx="10"/>
          </p:nvPr>
        </p:nvSpPr>
        <p:spPr/>
        <p:txBody>
          <a:bodyPr/>
          <a:lstStyle/>
          <a:p>
            <a:pPr>
              <a:defRPr/>
            </a:pPr>
            <a:fld id="{40F64717-A5A5-4C4E-9291-2F18B7410B06}" type="slidenum">
              <a:rPr lang="en-US" smtClean="0"/>
              <a:pPr>
                <a:defRPr/>
              </a:pPr>
              <a:t>13</a:t>
            </a:fld>
            <a:endParaRPr lang="en-US"/>
          </a:p>
        </p:txBody>
      </p:sp>
    </p:spTree>
    <p:extLst>
      <p:ext uri="{BB962C8B-B14F-4D97-AF65-F5344CB8AC3E}">
        <p14:creationId xmlns:p14="http://schemas.microsoft.com/office/powerpoint/2010/main" val="35450788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E70C414-AEA9-4336-804C-E226D31E0711}" type="datetime3">
              <a:rPr lang="zh-CN" altLang="en-US" smtClean="0"/>
              <a:pPr eaLnBrk="1" hangingPunct="1"/>
              <a:t>2017年6月15日星期四</a:t>
            </a:fld>
            <a:endParaRPr lang="en-US" altLang="zh-CN" smtClean="0"/>
          </a:p>
        </p:txBody>
      </p:sp>
      <p:sp>
        <p:nvSpPr>
          <p:cNvPr id="20173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E36F361-D374-4A14-AAF3-478F6A4E6955}" type="slidenum">
              <a:rPr lang="en-US" altLang="zh-CN"/>
              <a:pPr eaLnBrk="1" hangingPunct="1"/>
              <a:t>14</a:t>
            </a:fld>
            <a:endParaRPr lang="en-US" altLang="zh-CN"/>
          </a:p>
        </p:txBody>
      </p:sp>
      <p:sp>
        <p:nvSpPr>
          <p:cNvPr id="20173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D7FEBAE7-E273-485D-BE91-58AE667E8430}" type="slidenum">
              <a:rPr lang="en-US" altLang="zh-CN" sz="1200"/>
              <a:pPr algn="r" eaLnBrk="1" hangingPunct="1"/>
              <a:t>14</a:t>
            </a:fld>
            <a:endParaRPr lang="en-US" altLang="zh-CN" sz="1200"/>
          </a:p>
        </p:txBody>
      </p:sp>
      <p:sp>
        <p:nvSpPr>
          <p:cNvPr id="201733" name="Rectangle 2"/>
          <p:cNvSpPr>
            <a:spLocks noGrp="1" noRot="1" noChangeAspect="1" noChangeArrowheads="1" noTextEdit="1"/>
          </p:cNvSpPr>
          <p:nvPr>
            <p:ph type="sldImg"/>
          </p:nvPr>
        </p:nvSpPr>
        <p:spPr>
          <a:ln/>
        </p:spPr>
      </p:sp>
      <p:sp>
        <p:nvSpPr>
          <p:cNvPr id="20173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800" b="1" smtClean="0">
              <a:solidFill>
                <a:srgbClr val="FF0000"/>
              </a:solidFill>
              <a:latin typeface="宋体" panose="02010600030101010101" pitchFamily="2" charset="-122"/>
              <a:ea typeface="黑体" panose="02010609060101010101" pitchFamily="49" charset="-122"/>
            </a:endParaRPr>
          </a:p>
        </p:txBody>
      </p:sp>
    </p:spTree>
    <p:extLst>
      <p:ext uri="{BB962C8B-B14F-4D97-AF65-F5344CB8AC3E}">
        <p14:creationId xmlns:p14="http://schemas.microsoft.com/office/powerpoint/2010/main" val="41615967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smtClean="0">
                <a:latin typeface="黑体" panose="02010609060101010101" pitchFamily="49" charset="-122"/>
                <a:ea typeface="黑体" panose="02010609060101010101" pitchFamily="49" charset="-122"/>
              </a:rPr>
              <a:t>我们知道浮点数能够表示的精度有限，尾数表示数据的全部有效数位，决定着数值的精度</a:t>
            </a:r>
            <a:endParaRPr lang="en-US" altLang="zh-CN" sz="1200" dirty="0" smtClean="0">
              <a:latin typeface="黑体" panose="02010609060101010101" pitchFamily="49" charset="-122"/>
              <a:ea typeface="黑体" panose="02010609060101010101" pitchFamily="49" charset="-122"/>
            </a:endParaRPr>
          </a:p>
          <a:p>
            <a:r>
              <a:rPr lang="zh-CN" altLang="en-US" sz="1200" dirty="0" smtClean="0">
                <a:latin typeface="黑体" panose="02010609060101010101" pitchFamily="49" charset="-122"/>
                <a:ea typeface="黑体" panose="02010609060101010101" pitchFamily="49" charset="-122"/>
              </a:rPr>
              <a:t>因此浮点数有能够表示的最小整数和最大负数。</a:t>
            </a:r>
            <a:endParaRPr lang="en-US" altLang="zh-CN" sz="1200" dirty="0" smtClean="0">
              <a:latin typeface="黑体" panose="02010609060101010101" pitchFamily="49" charset="-122"/>
              <a:ea typeface="黑体" panose="02010609060101010101" pitchFamily="49" charset="-122"/>
            </a:endParaRPr>
          </a:p>
          <a:p>
            <a:endParaRPr lang="en-US" altLang="zh-CN" sz="1200" dirty="0" smtClean="0">
              <a:latin typeface="黑体" panose="02010609060101010101" pitchFamily="49" charset="-122"/>
              <a:ea typeface="黑体" panose="02010609060101010101" pitchFamily="49" charset="-122"/>
            </a:endParaRPr>
          </a:p>
          <a:p>
            <a:r>
              <a:rPr lang="zh-CN" altLang="en-US" sz="1200" dirty="0" smtClean="0">
                <a:latin typeface="黑体" panose="02010609060101010101" pitchFamily="49" charset="-122"/>
                <a:ea typeface="黑体" panose="02010609060101010101" pitchFamily="49" charset="-122"/>
              </a:rPr>
              <a:t>此外，阶码决定着浮点数的</a:t>
            </a:r>
            <a:r>
              <a:rPr lang="zh-CN" altLang="en-US" sz="1200" smtClean="0">
                <a:latin typeface="黑体" panose="02010609060101010101" pitchFamily="49" charset="-122"/>
                <a:ea typeface="黑体" panose="02010609060101010101" pitchFamily="49" charset="-122"/>
              </a:rPr>
              <a:t>表示范围</a:t>
            </a:r>
            <a:endParaRPr lang="en-US" altLang="zh-CN" sz="1200" smtClean="0">
              <a:latin typeface="黑体" panose="02010609060101010101" pitchFamily="49" charset="-122"/>
              <a:ea typeface="黑体" panose="02010609060101010101" pitchFamily="49" charset="-122"/>
            </a:endParaRPr>
          </a:p>
          <a:p>
            <a:endParaRPr lang="en-US" altLang="zh-CN" sz="1200" smtClean="0">
              <a:latin typeface="黑体" panose="02010609060101010101" pitchFamily="49" charset="-122"/>
              <a:ea typeface="黑体" panose="02010609060101010101" pitchFamily="49" charset="-122"/>
            </a:endParaRPr>
          </a:p>
          <a:p>
            <a:endParaRPr lang="zh-CN" altLang="en-US" dirty="0"/>
          </a:p>
        </p:txBody>
      </p:sp>
      <p:sp>
        <p:nvSpPr>
          <p:cNvPr id="4" name="灯片编号占位符 3"/>
          <p:cNvSpPr>
            <a:spLocks noGrp="1"/>
          </p:cNvSpPr>
          <p:nvPr>
            <p:ph type="sldNum" sz="quarter" idx="10"/>
          </p:nvPr>
        </p:nvSpPr>
        <p:spPr/>
        <p:txBody>
          <a:bodyPr/>
          <a:lstStyle/>
          <a:p>
            <a:pPr>
              <a:defRPr/>
            </a:pPr>
            <a:fld id="{40F64717-A5A5-4C4E-9291-2F18B7410B06}" type="slidenum">
              <a:rPr lang="en-US" smtClean="0"/>
              <a:pPr>
                <a:defRPr/>
              </a:pPr>
              <a:t>15</a:t>
            </a:fld>
            <a:endParaRPr lang="en-US"/>
          </a:p>
        </p:txBody>
      </p:sp>
    </p:spTree>
    <p:extLst>
      <p:ext uri="{BB962C8B-B14F-4D97-AF65-F5344CB8AC3E}">
        <p14:creationId xmlns:p14="http://schemas.microsoft.com/office/powerpoint/2010/main" val="25104470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Times New Roman" pitchFamily="18" charset="0"/>
                <a:ea typeface="+mn-ea"/>
                <a:cs typeface="+mn-cs"/>
              </a:rPr>
              <a:t>海明码（</a:t>
            </a:r>
            <a:r>
              <a:rPr lang="en-US" altLang="zh-CN" sz="1200" b="0" i="0" kern="1200" dirty="0" smtClean="0">
                <a:solidFill>
                  <a:schemeClr val="tx1"/>
                </a:solidFill>
                <a:effectLst/>
                <a:latin typeface="Times New Roman" pitchFamily="18" charset="0"/>
                <a:ea typeface="+mn-ea"/>
                <a:cs typeface="+mn-cs"/>
              </a:rPr>
              <a:t>Hamming Code</a:t>
            </a:r>
            <a:r>
              <a:rPr lang="zh-CN" altLang="en-US" sz="1200" b="0" i="0" kern="1200" dirty="0" smtClean="0">
                <a:solidFill>
                  <a:schemeClr val="tx1"/>
                </a:solidFill>
                <a:effectLst/>
                <a:latin typeface="Times New Roman" pitchFamily="18" charset="0"/>
                <a:ea typeface="+mn-ea"/>
                <a:cs typeface="+mn-cs"/>
              </a:rPr>
              <a:t>）是一个可以有多个校验位，具有检测并纠正一位错误代码的纠错码</a:t>
            </a:r>
            <a:endParaRPr lang="zh-CN" altLang="en-US" dirty="0"/>
          </a:p>
        </p:txBody>
      </p:sp>
      <p:sp>
        <p:nvSpPr>
          <p:cNvPr id="4" name="灯片编号占位符 3"/>
          <p:cNvSpPr>
            <a:spLocks noGrp="1"/>
          </p:cNvSpPr>
          <p:nvPr>
            <p:ph type="sldNum" sz="quarter" idx="10"/>
          </p:nvPr>
        </p:nvSpPr>
        <p:spPr/>
        <p:txBody>
          <a:bodyPr/>
          <a:lstStyle/>
          <a:p>
            <a:pPr>
              <a:defRPr/>
            </a:pPr>
            <a:fld id="{40F64717-A5A5-4C4E-9291-2F18B7410B06}" type="slidenum">
              <a:rPr lang="en-US" smtClean="0"/>
              <a:pPr>
                <a:defRPr/>
              </a:pPr>
              <a:t>16</a:t>
            </a:fld>
            <a:endParaRPr lang="en-US"/>
          </a:p>
        </p:txBody>
      </p:sp>
    </p:spTree>
    <p:extLst>
      <p:ext uri="{BB962C8B-B14F-4D97-AF65-F5344CB8AC3E}">
        <p14:creationId xmlns:p14="http://schemas.microsoft.com/office/powerpoint/2010/main" val="38949825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Times New Roman" pitchFamily="18" charset="0"/>
                <a:ea typeface="+mn-ea"/>
                <a:cs typeface="+mn-cs"/>
              </a:rPr>
              <a:t>海明码（</a:t>
            </a:r>
            <a:r>
              <a:rPr lang="en-US" altLang="zh-CN" sz="1200" b="0" i="0" kern="1200" dirty="0" smtClean="0">
                <a:solidFill>
                  <a:schemeClr val="tx1"/>
                </a:solidFill>
                <a:effectLst/>
                <a:latin typeface="Times New Roman" pitchFamily="18" charset="0"/>
                <a:ea typeface="+mn-ea"/>
                <a:cs typeface="+mn-cs"/>
              </a:rPr>
              <a:t>Hamming Code</a:t>
            </a:r>
            <a:r>
              <a:rPr lang="zh-CN" altLang="en-US" sz="1200" b="0" i="0" kern="1200" dirty="0" smtClean="0">
                <a:solidFill>
                  <a:schemeClr val="tx1"/>
                </a:solidFill>
                <a:effectLst/>
                <a:latin typeface="Times New Roman" pitchFamily="18" charset="0"/>
                <a:ea typeface="+mn-ea"/>
                <a:cs typeface="+mn-cs"/>
              </a:rPr>
              <a:t>）是一个可以有多个校验位，具有检测并纠正一位错误代码的纠错码</a:t>
            </a:r>
            <a:endParaRPr lang="zh-CN" altLang="en-US" dirty="0"/>
          </a:p>
        </p:txBody>
      </p:sp>
      <p:sp>
        <p:nvSpPr>
          <p:cNvPr id="4" name="灯片编号占位符 3"/>
          <p:cNvSpPr>
            <a:spLocks noGrp="1"/>
          </p:cNvSpPr>
          <p:nvPr>
            <p:ph type="sldNum" sz="quarter" idx="10"/>
          </p:nvPr>
        </p:nvSpPr>
        <p:spPr/>
        <p:txBody>
          <a:bodyPr/>
          <a:lstStyle/>
          <a:p>
            <a:pPr>
              <a:defRPr/>
            </a:pPr>
            <a:fld id="{40F64717-A5A5-4C4E-9291-2F18B7410B06}" type="slidenum">
              <a:rPr lang="en-US" smtClean="0"/>
              <a:pPr>
                <a:defRPr/>
              </a:pPr>
              <a:t>17</a:t>
            </a:fld>
            <a:endParaRPr lang="en-US"/>
          </a:p>
        </p:txBody>
      </p:sp>
    </p:spTree>
    <p:extLst>
      <p:ext uri="{BB962C8B-B14F-4D97-AF65-F5344CB8AC3E}">
        <p14:creationId xmlns:p14="http://schemas.microsoft.com/office/powerpoint/2010/main" val="14336046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itchFamily="18" charset="0"/>
                <a:ea typeface="+mn-ea"/>
                <a:cs typeface="+mn-cs"/>
              </a:rPr>
              <a:t>虚拟地址为</a:t>
            </a:r>
            <a:r>
              <a:rPr lang="en-US" altLang="zh-CN" sz="1200" kern="1200" dirty="0" smtClean="0">
                <a:solidFill>
                  <a:schemeClr val="tx1"/>
                </a:solidFill>
                <a:effectLst/>
                <a:latin typeface="Times New Roman" pitchFamily="18" charset="0"/>
                <a:ea typeface="+mn-ea"/>
                <a:cs typeface="+mn-cs"/>
              </a:rPr>
              <a:t>03FF F180H</a:t>
            </a:r>
            <a:r>
              <a:rPr lang="zh-CN" altLang="zh-CN" sz="1200" kern="1200" dirty="0" smtClean="0">
                <a:solidFill>
                  <a:schemeClr val="tx1"/>
                </a:solidFill>
                <a:effectLst/>
                <a:latin typeface="Times New Roman" pitchFamily="18" charset="0"/>
                <a:ea typeface="+mn-ea"/>
                <a:cs typeface="+mn-cs"/>
              </a:rPr>
              <a:t>，其中页号为</a:t>
            </a:r>
            <a:r>
              <a:rPr lang="en-US" altLang="zh-CN" sz="1200" kern="1200" dirty="0" smtClean="0">
                <a:solidFill>
                  <a:schemeClr val="tx1"/>
                </a:solidFill>
                <a:effectLst/>
                <a:latin typeface="Times New Roman" pitchFamily="18" charset="0"/>
                <a:ea typeface="+mn-ea"/>
                <a:cs typeface="+mn-cs"/>
              </a:rPr>
              <a:t>03FFFH</a:t>
            </a:r>
            <a:r>
              <a:rPr lang="zh-CN" altLang="zh-CN" sz="1200" kern="1200" dirty="0" smtClean="0">
                <a:solidFill>
                  <a:schemeClr val="tx1"/>
                </a:solidFill>
                <a:effectLst/>
                <a:latin typeface="Times New Roman" pitchFamily="18" charset="0"/>
                <a:ea typeface="+mn-ea"/>
                <a:cs typeface="+mn-cs"/>
              </a:rPr>
              <a:t>，页内地址为</a:t>
            </a:r>
            <a:r>
              <a:rPr lang="en-US" altLang="zh-CN" sz="1200" kern="1200" dirty="0" smtClean="0">
                <a:solidFill>
                  <a:schemeClr val="tx1"/>
                </a:solidFill>
                <a:effectLst/>
                <a:latin typeface="Times New Roman" pitchFamily="18" charset="0"/>
                <a:ea typeface="+mn-ea"/>
                <a:cs typeface="+mn-cs"/>
              </a:rPr>
              <a:t>180H</a:t>
            </a:r>
            <a:r>
              <a:rPr lang="zh-CN" altLang="zh-CN" sz="1200" kern="1200" dirty="0" smtClean="0">
                <a:solidFill>
                  <a:schemeClr val="tx1"/>
                </a:solidFill>
                <a:effectLst/>
                <a:latin typeface="Times New Roman" pitchFamily="18" charset="0"/>
                <a:ea typeface="+mn-ea"/>
                <a:cs typeface="+mn-cs"/>
              </a:rPr>
              <a:t>，根据题目中给出的页表项可知页标记为</a:t>
            </a:r>
            <a:r>
              <a:rPr lang="en-US" altLang="zh-CN" sz="1200" kern="1200" dirty="0" smtClean="0">
                <a:solidFill>
                  <a:schemeClr val="tx1"/>
                </a:solidFill>
                <a:effectLst/>
                <a:latin typeface="Times New Roman" pitchFamily="18" charset="0"/>
                <a:ea typeface="+mn-ea"/>
                <a:cs typeface="+mn-cs"/>
              </a:rPr>
              <a:t>03FFFH </a:t>
            </a:r>
            <a:r>
              <a:rPr lang="zh-CN" altLang="zh-CN" sz="1200" kern="1200" dirty="0" smtClean="0">
                <a:solidFill>
                  <a:schemeClr val="tx1"/>
                </a:solidFill>
                <a:effectLst/>
                <a:latin typeface="Times New Roman" pitchFamily="18" charset="0"/>
                <a:ea typeface="+mn-ea"/>
                <a:cs typeface="+mn-cs"/>
              </a:rPr>
              <a:t>所对应的页框号为</a:t>
            </a:r>
            <a:r>
              <a:rPr lang="en-US" altLang="zh-CN" sz="1200" kern="1200" dirty="0" smtClean="0">
                <a:solidFill>
                  <a:schemeClr val="tx1"/>
                </a:solidFill>
                <a:effectLst/>
                <a:latin typeface="Times New Roman" pitchFamily="18" charset="0"/>
                <a:ea typeface="+mn-ea"/>
                <a:cs typeface="+mn-cs"/>
              </a:rPr>
              <a:t>0153H</a:t>
            </a:r>
            <a:r>
              <a:rPr lang="zh-CN" altLang="zh-CN" sz="1200" kern="1200" dirty="0" smtClean="0">
                <a:solidFill>
                  <a:schemeClr val="tx1"/>
                </a:solidFill>
                <a:effectLst/>
                <a:latin typeface="Times New Roman" pitchFamily="18" charset="0"/>
                <a:ea typeface="+mn-ea"/>
                <a:cs typeface="+mn-cs"/>
              </a:rPr>
              <a:t>，页框号与页内地址之和即为物理地址</a:t>
            </a:r>
            <a:r>
              <a:rPr lang="en-US" altLang="zh-CN" sz="1200" kern="1200" dirty="0" smtClean="0">
                <a:solidFill>
                  <a:schemeClr val="tx1"/>
                </a:solidFill>
                <a:effectLst/>
                <a:latin typeface="Times New Roman" pitchFamily="18" charset="0"/>
                <a:ea typeface="+mn-ea"/>
                <a:cs typeface="+mn-cs"/>
              </a:rPr>
              <a:t>015 3180 H</a:t>
            </a:r>
            <a:r>
              <a:rPr lang="zh-CN" altLang="zh-CN" sz="1200" kern="1200" dirty="0" smtClean="0">
                <a:solidFill>
                  <a:schemeClr val="tx1"/>
                </a:solidFill>
                <a:effectLst/>
                <a:latin typeface="Times New Roman" pitchFamily="18" charset="0"/>
                <a:ea typeface="+mn-ea"/>
                <a:cs typeface="+mn-cs"/>
              </a:rPr>
              <a:t>。</a:t>
            </a:r>
            <a:endParaRPr lang="zh-CN" altLang="en-US" dirty="0"/>
          </a:p>
        </p:txBody>
      </p:sp>
      <p:sp>
        <p:nvSpPr>
          <p:cNvPr id="4" name="灯片编号占位符 3"/>
          <p:cNvSpPr>
            <a:spLocks noGrp="1"/>
          </p:cNvSpPr>
          <p:nvPr>
            <p:ph type="sldNum" sz="quarter" idx="10"/>
          </p:nvPr>
        </p:nvSpPr>
        <p:spPr/>
        <p:txBody>
          <a:bodyPr/>
          <a:lstStyle/>
          <a:p>
            <a:pPr>
              <a:defRPr/>
            </a:pPr>
            <a:fld id="{40F64717-A5A5-4C4E-9291-2F18B7410B06}" type="slidenum">
              <a:rPr lang="en-US" smtClean="0"/>
              <a:pPr>
                <a:defRPr/>
              </a:pPr>
              <a:t>19</a:t>
            </a:fld>
            <a:endParaRPr lang="en-US"/>
          </a:p>
        </p:txBody>
      </p:sp>
    </p:spTree>
    <p:extLst>
      <p:ext uri="{BB962C8B-B14F-4D97-AF65-F5344CB8AC3E}">
        <p14:creationId xmlns:p14="http://schemas.microsoft.com/office/powerpoint/2010/main" val="38035458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32BF482-21C3-4AAF-BE5B-CCE859311E9D}" type="slidenum">
              <a:rPr lang="zh-CN" altLang="en-US" smtClean="0"/>
              <a:t>20</a:t>
            </a:fld>
            <a:endParaRPr lang="zh-CN" altLang="en-US"/>
          </a:p>
        </p:txBody>
      </p:sp>
    </p:spTree>
    <p:extLst>
      <p:ext uri="{BB962C8B-B14F-4D97-AF65-F5344CB8AC3E}">
        <p14:creationId xmlns:p14="http://schemas.microsoft.com/office/powerpoint/2010/main" val="1342148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1310844-0966-4A3F-95B2-16ED2639C50B}" type="slidenum">
              <a:rPr lang="zh-CN" altLang="en-US" smtClean="0"/>
              <a:t>21</a:t>
            </a:fld>
            <a:endParaRPr lang="zh-CN" altLang="en-US"/>
          </a:p>
        </p:txBody>
      </p:sp>
    </p:spTree>
    <p:extLst>
      <p:ext uri="{BB962C8B-B14F-4D97-AF65-F5344CB8AC3E}">
        <p14:creationId xmlns:p14="http://schemas.microsoft.com/office/powerpoint/2010/main" val="5550824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32BF482-21C3-4AAF-BE5B-CCE859311E9D}" type="slidenum">
              <a:rPr lang="zh-CN" altLang="en-US" smtClean="0"/>
              <a:t>22</a:t>
            </a:fld>
            <a:endParaRPr lang="zh-CN" altLang="en-US"/>
          </a:p>
        </p:txBody>
      </p:sp>
    </p:spTree>
    <p:extLst>
      <p:ext uri="{BB962C8B-B14F-4D97-AF65-F5344CB8AC3E}">
        <p14:creationId xmlns:p14="http://schemas.microsoft.com/office/powerpoint/2010/main" val="12210410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逻辑页号  页内地址</a:t>
            </a:r>
            <a:endParaRPr lang="en-US" altLang="zh-CN" dirty="0" smtClean="0"/>
          </a:p>
          <a:p>
            <a:r>
              <a:rPr lang="zh-CN" altLang="en-US" dirty="0" smtClean="0"/>
              <a:t>物理页号  页内地址</a:t>
            </a:r>
            <a:endParaRPr lang="zh-CN" altLang="en-US" dirty="0"/>
          </a:p>
        </p:txBody>
      </p:sp>
      <p:sp>
        <p:nvSpPr>
          <p:cNvPr id="4" name="灯片编号占位符 3"/>
          <p:cNvSpPr>
            <a:spLocks noGrp="1"/>
          </p:cNvSpPr>
          <p:nvPr>
            <p:ph type="sldNum" sz="quarter" idx="10"/>
          </p:nvPr>
        </p:nvSpPr>
        <p:spPr/>
        <p:txBody>
          <a:bodyPr/>
          <a:lstStyle/>
          <a:p>
            <a:pPr>
              <a:defRPr/>
            </a:pPr>
            <a:fld id="{40F64717-A5A5-4C4E-9291-2F18B7410B06}" type="slidenum">
              <a:rPr lang="en-US" smtClean="0"/>
              <a:pPr>
                <a:defRPr/>
              </a:pPr>
              <a:t>23</a:t>
            </a:fld>
            <a:endParaRPr lang="en-US"/>
          </a:p>
        </p:txBody>
      </p:sp>
    </p:spTree>
    <p:extLst>
      <p:ext uri="{BB962C8B-B14F-4D97-AF65-F5344CB8AC3E}">
        <p14:creationId xmlns:p14="http://schemas.microsoft.com/office/powerpoint/2010/main" val="17434309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smtClean="0">
                <a:solidFill>
                  <a:schemeClr val="tx1"/>
                </a:solidFill>
                <a:effectLst/>
                <a:latin typeface="Times New Roman" pitchFamily="18" charset="0"/>
                <a:ea typeface="+mn-ea"/>
                <a:cs typeface="+mn-cs"/>
              </a:rPr>
              <a:t>解．采用 </a:t>
            </a:r>
            <a:r>
              <a:rPr lang="en-US" altLang="zh-CN" sz="1200" kern="1200" dirty="0" smtClean="0">
                <a:solidFill>
                  <a:schemeClr val="tx1"/>
                </a:solidFill>
                <a:effectLst/>
                <a:latin typeface="Times New Roman" pitchFamily="18" charset="0"/>
                <a:ea typeface="+mn-ea"/>
                <a:cs typeface="+mn-cs"/>
              </a:rPr>
              <a:t>32 </a:t>
            </a:r>
            <a:r>
              <a:rPr lang="zh-CN" altLang="zh-CN" sz="1200" kern="1200" dirty="0" smtClean="0">
                <a:solidFill>
                  <a:schemeClr val="tx1"/>
                </a:solidFill>
                <a:effectLst/>
                <a:latin typeface="Times New Roman" pitchFamily="18" charset="0"/>
                <a:ea typeface="+mn-ea"/>
                <a:cs typeface="+mn-cs"/>
              </a:rPr>
              <a:t>位定长指令字，其中操作码为 </a:t>
            </a:r>
            <a:r>
              <a:rPr lang="en-US" altLang="zh-CN" sz="1200" kern="1200" dirty="0" smtClean="0">
                <a:solidFill>
                  <a:schemeClr val="tx1"/>
                </a:solidFill>
                <a:effectLst/>
                <a:latin typeface="Times New Roman" pitchFamily="18" charset="0"/>
                <a:ea typeface="+mn-ea"/>
                <a:cs typeface="+mn-cs"/>
              </a:rPr>
              <a:t>8 </a:t>
            </a:r>
            <a:r>
              <a:rPr lang="zh-CN" altLang="zh-CN" sz="1200" kern="1200" dirty="0" smtClean="0">
                <a:solidFill>
                  <a:schemeClr val="tx1"/>
                </a:solidFill>
                <a:effectLst/>
                <a:latin typeface="Times New Roman" pitchFamily="18" charset="0"/>
                <a:ea typeface="+mn-ea"/>
                <a:cs typeface="+mn-cs"/>
              </a:rPr>
              <a:t>位，两个地址码一共占用 </a:t>
            </a:r>
            <a:r>
              <a:rPr lang="en-US" altLang="zh-CN" sz="1200" kern="1200" dirty="0" smtClean="0">
                <a:solidFill>
                  <a:schemeClr val="tx1"/>
                </a:solidFill>
                <a:effectLst/>
                <a:latin typeface="Times New Roman" pitchFamily="18" charset="0"/>
                <a:ea typeface="+mn-ea"/>
                <a:cs typeface="+mn-cs"/>
              </a:rPr>
              <a:t>32-8=24 </a:t>
            </a:r>
            <a:r>
              <a:rPr lang="zh-CN" altLang="zh-CN" sz="1200" kern="1200" dirty="0" smtClean="0">
                <a:solidFill>
                  <a:schemeClr val="tx1"/>
                </a:solidFill>
                <a:effectLst/>
                <a:latin typeface="Times New Roman" pitchFamily="18" charset="0"/>
                <a:ea typeface="+mn-ea"/>
                <a:cs typeface="+mn-cs"/>
              </a:rPr>
              <a:t>位，而 </a:t>
            </a:r>
            <a:r>
              <a:rPr lang="en-US" altLang="zh-CN" sz="1200" kern="1200" dirty="0" smtClean="0">
                <a:solidFill>
                  <a:schemeClr val="tx1"/>
                </a:solidFill>
                <a:effectLst/>
                <a:latin typeface="Times New Roman" pitchFamily="18" charset="0"/>
                <a:ea typeface="+mn-ea"/>
                <a:cs typeface="+mn-cs"/>
              </a:rPr>
              <a:t>Store </a:t>
            </a:r>
            <a:r>
              <a:rPr lang="zh-CN" altLang="zh-CN" sz="1200" kern="1200" dirty="0" smtClean="0">
                <a:solidFill>
                  <a:schemeClr val="tx1"/>
                </a:solidFill>
                <a:effectLst/>
                <a:latin typeface="Times New Roman" pitchFamily="18" charset="0"/>
                <a:ea typeface="+mn-ea"/>
                <a:cs typeface="+mn-cs"/>
              </a:rPr>
              <a:t>指令的源操作数和目的操作数分别采用寄存器直接寻址和基址寻址，机器中共有 </a:t>
            </a:r>
            <a:r>
              <a:rPr lang="en-US" altLang="zh-CN" sz="1200" kern="1200" dirty="0" smtClean="0">
                <a:solidFill>
                  <a:schemeClr val="tx1"/>
                </a:solidFill>
                <a:effectLst/>
                <a:latin typeface="Times New Roman" pitchFamily="18" charset="0"/>
                <a:ea typeface="+mn-ea"/>
                <a:cs typeface="+mn-cs"/>
              </a:rPr>
              <a:t>16 </a:t>
            </a:r>
            <a:r>
              <a:rPr lang="zh-CN" altLang="zh-CN" sz="1200" kern="1200" dirty="0" smtClean="0">
                <a:solidFill>
                  <a:schemeClr val="tx1"/>
                </a:solidFill>
                <a:effectLst/>
                <a:latin typeface="Times New Roman" pitchFamily="18" charset="0"/>
                <a:ea typeface="+mn-ea"/>
                <a:cs typeface="+mn-cs"/>
              </a:rPr>
              <a:t>个 通用寄存器，则寻址一个寄存器需要 </a:t>
            </a:r>
            <a:r>
              <a:rPr lang="en-US" altLang="zh-CN" sz="1200" kern="1200" dirty="0" smtClean="0">
                <a:solidFill>
                  <a:schemeClr val="tx1"/>
                </a:solidFill>
                <a:effectLst/>
                <a:latin typeface="Times New Roman" pitchFamily="18" charset="0"/>
                <a:ea typeface="+mn-ea"/>
                <a:cs typeface="+mn-cs"/>
              </a:rPr>
              <a:t>log216=4 </a:t>
            </a:r>
            <a:r>
              <a:rPr lang="zh-CN" altLang="zh-CN" sz="1200" kern="1200" dirty="0" smtClean="0">
                <a:solidFill>
                  <a:schemeClr val="tx1"/>
                </a:solidFill>
                <a:effectLst/>
                <a:latin typeface="Times New Roman" pitchFamily="18" charset="0"/>
                <a:ea typeface="+mn-ea"/>
                <a:cs typeface="+mn-cs"/>
              </a:rPr>
              <a:t>位，源操作数中的寄存器直接寻址用掉 </a:t>
            </a:r>
            <a:r>
              <a:rPr lang="en-US" altLang="zh-CN" sz="1200" kern="1200" dirty="0" smtClean="0">
                <a:solidFill>
                  <a:schemeClr val="tx1"/>
                </a:solidFill>
                <a:effectLst/>
                <a:latin typeface="Times New Roman" pitchFamily="18" charset="0"/>
                <a:ea typeface="+mn-ea"/>
                <a:cs typeface="+mn-cs"/>
              </a:rPr>
              <a:t>4 </a:t>
            </a:r>
            <a:r>
              <a:rPr lang="zh-CN" altLang="zh-CN" sz="1200" kern="1200" dirty="0" smtClean="0">
                <a:solidFill>
                  <a:schemeClr val="tx1"/>
                </a:solidFill>
                <a:effectLst/>
                <a:latin typeface="Times New Roman" pitchFamily="18" charset="0"/>
                <a:ea typeface="+mn-ea"/>
                <a:cs typeface="+mn-cs"/>
              </a:rPr>
              <a:t>位， 而目的操作数采用基址寻址也要指定一个寄存器，同样用掉 </a:t>
            </a:r>
            <a:r>
              <a:rPr lang="en-US" altLang="zh-CN" sz="1200" kern="1200" dirty="0" smtClean="0">
                <a:solidFill>
                  <a:schemeClr val="tx1"/>
                </a:solidFill>
                <a:effectLst/>
                <a:latin typeface="Times New Roman" pitchFamily="18" charset="0"/>
                <a:ea typeface="+mn-ea"/>
                <a:cs typeface="+mn-cs"/>
              </a:rPr>
              <a:t>4  </a:t>
            </a:r>
            <a:r>
              <a:rPr lang="zh-CN" altLang="zh-CN" sz="1200" kern="1200" dirty="0" smtClean="0">
                <a:solidFill>
                  <a:schemeClr val="tx1"/>
                </a:solidFill>
                <a:effectLst/>
                <a:latin typeface="Times New Roman" pitchFamily="18" charset="0"/>
                <a:ea typeface="+mn-ea"/>
                <a:cs typeface="+mn-cs"/>
              </a:rPr>
              <a:t>位，则留给偏移址的位数为</a:t>
            </a: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kern="1200" dirty="0" smtClean="0">
                <a:solidFill>
                  <a:schemeClr val="tx1"/>
                </a:solidFill>
                <a:effectLst/>
                <a:latin typeface="Times New Roman" pitchFamily="18" charset="0"/>
                <a:ea typeface="+mn-ea"/>
                <a:cs typeface="+mn-cs"/>
              </a:rPr>
              <a:t>24-4-4=16 </a:t>
            </a:r>
            <a:r>
              <a:rPr lang="zh-CN" altLang="zh-CN" sz="1200" kern="1200" dirty="0" smtClean="0">
                <a:solidFill>
                  <a:schemeClr val="tx1"/>
                </a:solidFill>
                <a:effectLst/>
                <a:latin typeface="Times New Roman" pitchFamily="18" charset="0"/>
                <a:ea typeface="+mn-ea"/>
                <a:cs typeface="+mn-cs"/>
              </a:rPr>
              <a:t>位，而偏移址用补码表示，</a:t>
            </a:r>
            <a:r>
              <a:rPr lang="en-US" altLang="zh-CN" sz="1200" kern="1200" dirty="0" smtClean="0">
                <a:solidFill>
                  <a:schemeClr val="tx1"/>
                </a:solidFill>
                <a:effectLst/>
                <a:latin typeface="Times New Roman" pitchFamily="18" charset="0"/>
                <a:ea typeface="+mn-ea"/>
                <a:cs typeface="+mn-cs"/>
              </a:rPr>
              <a:t>16 </a:t>
            </a:r>
            <a:r>
              <a:rPr lang="zh-CN" altLang="zh-CN" sz="1200" kern="1200" dirty="0" smtClean="0">
                <a:solidFill>
                  <a:schemeClr val="tx1"/>
                </a:solidFill>
                <a:effectLst/>
                <a:latin typeface="Times New Roman" pitchFamily="18" charset="0"/>
                <a:ea typeface="+mn-ea"/>
                <a:cs typeface="+mn-cs"/>
              </a:rPr>
              <a:t>位补码的表示范围为</a:t>
            </a:r>
            <a:r>
              <a:rPr lang="en-US" altLang="zh-CN" sz="1200" kern="1200" dirty="0" smtClean="0">
                <a:solidFill>
                  <a:schemeClr val="tx1"/>
                </a:solidFill>
                <a:effectLst/>
                <a:latin typeface="Times New Roman" pitchFamily="18" charset="0"/>
                <a:ea typeface="+mn-ea"/>
                <a:cs typeface="+mn-cs"/>
              </a:rPr>
              <a:t>-32768~+32767</a:t>
            </a:r>
            <a:r>
              <a:rPr lang="zh-CN" altLang="zh-CN" sz="1200" kern="1200" dirty="0" smtClean="0">
                <a:solidFill>
                  <a:schemeClr val="tx1"/>
                </a:solidFill>
                <a:effectLst/>
                <a:latin typeface="Times New Roman" pitchFamily="18" charset="0"/>
                <a:ea typeface="+mn-ea"/>
                <a:cs typeface="+mn-cs"/>
              </a:rPr>
              <a:t>，选 </a:t>
            </a:r>
            <a:r>
              <a:rPr lang="en-US" altLang="zh-CN" sz="1200" kern="1200" dirty="0" smtClean="0">
                <a:solidFill>
                  <a:schemeClr val="tx1"/>
                </a:solidFill>
                <a:effectLst/>
                <a:latin typeface="Times New Roman" pitchFamily="18" charset="0"/>
                <a:ea typeface="+mn-ea"/>
                <a:cs typeface="+mn-cs"/>
              </a:rPr>
              <a:t>A</a:t>
            </a:r>
            <a:r>
              <a:rPr lang="zh-CN" altLang="zh-CN" sz="1200" kern="1200" dirty="0" smtClean="0">
                <a:solidFill>
                  <a:schemeClr val="tx1"/>
                </a:solidFill>
                <a:effectLst/>
                <a:latin typeface="Times New Roman" pitchFamily="18" charset="0"/>
                <a:ea typeface="+mn-ea"/>
                <a:cs typeface="+mn-cs"/>
              </a:rPr>
              <a:t>。</a:t>
            </a:r>
          </a:p>
          <a:p>
            <a:endParaRPr lang="zh-CN" altLang="en-US" dirty="0"/>
          </a:p>
        </p:txBody>
      </p:sp>
      <p:sp>
        <p:nvSpPr>
          <p:cNvPr id="4" name="灯片编号占位符 3"/>
          <p:cNvSpPr>
            <a:spLocks noGrp="1"/>
          </p:cNvSpPr>
          <p:nvPr>
            <p:ph type="sldNum" sz="quarter" idx="10"/>
          </p:nvPr>
        </p:nvSpPr>
        <p:spPr/>
        <p:txBody>
          <a:bodyPr/>
          <a:lstStyle/>
          <a:p>
            <a:pPr>
              <a:defRPr/>
            </a:pPr>
            <a:fld id="{40F64717-A5A5-4C4E-9291-2F18B7410B06}" type="slidenum">
              <a:rPr lang="en-US" smtClean="0"/>
              <a:pPr>
                <a:defRPr/>
              </a:pPr>
              <a:t>28</a:t>
            </a:fld>
            <a:endParaRPr lang="en-US"/>
          </a:p>
        </p:txBody>
      </p:sp>
    </p:spTree>
    <p:extLst>
      <p:ext uri="{BB962C8B-B14F-4D97-AF65-F5344CB8AC3E}">
        <p14:creationId xmlns:p14="http://schemas.microsoft.com/office/powerpoint/2010/main" val="34717291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Times New Roman" pitchFamily="18" charset="0"/>
                <a:ea typeface="+mn-ea"/>
                <a:cs typeface="+mn-cs"/>
              </a:rPr>
              <a:t>C  </a:t>
            </a:r>
            <a:r>
              <a:rPr lang="zh-CN" altLang="zh-CN" sz="1200" kern="1200" dirty="0" smtClean="0">
                <a:solidFill>
                  <a:schemeClr val="tx1"/>
                </a:solidFill>
                <a:effectLst/>
                <a:latin typeface="Times New Roman" pitchFamily="18" charset="0"/>
                <a:ea typeface="+mn-ea"/>
                <a:cs typeface="+mn-cs"/>
              </a:rPr>
              <a:t>解析：采用</a:t>
            </a:r>
            <a:r>
              <a:rPr lang="en-US" altLang="zh-CN" sz="1200" kern="1200" dirty="0" smtClean="0">
                <a:solidFill>
                  <a:schemeClr val="tx1"/>
                </a:solidFill>
                <a:effectLst/>
                <a:latin typeface="Times New Roman" pitchFamily="18" charset="0"/>
                <a:ea typeface="+mn-ea"/>
                <a:cs typeface="+mn-cs"/>
              </a:rPr>
              <a:t>4 </a:t>
            </a:r>
            <a:r>
              <a:rPr lang="zh-CN" altLang="zh-CN" sz="1200" kern="1200" dirty="0" smtClean="0">
                <a:solidFill>
                  <a:schemeClr val="tx1"/>
                </a:solidFill>
                <a:effectLst/>
                <a:latin typeface="Times New Roman" pitchFamily="18" charset="0"/>
                <a:ea typeface="+mn-ea"/>
                <a:cs typeface="+mn-cs"/>
              </a:rPr>
              <a:t>级流水执行</a:t>
            </a:r>
            <a:r>
              <a:rPr lang="en-US" altLang="zh-CN" sz="1200" kern="1200" dirty="0" smtClean="0">
                <a:solidFill>
                  <a:schemeClr val="tx1"/>
                </a:solidFill>
                <a:effectLst/>
                <a:latin typeface="Times New Roman" pitchFamily="18" charset="0"/>
                <a:ea typeface="+mn-ea"/>
                <a:cs typeface="+mn-cs"/>
              </a:rPr>
              <a:t>100 </a:t>
            </a:r>
            <a:r>
              <a:rPr lang="zh-CN" altLang="zh-CN" sz="1200" kern="1200" dirty="0" smtClean="0">
                <a:solidFill>
                  <a:schemeClr val="tx1"/>
                </a:solidFill>
                <a:effectLst/>
                <a:latin typeface="Times New Roman" pitchFamily="18" charset="0"/>
                <a:ea typeface="+mn-ea"/>
                <a:cs typeface="+mn-cs"/>
              </a:rPr>
              <a:t>条指令，在执行过程中共用</a:t>
            </a:r>
          </a:p>
          <a:p>
            <a:r>
              <a:rPr lang="en-US" altLang="zh-CN" sz="1200" kern="1200" dirty="0" smtClean="0">
                <a:solidFill>
                  <a:schemeClr val="tx1"/>
                </a:solidFill>
                <a:effectLst/>
                <a:latin typeface="Times New Roman" pitchFamily="18" charset="0"/>
                <a:ea typeface="+mn-ea"/>
                <a:cs typeface="+mn-cs"/>
              </a:rPr>
              <a:t>4+(100-1)=103 </a:t>
            </a:r>
            <a:r>
              <a:rPr lang="zh-CN" altLang="zh-CN" sz="1200" kern="1200" dirty="0" smtClean="0">
                <a:solidFill>
                  <a:schemeClr val="tx1"/>
                </a:solidFill>
                <a:effectLst/>
                <a:latin typeface="Times New Roman" pitchFamily="18" charset="0"/>
                <a:ea typeface="+mn-ea"/>
                <a:cs typeface="+mn-cs"/>
              </a:rPr>
              <a:t>个时钟周期。</a:t>
            </a:r>
            <a:r>
              <a:rPr lang="en-US" altLang="zh-CN" sz="1200" kern="1200" dirty="0" smtClean="0">
                <a:solidFill>
                  <a:schemeClr val="tx1"/>
                </a:solidFill>
                <a:effectLst/>
                <a:latin typeface="Times New Roman" pitchFamily="18" charset="0"/>
                <a:ea typeface="+mn-ea"/>
                <a:cs typeface="+mn-cs"/>
              </a:rPr>
              <a:t>CPU</a:t>
            </a:r>
            <a:r>
              <a:rPr lang="zh-CN" altLang="zh-CN" sz="1200" kern="1200" dirty="0" smtClean="0">
                <a:solidFill>
                  <a:schemeClr val="tx1"/>
                </a:solidFill>
                <a:effectLst/>
                <a:latin typeface="Times New Roman" pitchFamily="18" charset="0"/>
                <a:ea typeface="+mn-ea"/>
                <a:cs typeface="+mn-cs"/>
              </a:rPr>
              <a:t>的主频是</a:t>
            </a:r>
            <a:r>
              <a:rPr lang="en-US" altLang="zh-CN" sz="1200" kern="1200" dirty="0" smtClean="0">
                <a:solidFill>
                  <a:schemeClr val="tx1"/>
                </a:solidFill>
                <a:effectLst/>
                <a:latin typeface="Times New Roman" pitchFamily="18" charset="0"/>
                <a:ea typeface="+mn-ea"/>
                <a:cs typeface="+mn-cs"/>
              </a:rPr>
              <a:t>1.03 GHz</a:t>
            </a:r>
            <a:r>
              <a:rPr lang="zh-CN" altLang="zh-CN" sz="1200" kern="1200" dirty="0" smtClean="0">
                <a:solidFill>
                  <a:schemeClr val="tx1"/>
                </a:solidFill>
                <a:effectLst/>
                <a:latin typeface="Times New Roman" pitchFamily="18" charset="0"/>
                <a:ea typeface="+mn-ea"/>
                <a:cs typeface="+mn-cs"/>
              </a:rPr>
              <a:t>，也就是说每秒钟有</a:t>
            </a:r>
            <a:r>
              <a:rPr lang="en-US" altLang="zh-CN" sz="1200" kern="1200" dirty="0" smtClean="0">
                <a:solidFill>
                  <a:schemeClr val="tx1"/>
                </a:solidFill>
                <a:effectLst/>
                <a:latin typeface="Times New Roman" pitchFamily="18" charset="0"/>
                <a:ea typeface="+mn-ea"/>
                <a:cs typeface="+mn-cs"/>
              </a:rPr>
              <a:t>1.03 G </a:t>
            </a:r>
            <a:r>
              <a:rPr lang="zh-CN" altLang="zh-CN" sz="1200" kern="1200" dirty="0" smtClean="0">
                <a:solidFill>
                  <a:schemeClr val="tx1"/>
                </a:solidFill>
                <a:effectLst/>
                <a:latin typeface="Times New Roman" pitchFamily="18" charset="0"/>
                <a:ea typeface="+mn-ea"/>
                <a:cs typeface="+mn-cs"/>
              </a:rPr>
              <a:t>个时钟周期。流水线的吞吐率为</a:t>
            </a:r>
            <a:r>
              <a:rPr lang="en-US" altLang="zh-CN" sz="1200" kern="1200" dirty="0" smtClean="0">
                <a:solidFill>
                  <a:schemeClr val="tx1"/>
                </a:solidFill>
                <a:effectLst/>
                <a:latin typeface="Times New Roman" pitchFamily="18" charset="0"/>
                <a:ea typeface="+mn-ea"/>
                <a:cs typeface="+mn-cs"/>
              </a:rPr>
              <a:t>1.03G*100/103=1.0*10</a:t>
            </a:r>
            <a:r>
              <a:rPr lang="en-US" altLang="zh-CN" sz="1200" kern="1200" baseline="30000" dirty="0" smtClean="0">
                <a:solidFill>
                  <a:schemeClr val="tx1"/>
                </a:solidFill>
                <a:effectLst/>
                <a:latin typeface="Times New Roman" pitchFamily="18" charset="0"/>
                <a:ea typeface="+mn-ea"/>
                <a:cs typeface="+mn-cs"/>
              </a:rPr>
              <a:t>9</a:t>
            </a:r>
            <a:r>
              <a:rPr lang="zh-CN" altLang="zh-CN" sz="1200" kern="1200" dirty="0" smtClean="0">
                <a:solidFill>
                  <a:schemeClr val="tx1"/>
                </a:solidFill>
                <a:effectLst/>
                <a:latin typeface="Times New Roman" pitchFamily="18" charset="0"/>
                <a:ea typeface="+mn-ea"/>
                <a:cs typeface="+mn-cs"/>
              </a:rPr>
              <a:t>条指令</a:t>
            </a:r>
            <a:r>
              <a:rPr lang="en-US" altLang="zh-CN" sz="1200" kern="1200" dirty="0" smtClean="0">
                <a:solidFill>
                  <a:schemeClr val="tx1"/>
                </a:solidFill>
                <a:effectLst/>
                <a:latin typeface="Times New Roman" pitchFamily="18" charset="0"/>
                <a:ea typeface="+mn-ea"/>
                <a:cs typeface="+mn-cs"/>
              </a:rPr>
              <a:t>/</a:t>
            </a:r>
            <a:r>
              <a:rPr lang="zh-CN" altLang="zh-CN" sz="1200" kern="1200" dirty="0" smtClean="0">
                <a:solidFill>
                  <a:schemeClr val="tx1"/>
                </a:solidFill>
                <a:effectLst/>
                <a:latin typeface="Times New Roman" pitchFamily="18" charset="0"/>
                <a:ea typeface="+mn-ea"/>
                <a:cs typeface="+mn-cs"/>
              </a:rPr>
              <a:t>秒。</a:t>
            </a:r>
          </a:p>
          <a:p>
            <a:endParaRPr lang="zh-CN" altLang="en-US" dirty="0"/>
          </a:p>
        </p:txBody>
      </p:sp>
      <p:sp>
        <p:nvSpPr>
          <p:cNvPr id="4" name="灯片编号占位符 3"/>
          <p:cNvSpPr>
            <a:spLocks noGrp="1"/>
          </p:cNvSpPr>
          <p:nvPr>
            <p:ph type="sldNum" sz="quarter" idx="10"/>
          </p:nvPr>
        </p:nvSpPr>
        <p:spPr/>
        <p:txBody>
          <a:bodyPr/>
          <a:lstStyle/>
          <a:p>
            <a:pPr>
              <a:defRPr/>
            </a:pPr>
            <a:fld id="{40F64717-A5A5-4C4E-9291-2F18B7410B06}" type="slidenum">
              <a:rPr lang="en-US" smtClean="0"/>
              <a:pPr>
                <a:defRPr/>
              </a:pPr>
              <a:t>29</a:t>
            </a:fld>
            <a:endParaRPr lang="en-US"/>
          </a:p>
        </p:txBody>
      </p:sp>
    </p:spTree>
    <p:extLst>
      <p:ext uri="{BB962C8B-B14F-4D97-AF65-F5344CB8AC3E}">
        <p14:creationId xmlns:p14="http://schemas.microsoft.com/office/powerpoint/2010/main" val="19575540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0F64717-A5A5-4C4E-9291-2F18B7410B06}" type="slidenum">
              <a:rPr lang="en-US" smtClean="0"/>
              <a:pPr>
                <a:defRPr/>
              </a:pPr>
              <a:t>30</a:t>
            </a:fld>
            <a:endParaRPr lang="en-US"/>
          </a:p>
        </p:txBody>
      </p:sp>
    </p:spTree>
    <p:extLst>
      <p:ext uri="{BB962C8B-B14F-4D97-AF65-F5344CB8AC3E}">
        <p14:creationId xmlns:p14="http://schemas.microsoft.com/office/powerpoint/2010/main" val="20380982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itchFamily="18" charset="0"/>
                <a:ea typeface="+mn-ea"/>
                <a:cs typeface="+mn-cs"/>
              </a:rPr>
              <a:t>数据线有 </a:t>
            </a:r>
            <a:r>
              <a:rPr lang="en-US" altLang="zh-CN" sz="1200" kern="1200" dirty="0" smtClean="0">
                <a:solidFill>
                  <a:schemeClr val="tx1"/>
                </a:solidFill>
                <a:effectLst/>
                <a:latin typeface="Times New Roman" pitchFamily="18" charset="0"/>
                <a:ea typeface="+mn-ea"/>
                <a:cs typeface="+mn-cs"/>
              </a:rPr>
              <a:t>32 </a:t>
            </a:r>
            <a:r>
              <a:rPr lang="zh-CN" altLang="zh-CN" sz="1200" kern="1200" dirty="0" smtClean="0">
                <a:solidFill>
                  <a:schemeClr val="tx1"/>
                </a:solidFill>
                <a:effectLst/>
                <a:latin typeface="Times New Roman" pitchFamily="18" charset="0"/>
                <a:ea typeface="+mn-ea"/>
                <a:cs typeface="+mn-cs"/>
              </a:rPr>
              <a:t>根也就是一次可以传送 </a:t>
            </a:r>
            <a:r>
              <a:rPr lang="en-US" altLang="zh-CN" sz="1200" kern="1200" dirty="0" smtClean="0">
                <a:solidFill>
                  <a:schemeClr val="tx1"/>
                </a:solidFill>
                <a:effectLst/>
                <a:latin typeface="Times New Roman" pitchFamily="18" charset="0"/>
                <a:ea typeface="+mn-ea"/>
                <a:cs typeface="+mn-cs"/>
              </a:rPr>
              <a:t>32bit/8=4B </a:t>
            </a:r>
            <a:r>
              <a:rPr lang="zh-CN" altLang="zh-CN" sz="1200" kern="1200" dirty="0" smtClean="0">
                <a:solidFill>
                  <a:schemeClr val="tx1"/>
                </a:solidFill>
                <a:effectLst/>
                <a:latin typeface="Times New Roman" pitchFamily="18" charset="0"/>
                <a:ea typeface="+mn-ea"/>
                <a:cs typeface="+mn-cs"/>
              </a:rPr>
              <a:t>的数据，</a:t>
            </a:r>
            <a:r>
              <a:rPr lang="en-US" altLang="zh-CN" sz="1200" kern="1200" dirty="0" smtClean="0">
                <a:solidFill>
                  <a:schemeClr val="tx1"/>
                </a:solidFill>
                <a:effectLst/>
                <a:latin typeface="Times New Roman" pitchFamily="18" charset="0"/>
                <a:ea typeface="+mn-ea"/>
                <a:cs typeface="+mn-cs"/>
              </a:rPr>
              <a:t>66MHz </a:t>
            </a:r>
            <a:r>
              <a:rPr lang="zh-CN" altLang="zh-CN" sz="1200" kern="1200" dirty="0" smtClean="0">
                <a:solidFill>
                  <a:schemeClr val="tx1"/>
                </a:solidFill>
                <a:effectLst/>
                <a:latin typeface="Times New Roman" pitchFamily="18" charset="0"/>
                <a:ea typeface="+mn-ea"/>
                <a:cs typeface="+mn-cs"/>
              </a:rPr>
              <a:t>意味着有 </a:t>
            </a:r>
            <a:r>
              <a:rPr lang="en-US" altLang="zh-CN" sz="1200" kern="1200" dirty="0" smtClean="0">
                <a:solidFill>
                  <a:schemeClr val="tx1"/>
                </a:solidFill>
                <a:effectLst/>
                <a:latin typeface="Times New Roman" pitchFamily="18" charset="0"/>
                <a:ea typeface="+mn-ea"/>
                <a:cs typeface="+mn-cs"/>
              </a:rPr>
              <a:t>66M </a:t>
            </a:r>
            <a:r>
              <a:rPr lang="zh-CN" altLang="zh-CN" sz="1200" kern="1200" dirty="0" smtClean="0">
                <a:solidFill>
                  <a:schemeClr val="tx1"/>
                </a:solidFill>
                <a:effectLst/>
                <a:latin typeface="Times New Roman" pitchFamily="18" charset="0"/>
                <a:ea typeface="+mn-ea"/>
                <a:cs typeface="+mn-cs"/>
              </a:rPr>
              <a:t>个 时 钟 周 期 ， 而 每 个 时 钟 周 期 传 送 两 次 数 据 ， 可 知 总 线 每 秒 传 送 的 最 大 数 据 量 为</a:t>
            </a:r>
            <a:r>
              <a:rPr lang="en-US" altLang="zh-CN" sz="1200" kern="1200" dirty="0" smtClean="0">
                <a:solidFill>
                  <a:schemeClr val="tx1"/>
                </a:solidFill>
                <a:effectLst/>
                <a:latin typeface="Times New Roman" pitchFamily="18" charset="0"/>
                <a:ea typeface="+mn-ea"/>
                <a:cs typeface="+mn-cs"/>
              </a:rPr>
              <a:t>66M×2×4B=528MB</a:t>
            </a:r>
            <a:r>
              <a:rPr lang="zh-CN" altLang="zh-CN" sz="1200" kern="1200" dirty="0" smtClean="0">
                <a:solidFill>
                  <a:schemeClr val="tx1"/>
                </a:solidFill>
                <a:effectLst/>
                <a:latin typeface="Times New Roman" pitchFamily="18" charset="0"/>
                <a:ea typeface="+mn-ea"/>
                <a:cs typeface="+mn-cs"/>
              </a:rPr>
              <a:t>，所以总线的最大数据传输率为 </a:t>
            </a:r>
            <a:r>
              <a:rPr lang="en-US" altLang="zh-CN" sz="1200" kern="1200" dirty="0" smtClean="0">
                <a:solidFill>
                  <a:schemeClr val="tx1"/>
                </a:solidFill>
                <a:effectLst/>
                <a:latin typeface="Times New Roman" pitchFamily="18" charset="0"/>
                <a:ea typeface="+mn-ea"/>
                <a:cs typeface="+mn-cs"/>
              </a:rPr>
              <a:t>528MB/s</a:t>
            </a:r>
            <a:r>
              <a:rPr lang="zh-CN" altLang="zh-CN" sz="1200" kern="1200" dirty="0" smtClean="0">
                <a:solidFill>
                  <a:schemeClr val="tx1"/>
                </a:solidFill>
                <a:effectLst/>
                <a:latin typeface="Times New Roman" pitchFamily="18" charset="0"/>
                <a:ea typeface="+mn-ea"/>
                <a:cs typeface="+mn-cs"/>
              </a:rPr>
              <a:t>，选 </a:t>
            </a:r>
            <a:r>
              <a:rPr lang="en-US" altLang="zh-CN" sz="1200" kern="1200" dirty="0" smtClean="0">
                <a:solidFill>
                  <a:schemeClr val="tx1"/>
                </a:solidFill>
                <a:effectLst/>
                <a:latin typeface="Times New Roman" pitchFamily="18" charset="0"/>
                <a:ea typeface="+mn-ea"/>
                <a:cs typeface="+mn-cs"/>
              </a:rPr>
              <a:t>C</a:t>
            </a:r>
            <a:r>
              <a:rPr lang="zh-CN" altLang="zh-CN" sz="1200" kern="1200" dirty="0" smtClean="0">
                <a:solidFill>
                  <a:schemeClr val="tx1"/>
                </a:solidFill>
                <a:effectLst/>
                <a:latin typeface="Times New Roman" pitchFamily="18" charset="0"/>
                <a:ea typeface="+mn-ea"/>
                <a:cs typeface="+mn-cs"/>
              </a:rPr>
              <a:t>。</a:t>
            </a:r>
          </a:p>
          <a:p>
            <a:endParaRPr lang="zh-CN" altLang="en-US" dirty="0"/>
          </a:p>
        </p:txBody>
      </p:sp>
      <p:sp>
        <p:nvSpPr>
          <p:cNvPr id="4" name="灯片编号占位符 3"/>
          <p:cNvSpPr>
            <a:spLocks noGrp="1"/>
          </p:cNvSpPr>
          <p:nvPr>
            <p:ph type="sldNum" sz="quarter" idx="10"/>
          </p:nvPr>
        </p:nvSpPr>
        <p:spPr/>
        <p:txBody>
          <a:bodyPr/>
          <a:lstStyle/>
          <a:p>
            <a:pPr>
              <a:defRPr/>
            </a:pPr>
            <a:fld id="{40F64717-A5A5-4C4E-9291-2F18B7410B06}" type="slidenum">
              <a:rPr lang="en-US" smtClean="0"/>
              <a:pPr>
                <a:defRPr/>
              </a:pPr>
              <a:t>32</a:t>
            </a:fld>
            <a:endParaRPr lang="en-US"/>
          </a:p>
        </p:txBody>
      </p:sp>
    </p:spTree>
    <p:extLst>
      <p:ext uri="{BB962C8B-B14F-4D97-AF65-F5344CB8AC3E}">
        <p14:creationId xmlns:p14="http://schemas.microsoft.com/office/powerpoint/2010/main" val="1447144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itchFamily="18" charset="0"/>
                <a:ea typeface="+mn-ea"/>
                <a:cs typeface="+mn-cs"/>
              </a:rPr>
              <a:t>数据线有 </a:t>
            </a:r>
            <a:r>
              <a:rPr lang="en-US" altLang="zh-CN" sz="1200" kern="1200" dirty="0" smtClean="0">
                <a:solidFill>
                  <a:schemeClr val="tx1"/>
                </a:solidFill>
                <a:effectLst/>
                <a:latin typeface="Times New Roman" pitchFamily="18" charset="0"/>
                <a:ea typeface="+mn-ea"/>
                <a:cs typeface="+mn-cs"/>
              </a:rPr>
              <a:t>32 </a:t>
            </a:r>
            <a:r>
              <a:rPr lang="zh-CN" altLang="zh-CN" sz="1200" kern="1200" dirty="0" smtClean="0">
                <a:solidFill>
                  <a:schemeClr val="tx1"/>
                </a:solidFill>
                <a:effectLst/>
                <a:latin typeface="Times New Roman" pitchFamily="18" charset="0"/>
                <a:ea typeface="+mn-ea"/>
                <a:cs typeface="+mn-cs"/>
              </a:rPr>
              <a:t>根也就是一次可以传送 </a:t>
            </a:r>
            <a:r>
              <a:rPr lang="en-US" altLang="zh-CN" sz="1200" kern="1200" dirty="0" smtClean="0">
                <a:solidFill>
                  <a:schemeClr val="tx1"/>
                </a:solidFill>
                <a:effectLst/>
                <a:latin typeface="Times New Roman" pitchFamily="18" charset="0"/>
                <a:ea typeface="+mn-ea"/>
                <a:cs typeface="+mn-cs"/>
              </a:rPr>
              <a:t>32bit/8=4B </a:t>
            </a:r>
            <a:r>
              <a:rPr lang="zh-CN" altLang="zh-CN" sz="1200" kern="1200" dirty="0" smtClean="0">
                <a:solidFill>
                  <a:schemeClr val="tx1"/>
                </a:solidFill>
                <a:effectLst/>
                <a:latin typeface="Times New Roman" pitchFamily="18" charset="0"/>
                <a:ea typeface="+mn-ea"/>
                <a:cs typeface="+mn-cs"/>
              </a:rPr>
              <a:t>的数据，</a:t>
            </a:r>
            <a:r>
              <a:rPr lang="en-US" altLang="zh-CN" sz="1200" kern="1200" dirty="0" smtClean="0">
                <a:solidFill>
                  <a:schemeClr val="tx1"/>
                </a:solidFill>
                <a:effectLst/>
                <a:latin typeface="Times New Roman" pitchFamily="18" charset="0"/>
                <a:ea typeface="+mn-ea"/>
                <a:cs typeface="+mn-cs"/>
              </a:rPr>
              <a:t>66MHz </a:t>
            </a:r>
            <a:r>
              <a:rPr lang="zh-CN" altLang="zh-CN" sz="1200" kern="1200" dirty="0" smtClean="0">
                <a:solidFill>
                  <a:schemeClr val="tx1"/>
                </a:solidFill>
                <a:effectLst/>
                <a:latin typeface="Times New Roman" pitchFamily="18" charset="0"/>
                <a:ea typeface="+mn-ea"/>
                <a:cs typeface="+mn-cs"/>
              </a:rPr>
              <a:t>意味着有 </a:t>
            </a:r>
            <a:r>
              <a:rPr lang="en-US" altLang="zh-CN" sz="1200" kern="1200" dirty="0" smtClean="0">
                <a:solidFill>
                  <a:schemeClr val="tx1"/>
                </a:solidFill>
                <a:effectLst/>
                <a:latin typeface="Times New Roman" pitchFamily="18" charset="0"/>
                <a:ea typeface="+mn-ea"/>
                <a:cs typeface="+mn-cs"/>
              </a:rPr>
              <a:t>66M </a:t>
            </a:r>
            <a:r>
              <a:rPr lang="zh-CN" altLang="zh-CN" sz="1200" kern="1200" dirty="0" smtClean="0">
                <a:solidFill>
                  <a:schemeClr val="tx1"/>
                </a:solidFill>
                <a:effectLst/>
                <a:latin typeface="Times New Roman" pitchFamily="18" charset="0"/>
                <a:ea typeface="+mn-ea"/>
                <a:cs typeface="+mn-cs"/>
              </a:rPr>
              <a:t>个 时 钟 周 期 ， 而 每 个 时 钟 周 期 传 送 两 次 数 据 ， 可 知 总 线 每 秒 传 送 的 最 大 数 据 量 为</a:t>
            </a:r>
            <a:r>
              <a:rPr lang="en-US" altLang="zh-CN" sz="1200" kern="1200" dirty="0" smtClean="0">
                <a:solidFill>
                  <a:schemeClr val="tx1"/>
                </a:solidFill>
                <a:effectLst/>
                <a:latin typeface="Times New Roman" pitchFamily="18" charset="0"/>
                <a:ea typeface="+mn-ea"/>
                <a:cs typeface="+mn-cs"/>
              </a:rPr>
              <a:t>66M×2×4B=528MB</a:t>
            </a:r>
            <a:r>
              <a:rPr lang="zh-CN" altLang="zh-CN" sz="1200" kern="1200" dirty="0" smtClean="0">
                <a:solidFill>
                  <a:schemeClr val="tx1"/>
                </a:solidFill>
                <a:effectLst/>
                <a:latin typeface="Times New Roman" pitchFamily="18" charset="0"/>
                <a:ea typeface="+mn-ea"/>
                <a:cs typeface="+mn-cs"/>
              </a:rPr>
              <a:t>，所以总线的最大数据传输率为 </a:t>
            </a:r>
            <a:r>
              <a:rPr lang="en-US" altLang="zh-CN" sz="1200" kern="1200" dirty="0" smtClean="0">
                <a:solidFill>
                  <a:schemeClr val="tx1"/>
                </a:solidFill>
                <a:effectLst/>
                <a:latin typeface="Times New Roman" pitchFamily="18" charset="0"/>
                <a:ea typeface="+mn-ea"/>
                <a:cs typeface="+mn-cs"/>
              </a:rPr>
              <a:t>528MB/s</a:t>
            </a:r>
            <a:r>
              <a:rPr lang="zh-CN" altLang="zh-CN" sz="1200" kern="1200" dirty="0" smtClean="0">
                <a:solidFill>
                  <a:schemeClr val="tx1"/>
                </a:solidFill>
                <a:effectLst/>
                <a:latin typeface="Times New Roman" pitchFamily="18" charset="0"/>
                <a:ea typeface="+mn-ea"/>
                <a:cs typeface="+mn-cs"/>
              </a:rPr>
              <a:t>，选 </a:t>
            </a:r>
            <a:r>
              <a:rPr lang="en-US" altLang="zh-CN" sz="1200" kern="1200" dirty="0" smtClean="0">
                <a:solidFill>
                  <a:schemeClr val="tx1"/>
                </a:solidFill>
                <a:effectLst/>
                <a:latin typeface="Times New Roman" pitchFamily="18" charset="0"/>
                <a:ea typeface="+mn-ea"/>
                <a:cs typeface="+mn-cs"/>
              </a:rPr>
              <a:t>C</a:t>
            </a:r>
            <a:r>
              <a:rPr lang="zh-CN" altLang="zh-CN" sz="1200" kern="1200" dirty="0" smtClean="0">
                <a:solidFill>
                  <a:schemeClr val="tx1"/>
                </a:solidFill>
                <a:effectLst/>
                <a:latin typeface="Times New Roman" pitchFamily="18" charset="0"/>
                <a:ea typeface="+mn-ea"/>
                <a:cs typeface="+mn-cs"/>
              </a:rPr>
              <a:t>。</a:t>
            </a:r>
          </a:p>
        </p:txBody>
      </p:sp>
      <p:sp>
        <p:nvSpPr>
          <p:cNvPr id="4" name="灯片编号占位符 3"/>
          <p:cNvSpPr>
            <a:spLocks noGrp="1"/>
          </p:cNvSpPr>
          <p:nvPr>
            <p:ph type="sldNum" sz="quarter" idx="10"/>
          </p:nvPr>
        </p:nvSpPr>
        <p:spPr/>
        <p:txBody>
          <a:bodyPr/>
          <a:lstStyle/>
          <a:p>
            <a:pPr>
              <a:defRPr/>
            </a:pPr>
            <a:fld id="{40F64717-A5A5-4C4E-9291-2F18B7410B06}" type="slidenum">
              <a:rPr lang="en-US" smtClean="0"/>
              <a:pPr>
                <a:defRPr/>
              </a:pPr>
              <a:t>34</a:t>
            </a:fld>
            <a:endParaRPr lang="en-US"/>
          </a:p>
        </p:txBody>
      </p:sp>
    </p:spTree>
    <p:extLst>
      <p:ext uri="{BB962C8B-B14F-4D97-AF65-F5344CB8AC3E}">
        <p14:creationId xmlns:p14="http://schemas.microsoft.com/office/powerpoint/2010/main" val="28146944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itchFamily="18" charset="0"/>
                <a:ea typeface="+mn-ea"/>
                <a:cs typeface="+mn-cs"/>
              </a:rPr>
              <a:t>猝发</a:t>
            </a:r>
            <a:r>
              <a:rPr lang="en-US" altLang="zh-CN" sz="1200" kern="1200" dirty="0" smtClean="0">
                <a:solidFill>
                  <a:schemeClr val="tx1"/>
                </a:solidFill>
                <a:effectLst/>
                <a:latin typeface="Times New Roman" pitchFamily="18" charset="0"/>
                <a:ea typeface="+mn-ea"/>
                <a:cs typeface="+mn-cs"/>
              </a:rPr>
              <a:t>(</a:t>
            </a:r>
            <a:r>
              <a:rPr lang="zh-CN" altLang="zh-CN" sz="1200" kern="1200" dirty="0" smtClean="0">
                <a:solidFill>
                  <a:schemeClr val="tx1"/>
                </a:solidFill>
                <a:effectLst/>
                <a:latin typeface="Times New Roman" pitchFamily="18" charset="0"/>
                <a:ea typeface="+mn-ea"/>
                <a:cs typeface="+mn-cs"/>
              </a:rPr>
              <a:t>突发</a:t>
            </a:r>
            <a:r>
              <a:rPr lang="en-US" altLang="zh-CN" sz="1200" kern="1200" dirty="0" smtClean="0">
                <a:solidFill>
                  <a:schemeClr val="tx1"/>
                </a:solidFill>
                <a:effectLst/>
                <a:latin typeface="Times New Roman" pitchFamily="18" charset="0"/>
                <a:ea typeface="+mn-ea"/>
                <a:cs typeface="+mn-cs"/>
              </a:rPr>
              <a:t>)</a:t>
            </a:r>
            <a:r>
              <a:rPr lang="zh-CN" altLang="zh-CN" sz="1200" kern="1200" dirty="0" smtClean="0">
                <a:solidFill>
                  <a:schemeClr val="tx1"/>
                </a:solidFill>
                <a:effectLst/>
                <a:latin typeface="Times New Roman" pitchFamily="18" charset="0"/>
                <a:ea typeface="+mn-ea"/>
                <a:cs typeface="+mn-cs"/>
              </a:rPr>
              <a:t>传输是在一个总线周期中，可以传输多个存储地址连续的数据，即一次 传输一个地址和一批地址连续的数据，并行传输是在传输中有多个数据位同时在设备之间进 行的传输，串行传输是指数据的二进制代码在一条物理信道上以位为单位按时间顺序逐位传 输的方式，同步传输是指传输过程由统一的时钟控制，选 </a:t>
            </a:r>
            <a:r>
              <a:rPr lang="en-US" altLang="zh-CN" sz="1200" kern="1200" dirty="0" smtClean="0">
                <a:solidFill>
                  <a:schemeClr val="tx1"/>
                </a:solidFill>
                <a:effectLst/>
                <a:latin typeface="Times New Roman" pitchFamily="18" charset="0"/>
                <a:ea typeface="+mn-ea"/>
                <a:cs typeface="+mn-cs"/>
              </a:rPr>
              <a:t>C</a:t>
            </a:r>
            <a:r>
              <a:rPr lang="zh-CN" altLang="zh-CN" sz="1200" kern="1200" dirty="0" smtClean="0">
                <a:solidFill>
                  <a:schemeClr val="tx1"/>
                </a:solidFill>
                <a:effectLst/>
                <a:latin typeface="Times New Roman" pitchFamily="18" charset="0"/>
                <a:ea typeface="+mn-ea"/>
                <a:cs typeface="+mn-cs"/>
              </a:rPr>
              <a:t>。</a:t>
            </a:r>
            <a:endParaRPr lang="zh-CN" altLang="en-US" dirty="0"/>
          </a:p>
        </p:txBody>
      </p:sp>
      <p:sp>
        <p:nvSpPr>
          <p:cNvPr id="4" name="灯片编号占位符 3"/>
          <p:cNvSpPr>
            <a:spLocks noGrp="1"/>
          </p:cNvSpPr>
          <p:nvPr>
            <p:ph type="sldNum" sz="quarter" idx="10"/>
          </p:nvPr>
        </p:nvSpPr>
        <p:spPr/>
        <p:txBody>
          <a:bodyPr/>
          <a:lstStyle/>
          <a:p>
            <a:pPr>
              <a:defRPr/>
            </a:pPr>
            <a:fld id="{40F64717-A5A5-4C4E-9291-2F18B7410B06}" type="slidenum">
              <a:rPr lang="en-US" smtClean="0"/>
              <a:pPr>
                <a:defRPr/>
              </a:pPr>
              <a:t>35</a:t>
            </a:fld>
            <a:endParaRPr lang="en-US"/>
          </a:p>
        </p:txBody>
      </p:sp>
    </p:spTree>
    <p:extLst>
      <p:ext uri="{BB962C8B-B14F-4D97-AF65-F5344CB8AC3E}">
        <p14:creationId xmlns:p14="http://schemas.microsoft.com/office/powerpoint/2010/main" val="30167916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smtClean="0">
                <a:solidFill>
                  <a:schemeClr val="tx1"/>
                </a:solidFill>
                <a:effectLst/>
                <a:latin typeface="Times New Roman" pitchFamily="18" charset="0"/>
                <a:ea typeface="+mn-ea"/>
                <a:cs typeface="+mn-cs"/>
              </a:rPr>
              <a:t>设备和设备控制器之间的接口是</a:t>
            </a:r>
            <a:r>
              <a:rPr lang="en-US" altLang="zh-CN" sz="1200" kern="1200" dirty="0" smtClean="0">
                <a:solidFill>
                  <a:schemeClr val="tx1"/>
                </a:solidFill>
                <a:effectLst/>
                <a:latin typeface="Times New Roman" pitchFamily="18" charset="0"/>
                <a:ea typeface="+mn-ea"/>
                <a:cs typeface="+mn-cs"/>
              </a:rPr>
              <a:t>USB</a:t>
            </a:r>
            <a:r>
              <a:rPr lang="zh-CN" altLang="zh-CN" sz="1200" kern="1200" dirty="0" smtClean="0">
                <a:solidFill>
                  <a:schemeClr val="tx1"/>
                </a:solidFill>
                <a:effectLst/>
                <a:latin typeface="Times New Roman" pitchFamily="18" charset="0"/>
                <a:ea typeface="+mn-ea"/>
                <a:cs typeface="+mn-cs"/>
              </a:rPr>
              <a:t>接口，其余选项不符合，答案为</a:t>
            </a:r>
            <a:r>
              <a:rPr lang="en-US" altLang="zh-CN" sz="1200" kern="1200" dirty="0" smtClean="0">
                <a:solidFill>
                  <a:schemeClr val="tx1"/>
                </a:solidFill>
                <a:effectLst/>
                <a:latin typeface="Times New Roman" pitchFamily="18" charset="0"/>
                <a:ea typeface="+mn-ea"/>
                <a:cs typeface="+mn-cs"/>
              </a:rPr>
              <a:t>B</a:t>
            </a:r>
            <a:r>
              <a:rPr lang="zh-CN" altLang="zh-CN" sz="1200" kern="1200" dirty="0" smtClean="0">
                <a:solidFill>
                  <a:schemeClr val="tx1"/>
                </a:solidFill>
                <a:effectLst/>
                <a:latin typeface="Times New Roman" pitchFamily="18" charset="0"/>
                <a:ea typeface="+mn-ea"/>
                <a:cs typeface="+mn-cs"/>
              </a:rPr>
              <a:t>。</a:t>
            </a:r>
          </a:p>
          <a:p>
            <a:endParaRPr lang="en-US" altLang="zh-CN" dirty="0" smtClean="0"/>
          </a:p>
          <a:p>
            <a:r>
              <a:rPr lang="zh-CN" altLang="en-US" sz="1200" b="0" i="0" kern="1200" dirty="0" smtClean="0">
                <a:solidFill>
                  <a:schemeClr val="tx1"/>
                </a:solidFill>
                <a:effectLst/>
                <a:latin typeface="Times New Roman" pitchFamily="18" charset="0"/>
                <a:ea typeface="+mn-ea"/>
                <a:cs typeface="+mn-cs"/>
              </a:rPr>
              <a:t>系统总线</a:t>
            </a:r>
          </a:p>
          <a:p>
            <a:r>
              <a:rPr lang="zh-CN" altLang="en-US" sz="1200" b="0" i="0" kern="1200" dirty="0" smtClean="0">
                <a:solidFill>
                  <a:schemeClr val="tx1"/>
                </a:solidFill>
                <a:effectLst/>
                <a:latin typeface="Times New Roman" pitchFamily="18" charset="0"/>
                <a:ea typeface="+mn-ea"/>
                <a:cs typeface="+mn-cs"/>
              </a:rPr>
              <a:t>       在计算机的核心部分，系统总线保证数据在</a:t>
            </a:r>
            <a:r>
              <a:rPr lang="en-US" altLang="zh-CN" sz="1200" b="0" i="0" kern="1200" dirty="0" smtClean="0">
                <a:solidFill>
                  <a:schemeClr val="tx1"/>
                </a:solidFill>
                <a:effectLst/>
                <a:latin typeface="Times New Roman" pitchFamily="18" charset="0"/>
                <a:ea typeface="+mn-ea"/>
                <a:cs typeface="+mn-cs"/>
              </a:rPr>
              <a:t>CPU</a:t>
            </a:r>
            <a:r>
              <a:rPr lang="zh-CN" altLang="en-US" sz="1200" b="0" i="0" kern="1200" dirty="0" smtClean="0">
                <a:solidFill>
                  <a:schemeClr val="tx1"/>
                </a:solidFill>
                <a:effectLst/>
                <a:latin typeface="Times New Roman" pitchFamily="18" charset="0"/>
                <a:ea typeface="+mn-ea"/>
                <a:cs typeface="+mn-cs"/>
              </a:rPr>
              <a:t>和主存储器之间进行快速的传递。 系统总线必须使用非常高的时钟频率，使得它能够足够快的给</a:t>
            </a:r>
            <a:r>
              <a:rPr lang="en-US" altLang="zh-CN" sz="1200" b="0" i="0" kern="1200" dirty="0" smtClean="0">
                <a:solidFill>
                  <a:schemeClr val="tx1"/>
                </a:solidFill>
                <a:effectLst/>
                <a:latin typeface="Times New Roman" pitchFamily="18" charset="0"/>
                <a:ea typeface="+mn-ea"/>
                <a:cs typeface="+mn-cs"/>
              </a:rPr>
              <a:t>CPU </a:t>
            </a:r>
            <a:r>
              <a:rPr lang="zh-CN" altLang="en-US" sz="1200" b="0" i="0" kern="1200" dirty="0" smtClean="0">
                <a:solidFill>
                  <a:schemeClr val="tx1"/>
                </a:solidFill>
                <a:effectLst/>
                <a:latin typeface="Times New Roman" pitchFamily="18" charset="0"/>
                <a:ea typeface="+mn-ea"/>
                <a:cs typeface="+mn-cs"/>
              </a:rPr>
              <a:t>提供数据。该总线的实现采用在主电路板上印制导线的形式。 出于物理性能的原因，高的系统速度需要短的印制导线。 因此，系统总线应该尽可能的短一些，并且只能连接</a:t>
            </a:r>
            <a:r>
              <a:rPr lang="en-US" altLang="zh-CN" sz="1200" b="0" i="0" kern="1200" dirty="0" smtClean="0">
                <a:solidFill>
                  <a:schemeClr val="tx1"/>
                </a:solidFill>
                <a:effectLst/>
                <a:latin typeface="Times New Roman" pitchFamily="18" charset="0"/>
                <a:ea typeface="+mn-ea"/>
                <a:cs typeface="+mn-cs"/>
              </a:rPr>
              <a:t>CPU</a:t>
            </a:r>
            <a:r>
              <a:rPr lang="zh-CN" altLang="en-US" sz="1200" b="0" i="0" kern="1200" dirty="0" smtClean="0">
                <a:solidFill>
                  <a:schemeClr val="tx1"/>
                </a:solidFill>
                <a:effectLst/>
                <a:latin typeface="Times New Roman" pitchFamily="18" charset="0"/>
                <a:ea typeface="+mn-ea"/>
                <a:cs typeface="+mn-cs"/>
              </a:rPr>
              <a:t>和主存储器。</a:t>
            </a:r>
          </a:p>
          <a:p>
            <a:endParaRPr lang="en-US" altLang="zh-CN" dirty="0" smtClean="0"/>
          </a:p>
          <a:p>
            <a:r>
              <a:rPr lang="zh-CN" altLang="en-US" sz="1200" b="0" i="0" kern="1200" dirty="0" smtClean="0">
                <a:solidFill>
                  <a:schemeClr val="tx1"/>
                </a:solidFill>
                <a:effectLst/>
                <a:latin typeface="Times New Roman" pitchFamily="18" charset="0"/>
                <a:ea typeface="+mn-ea"/>
                <a:cs typeface="+mn-cs"/>
              </a:rPr>
              <a:t>主机</a:t>
            </a:r>
            <a:r>
              <a:rPr lang="en-US" altLang="zh-CN" sz="1200" b="0" i="0" kern="1200" dirty="0" smtClean="0">
                <a:solidFill>
                  <a:schemeClr val="tx1"/>
                </a:solidFill>
                <a:effectLst/>
                <a:latin typeface="Times New Roman" pitchFamily="18" charset="0"/>
                <a:ea typeface="+mn-ea"/>
                <a:cs typeface="+mn-cs"/>
              </a:rPr>
              <a:t>I/O </a:t>
            </a:r>
            <a:r>
              <a:rPr lang="zh-CN" altLang="en-US" sz="1200" b="0" i="0" kern="1200" dirty="0" smtClean="0">
                <a:solidFill>
                  <a:schemeClr val="tx1"/>
                </a:solidFill>
                <a:effectLst/>
                <a:latin typeface="Times New Roman" pitchFamily="18" charset="0"/>
                <a:ea typeface="+mn-ea"/>
                <a:cs typeface="+mn-cs"/>
              </a:rPr>
              <a:t>总线</a:t>
            </a:r>
          </a:p>
          <a:p>
            <a:r>
              <a:rPr lang="zh-CN" altLang="en-US" sz="1200" b="0" i="0" kern="1200" dirty="0" smtClean="0">
                <a:solidFill>
                  <a:schemeClr val="tx1"/>
                </a:solidFill>
                <a:effectLst/>
                <a:latin typeface="Times New Roman" pitchFamily="18" charset="0"/>
                <a:ea typeface="+mn-ea"/>
                <a:cs typeface="+mn-cs"/>
              </a:rPr>
              <a:t>       在现在计算机中，为了释放</a:t>
            </a:r>
            <a:r>
              <a:rPr lang="en-US" altLang="zh-CN" sz="1200" b="0" i="0" kern="1200" dirty="0" smtClean="0">
                <a:solidFill>
                  <a:schemeClr val="tx1"/>
                </a:solidFill>
                <a:effectLst/>
                <a:latin typeface="Times New Roman" pitchFamily="18" charset="0"/>
                <a:ea typeface="+mn-ea"/>
                <a:cs typeface="+mn-cs"/>
              </a:rPr>
              <a:t>CPU </a:t>
            </a:r>
            <a:r>
              <a:rPr lang="zh-CN" altLang="en-US" sz="1200" b="0" i="0" kern="1200" dirty="0" smtClean="0">
                <a:solidFill>
                  <a:schemeClr val="tx1"/>
                </a:solidFill>
                <a:effectLst/>
                <a:latin typeface="Times New Roman" pitchFamily="18" charset="0"/>
                <a:ea typeface="+mn-ea"/>
                <a:cs typeface="+mn-cs"/>
              </a:rPr>
              <a:t>的应用处理负担，人们把尽可能多的任务移到诸如图像处理器这样的特别的处理器中。 由于上述物理上的限制条件，这些器件不可以连接到系统总线。 因此大多数计算机都实现了称作主机</a:t>
            </a:r>
            <a:r>
              <a:rPr lang="en-US" altLang="zh-CN" sz="1200" b="0" i="0" kern="1200" dirty="0" smtClean="0">
                <a:solidFill>
                  <a:schemeClr val="tx1"/>
                </a:solidFill>
                <a:effectLst/>
                <a:latin typeface="Times New Roman" pitchFamily="18" charset="0"/>
                <a:ea typeface="+mn-ea"/>
                <a:cs typeface="+mn-cs"/>
              </a:rPr>
              <a:t>I/O</a:t>
            </a:r>
            <a:r>
              <a:rPr lang="zh-CN" altLang="en-US" sz="1200" b="0" i="0" kern="1200" dirty="0" smtClean="0">
                <a:solidFill>
                  <a:schemeClr val="tx1"/>
                </a:solidFill>
                <a:effectLst/>
                <a:latin typeface="Times New Roman" pitchFamily="18" charset="0"/>
                <a:ea typeface="+mn-ea"/>
                <a:cs typeface="+mn-cs"/>
              </a:rPr>
              <a:t>总线的第二个总线。 桥接芯片提供在系统总线和主机</a:t>
            </a:r>
            <a:r>
              <a:rPr lang="en-US" altLang="zh-CN" sz="1200" b="0" i="0" kern="1200" dirty="0" smtClean="0">
                <a:solidFill>
                  <a:schemeClr val="tx1"/>
                </a:solidFill>
                <a:effectLst/>
                <a:latin typeface="Times New Roman" pitchFamily="18" charset="0"/>
                <a:ea typeface="+mn-ea"/>
                <a:cs typeface="+mn-cs"/>
              </a:rPr>
              <a:t>I/O</a:t>
            </a:r>
            <a:r>
              <a:rPr lang="zh-CN" altLang="en-US" sz="1200" b="0" i="0" kern="1200" dirty="0" smtClean="0">
                <a:solidFill>
                  <a:schemeClr val="tx1"/>
                </a:solidFill>
                <a:effectLst/>
                <a:latin typeface="Times New Roman" pitchFamily="18" charset="0"/>
                <a:ea typeface="+mn-ea"/>
                <a:cs typeface="+mn-cs"/>
              </a:rPr>
              <a:t>总线之间的连接。 </a:t>
            </a:r>
            <a:r>
              <a:rPr lang="en-US" altLang="zh-CN" sz="1200" b="0" i="0" kern="1200" dirty="0" smtClean="0">
                <a:solidFill>
                  <a:schemeClr val="tx1"/>
                </a:solidFill>
                <a:effectLst/>
                <a:latin typeface="Times New Roman" pitchFamily="18" charset="0"/>
                <a:ea typeface="+mn-ea"/>
                <a:cs typeface="+mn-cs"/>
              </a:rPr>
              <a:t>PCI</a:t>
            </a:r>
            <a:r>
              <a:rPr lang="zh-CN" altLang="en-US" sz="1200" b="0" i="0" kern="1200" dirty="0" smtClean="0">
                <a:solidFill>
                  <a:schemeClr val="tx1"/>
                </a:solidFill>
                <a:effectLst/>
                <a:latin typeface="Times New Roman" pitchFamily="18" charset="0"/>
                <a:ea typeface="+mn-ea"/>
                <a:cs typeface="+mn-cs"/>
              </a:rPr>
              <a:t>（</a:t>
            </a:r>
            <a:r>
              <a:rPr lang="en-US" altLang="zh-CN" sz="1200" b="0" i="0" kern="1200" dirty="0" smtClean="0">
                <a:solidFill>
                  <a:schemeClr val="tx1"/>
                </a:solidFill>
                <a:effectLst/>
                <a:latin typeface="Times New Roman" pitchFamily="18" charset="0"/>
                <a:ea typeface="+mn-ea"/>
                <a:cs typeface="+mn-cs"/>
              </a:rPr>
              <a:t>Peripheral Component Interconnection:</a:t>
            </a:r>
            <a:r>
              <a:rPr lang="zh-CN" altLang="en-US" sz="1200" b="0" i="0" kern="1200" dirty="0" smtClean="0">
                <a:solidFill>
                  <a:schemeClr val="tx1"/>
                </a:solidFill>
                <a:effectLst/>
                <a:latin typeface="Times New Roman" pitchFamily="18" charset="0"/>
                <a:ea typeface="+mn-ea"/>
                <a:cs typeface="+mn-cs"/>
              </a:rPr>
              <a:t>外围互联设备）是当前最广泛使用的实现主机</a:t>
            </a:r>
            <a:r>
              <a:rPr lang="en-US" altLang="zh-CN" sz="1200" b="0" i="0" kern="1200" dirty="0" smtClean="0">
                <a:solidFill>
                  <a:schemeClr val="tx1"/>
                </a:solidFill>
                <a:effectLst/>
                <a:latin typeface="Times New Roman" pitchFamily="18" charset="0"/>
                <a:ea typeface="+mn-ea"/>
                <a:cs typeface="+mn-cs"/>
              </a:rPr>
              <a:t>I/O </a:t>
            </a:r>
            <a:r>
              <a:rPr lang="zh-CN" altLang="en-US" sz="1200" b="0" i="0" kern="1200" dirty="0" smtClean="0">
                <a:solidFill>
                  <a:schemeClr val="tx1"/>
                </a:solidFill>
                <a:effectLst/>
                <a:latin typeface="Times New Roman" pitchFamily="18" charset="0"/>
                <a:ea typeface="+mn-ea"/>
                <a:cs typeface="+mn-cs"/>
              </a:rPr>
              <a:t>总线的技术。</a:t>
            </a:r>
          </a:p>
          <a:p>
            <a:endParaRPr lang="en-US" altLang="zh-CN" dirty="0" smtClean="0"/>
          </a:p>
          <a:p>
            <a:endParaRPr lang="en-US" altLang="zh-CN"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b="0" dirty="0" smtClean="0"/>
              <a:t> </a:t>
            </a:r>
            <a:r>
              <a:rPr lang="en-US" altLang="zh-CN" sz="1200" b="0" dirty="0" smtClean="0"/>
              <a:t>I/O </a:t>
            </a:r>
            <a:r>
              <a:rPr lang="zh-CN" altLang="en-US" sz="1200" b="0" dirty="0" smtClean="0"/>
              <a:t>技术实现在计算机和存储设备之间的数据交换。实现从</a:t>
            </a:r>
            <a:r>
              <a:rPr lang="en-US" altLang="zh-CN" sz="1200" b="0" dirty="0" smtClean="0"/>
              <a:t>CPU </a:t>
            </a:r>
            <a:r>
              <a:rPr lang="zh-CN" altLang="en-US" sz="1200" b="0" dirty="0" smtClean="0"/>
              <a:t>到存储系统的</a:t>
            </a:r>
            <a:r>
              <a:rPr lang="en-US" altLang="zh-CN" sz="1200" b="0" dirty="0" smtClean="0"/>
              <a:t>I/O</a:t>
            </a:r>
            <a:r>
              <a:rPr lang="zh-CN" altLang="en-US" sz="1200" b="0" dirty="0" smtClean="0"/>
              <a:t>通路的一个中间就是</a:t>
            </a:r>
            <a:r>
              <a:rPr lang="en-US" altLang="zh-CN" sz="1200" b="0" dirty="0" smtClean="0"/>
              <a:t>SCSI(Small Computer System Interface)</a:t>
            </a:r>
          </a:p>
          <a:p>
            <a:endParaRPr lang="zh-CN" altLang="en-US" dirty="0"/>
          </a:p>
        </p:txBody>
      </p:sp>
      <p:sp>
        <p:nvSpPr>
          <p:cNvPr id="4" name="灯片编号占位符 3"/>
          <p:cNvSpPr>
            <a:spLocks noGrp="1"/>
          </p:cNvSpPr>
          <p:nvPr>
            <p:ph type="sldNum" sz="quarter" idx="10"/>
          </p:nvPr>
        </p:nvSpPr>
        <p:spPr/>
        <p:txBody>
          <a:bodyPr/>
          <a:lstStyle/>
          <a:p>
            <a:pPr>
              <a:defRPr/>
            </a:pPr>
            <a:fld id="{40F64717-A5A5-4C4E-9291-2F18B7410B06}" type="slidenum">
              <a:rPr lang="en-US" smtClean="0"/>
              <a:pPr>
                <a:defRPr/>
              </a:pPr>
              <a:t>37</a:t>
            </a:fld>
            <a:endParaRPr lang="en-US"/>
          </a:p>
        </p:txBody>
      </p:sp>
    </p:spTree>
    <p:extLst>
      <p:ext uri="{BB962C8B-B14F-4D97-AF65-F5344CB8AC3E}">
        <p14:creationId xmlns:p14="http://schemas.microsoft.com/office/powerpoint/2010/main" val="38072529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itchFamily="18" charset="0"/>
                <a:ea typeface="+mn-ea"/>
                <a:cs typeface="+mn-cs"/>
              </a:rPr>
              <a:t>解．采用统一编址时，</a:t>
            </a:r>
            <a:r>
              <a:rPr lang="en-US" altLang="zh-CN" sz="1200" kern="1200" dirty="0" smtClean="0">
                <a:solidFill>
                  <a:schemeClr val="tx1"/>
                </a:solidFill>
                <a:effectLst/>
                <a:latin typeface="Times New Roman" pitchFamily="18" charset="0"/>
                <a:ea typeface="+mn-ea"/>
                <a:cs typeface="+mn-cs"/>
              </a:rPr>
              <a:t>CPU </a:t>
            </a:r>
            <a:r>
              <a:rPr lang="zh-CN" altLang="zh-CN" sz="1200" kern="1200" dirty="0" smtClean="0">
                <a:solidFill>
                  <a:schemeClr val="tx1"/>
                </a:solidFill>
                <a:effectLst/>
                <a:latin typeface="Times New Roman" pitchFamily="18" charset="0"/>
                <a:ea typeface="+mn-ea"/>
                <a:cs typeface="+mn-cs"/>
              </a:rPr>
              <a:t>访存和访问 </a:t>
            </a:r>
            <a:r>
              <a:rPr lang="en-US" altLang="zh-CN" sz="1200" kern="1200" dirty="0" smtClean="0">
                <a:solidFill>
                  <a:schemeClr val="tx1"/>
                </a:solidFill>
                <a:effectLst/>
                <a:latin typeface="Times New Roman" pitchFamily="18" charset="0"/>
                <a:ea typeface="+mn-ea"/>
                <a:cs typeface="+mn-cs"/>
              </a:rPr>
              <a:t>I/O </a:t>
            </a:r>
            <a:r>
              <a:rPr lang="zh-CN" altLang="zh-CN" sz="1200" kern="1200" dirty="0" smtClean="0">
                <a:solidFill>
                  <a:schemeClr val="tx1"/>
                </a:solidFill>
                <a:effectLst/>
                <a:latin typeface="Times New Roman" pitchFamily="18" charset="0"/>
                <a:ea typeface="+mn-ea"/>
                <a:cs typeface="+mn-cs"/>
              </a:rPr>
              <a:t>端口用的是一样的指令，所以访存指令可以访问 </a:t>
            </a:r>
            <a:r>
              <a:rPr lang="en-US" altLang="zh-CN" sz="1200" kern="1200" dirty="0" smtClean="0">
                <a:solidFill>
                  <a:schemeClr val="tx1"/>
                </a:solidFill>
                <a:effectLst/>
                <a:latin typeface="Times New Roman" pitchFamily="18" charset="0"/>
                <a:ea typeface="+mn-ea"/>
                <a:cs typeface="+mn-cs"/>
              </a:rPr>
              <a:t>I/O </a:t>
            </a:r>
            <a:r>
              <a:rPr lang="zh-CN" altLang="zh-CN" sz="1200" kern="1200" dirty="0" smtClean="0">
                <a:solidFill>
                  <a:schemeClr val="tx1"/>
                </a:solidFill>
                <a:effectLst/>
                <a:latin typeface="Times New Roman" pitchFamily="18" charset="0"/>
                <a:ea typeface="+mn-ea"/>
                <a:cs typeface="+mn-cs"/>
              </a:rPr>
              <a:t>端口，</a:t>
            </a:r>
            <a:r>
              <a:rPr lang="en-US" altLang="zh-CN" sz="1200" kern="1200" dirty="0" smtClean="0">
                <a:solidFill>
                  <a:schemeClr val="tx1"/>
                </a:solidFill>
                <a:effectLst/>
                <a:latin typeface="Times New Roman" pitchFamily="18" charset="0"/>
                <a:ea typeface="+mn-ea"/>
                <a:cs typeface="+mn-cs"/>
              </a:rPr>
              <a:t>D </a:t>
            </a:r>
            <a:r>
              <a:rPr lang="zh-CN" altLang="zh-CN" sz="1200" kern="1200" dirty="0" smtClean="0">
                <a:solidFill>
                  <a:schemeClr val="tx1"/>
                </a:solidFill>
                <a:effectLst/>
                <a:latin typeface="Times New Roman" pitchFamily="18" charset="0"/>
                <a:ea typeface="+mn-ea"/>
                <a:cs typeface="+mn-cs"/>
              </a:rPr>
              <a:t>选项错误，其他三个选项均为正确陈述，选 </a:t>
            </a:r>
            <a:r>
              <a:rPr lang="en-US" altLang="zh-CN" sz="1200" kern="1200" dirty="0" smtClean="0">
                <a:solidFill>
                  <a:schemeClr val="tx1"/>
                </a:solidFill>
                <a:effectLst/>
                <a:latin typeface="Times New Roman" pitchFamily="18" charset="0"/>
                <a:ea typeface="+mn-ea"/>
                <a:cs typeface="+mn-cs"/>
              </a:rPr>
              <a:t>D</a:t>
            </a:r>
            <a:r>
              <a:rPr lang="zh-CN" altLang="zh-CN" sz="1200" kern="1200" dirty="0" smtClean="0">
                <a:solidFill>
                  <a:schemeClr val="tx1"/>
                </a:solidFill>
                <a:effectLst/>
                <a:latin typeface="Times New Roman" pitchFamily="18" charset="0"/>
                <a:ea typeface="+mn-ea"/>
                <a:cs typeface="+mn-cs"/>
              </a:rPr>
              <a:t>。</a:t>
            </a:r>
          </a:p>
          <a:p>
            <a:endParaRPr lang="zh-CN" altLang="en-US" dirty="0"/>
          </a:p>
        </p:txBody>
      </p:sp>
      <p:sp>
        <p:nvSpPr>
          <p:cNvPr id="4" name="灯片编号占位符 3"/>
          <p:cNvSpPr>
            <a:spLocks noGrp="1"/>
          </p:cNvSpPr>
          <p:nvPr>
            <p:ph type="sldNum" sz="quarter" idx="10"/>
          </p:nvPr>
        </p:nvSpPr>
        <p:spPr/>
        <p:txBody>
          <a:bodyPr/>
          <a:lstStyle/>
          <a:p>
            <a:pPr>
              <a:defRPr/>
            </a:pPr>
            <a:fld id="{40F64717-A5A5-4C4E-9291-2F18B7410B06}" type="slidenum">
              <a:rPr lang="en-US" smtClean="0"/>
              <a:pPr>
                <a:defRPr/>
              </a:pPr>
              <a:t>38</a:t>
            </a:fld>
            <a:endParaRPr lang="en-US"/>
          </a:p>
        </p:txBody>
      </p:sp>
    </p:spTree>
    <p:extLst>
      <p:ext uri="{BB962C8B-B14F-4D97-AF65-F5344CB8AC3E}">
        <p14:creationId xmlns:p14="http://schemas.microsoft.com/office/powerpoint/2010/main" val="25347979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itchFamily="18" charset="0"/>
                <a:ea typeface="+mn-ea"/>
                <a:cs typeface="+mn-cs"/>
              </a:rPr>
              <a:t>能够提高</a:t>
            </a:r>
            <a:r>
              <a:rPr lang="en-US" altLang="zh-CN" sz="1200" kern="1200" dirty="0" smtClean="0">
                <a:solidFill>
                  <a:schemeClr val="tx1"/>
                </a:solidFill>
                <a:effectLst/>
                <a:latin typeface="Times New Roman" pitchFamily="18" charset="0"/>
                <a:ea typeface="+mn-ea"/>
                <a:cs typeface="+mn-cs"/>
              </a:rPr>
              <a:t>RAID</a:t>
            </a:r>
            <a:r>
              <a:rPr lang="zh-CN" altLang="zh-CN" sz="1200" kern="1200" dirty="0" smtClean="0">
                <a:solidFill>
                  <a:schemeClr val="tx1"/>
                </a:solidFill>
                <a:effectLst/>
                <a:latin typeface="Times New Roman" pitchFamily="18" charset="0"/>
                <a:ea typeface="+mn-ea"/>
                <a:cs typeface="+mn-cs"/>
              </a:rPr>
              <a:t>可靠性的措施主要是对磁盘进行镜像处理和进行奇偶校验。其余选项不符合条件。</a:t>
            </a:r>
            <a:endParaRPr lang="en-US" altLang="zh-CN" sz="1200" kern="1200" dirty="0" smtClean="0">
              <a:solidFill>
                <a:schemeClr val="tx1"/>
              </a:solidFill>
              <a:effectLst/>
              <a:latin typeface="Times New Roman" pitchFamily="18" charset="0"/>
              <a:ea typeface="+mn-ea"/>
              <a:cs typeface="+mn-cs"/>
            </a:endParaRPr>
          </a:p>
          <a:p>
            <a:endParaRPr lang="en-US" altLang="zh-CN" sz="1200" kern="1200" dirty="0" smtClean="0">
              <a:solidFill>
                <a:schemeClr val="tx1"/>
              </a:solidFill>
              <a:effectLst/>
              <a:latin typeface="Times New Roman" pitchFamily="18" charset="0"/>
              <a:ea typeface="+mn-ea"/>
              <a:cs typeface="+mn-cs"/>
            </a:endParaRPr>
          </a:p>
          <a:p>
            <a:r>
              <a:rPr lang="en-US" altLang="zh-CN" sz="1200" kern="1200" dirty="0" smtClean="0">
                <a:solidFill>
                  <a:schemeClr val="tx1"/>
                </a:solidFill>
                <a:effectLst/>
                <a:latin typeface="Times New Roman" pitchFamily="18" charset="0"/>
                <a:ea typeface="+mn-ea"/>
                <a:cs typeface="+mn-cs"/>
              </a:rPr>
              <a:t>RAID 0,1,5,10.</a:t>
            </a:r>
            <a:r>
              <a:rPr lang="zh-CN" altLang="en-US" sz="1200" kern="1200" dirty="0" smtClean="0">
                <a:solidFill>
                  <a:schemeClr val="tx1"/>
                </a:solidFill>
                <a:effectLst/>
                <a:latin typeface="Times New Roman" pitchFamily="18" charset="0"/>
                <a:ea typeface="+mn-ea"/>
                <a:cs typeface="+mn-cs"/>
              </a:rPr>
              <a:t>。</a:t>
            </a:r>
            <a:endParaRPr lang="zh-CN" altLang="en-US" dirty="0"/>
          </a:p>
        </p:txBody>
      </p:sp>
      <p:sp>
        <p:nvSpPr>
          <p:cNvPr id="4" name="灯片编号占位符 3"/>
          <p:cNvSpPr>
            <a:spLocks noGrp="1"/>
          </p:cNvSpPr>
          <p:nvPr>
            <p:ph type="sldNum" sz="quarter" idx="10"/>
          </p:nvPr>
        </p:nvSpPr>
        <p:spPr/>
        <p:txBody>
          <a:bodyPr/>
          <a:lstStyle/>
          <a:p>
            <a:pPr>
              <a:defRPr/>
            </a:pPr>
            <a:fld id="{40F64717-A5A5-4C4E-9291-2F18B7410B06}" type="slidenum">
              <a:rPr lang="en-US" smtClean="0"/>
              <a:pPr>
                <a:defRPr/>
              </a:pPr>
              <a:t>39</a:t>
            </a:fld>
            <a:endParaRPr lang="en-US"/>
          </a:p>
        </p:txBody>
      </p:sp>
    </p:spTree>
    <p:extLst>
      <p:ext uri="{BB962C8B-B14F-4D97-AF65-F5344CB8AC3E}">
        <p14:creationId xmlns:p14="http://schemas.microsoft.com/office/powerpoint/2010/main" val="13229262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Times New Roman" pitchFamily="18" charset="0"/>
                <a:ea typeface="+mn-ea"/>
                <a:cs typeface="+mn-cs"/>
              </a:rPr>
              <a:t>磁盘转速是</a:t>
            </a:r>
            <a:r>
              <a:rPr lang="en-US" altLang="zh-CN" sz="1200" kern="1200" dirty="0" smtClean="0">
                <a:solidFill>
                  <a:schemeClr val="tx1"/>
                </a:solidFill>
                <a:effectLst/>
                <a:latin typeface="Times New Roman" pitchFamily="18" charset="0"/>
                <a:ea typeface="+mn-ea"/>
                <a:cs typeface="+mn-cs"/>
              </a:rPr>
              <a:t>10  000</a:t>
            </a:r>
            <a:r>
              <a:rPr lang="zh-CN" altLang="zh-CN" sz="1200" kern="1200" dirty="0" smtClean="0">
                <a:solidFill>
                  <a:schemeClr val="tx1"/>
                </a:solidFill>
                <a:effectLst/>
                <a:latin typeface="Times New Roman" pitchFamily="18" charset="0"/>
                <a:ea typeface="+mn-ea"/>
                <a:cs typeface="+mn-cs"/>
              </a:rPr>
              <a:t>转</a:t>
            </a:r>
            <a:r>
              <a:rPr lang="en-US" altLang="zh-CN" sz="1200" kern="1200" dirty="0" smtClean="0">
                <a:solidFill>
                  <a:schemeClr val="tx1"/>
                </a:solidFill>
                <a:effectLst/>
                <a:latin typeface="Times New Roman" pitchFamily="18" charset="0"/>
                <a:ea typeface="+mn-ea"/>
                <a:cs typeface="+mn-cs"/>
              </a:rPr>
              <a:t>/</a:t>
            </a:r>
            <a:r>
              <a:rPr lang="zh-CN" altLang="zh-CN" sz="1200" kern="1200" dirty="0" smtClean="0">
                <a:solidFill>
                  <a:schemeClr val="tx1"/>
                </a:solidFill>
                <a:effectLst/>
                <a:latin typeface="Times New Roman" pitchFamily="18" charset="0"/>
                <a:ea typeface="+mn-ea"/>
                <a:cs typeface="+mn-cs"/>
              </a:rPr>
              <a:t>分钟，平均转一转的时间是</a:t>
            </a:r>
            <a:r>
              <a:rPr lang="en-US" altLang="zh-CN" sz="1200" kern="1200" dirty="0" smtClean="0">
                <a:solidFill>
                  <a:schemeClr val="tx1"/>
                </a:solidFill>
                <a:effectLst/>
                <a:latin typeface="Times New Roman" pitchFamily="18" charset="0"/>
                <a:ea typeface="+mn-ea"/>
                <a:cs typeface="+mn-cs"/>
              </a:rPr>
              <a:t>6  </a:t>
            </a:r>
            <a:r>
              <a:rPr lang="en-US" altLang="zh-CN" sz="1200" kern="1200" dirty="0" err="1" smtClean="0">
                <a:solidFill>
                  <a:schemeClr val="tx1"/>
                </a:solidFill>
                <a:effectLst/>
                <a:latin typeface="Times New Roman" pitchFamily="18" charset="0"/>
                <a:ea typeface="+mn-ea"/>
                <a:cs typeface="+mn-cs"/>
              </a:rPr>
              <a:t>ms</a:t>
            </a:r>
            <a:r>
              <a:rPr lang="zh-CN" altLang="zh-CN" sz="1200" kern="1200" dirty="0" smtClean="0">
                <a:solidFill>
                  <a:schemeClr val="tx1"/>
                </a:solidFill>
                <a:effectLst/>
                <a:latin typeface="Times New Roman" pitchFamily="18" charset="0"/>
                <a:ea typeface="+mn-ea"/>
                <a:cs typeface="+mn-cs"/>
              </a:rPr>
              <a:t>，因此平均查询扇区的时间是</a:t>
            </a:r>
            <a:r>
              <a:rPr lang="en-US" altLang="zh-CN" sz="1200" kern="1200" dirty="0" smtClean="0">
                <a:solidFill>
                  <a:schemeClr val="tx1"/>
                </a:solidFill>
                <a:effectLst/>
                <a:latin typeface="Times New Roman" pitchFamily="18" charset="0"/>
                <a:ea typeface="+mn-ea"/>
                <a:cs typeface="+mn-cs"/>
              </a:rPr>
              <a:t>3 </a:t>
            </a:r>
            <a:r>
              <a:rPr lang="en-US" altLang="zh-CN" sz="1200" kern="1200" dirty="0" err="1" smtClean="0">
                <a:solidFill>
                  <a:schemeClr val="tx1"/>
                </a:solidFill>
                <a:effectLst/>
                <a:latin typeface="Times New Roman" pitchFamily="18" charset="0"/>
                <a:ea typeface="+mn-ea"/>
                <a:cs typeface="+mn-cs"/>
              </a:rPr>
              <a:t>ms</a:t>
            </a:r>
            <a:r>
              <a:rPr lang="zh-CN" altLang="zh-CN" sz="1200" kern="1200" dirty="0" smtClean="0">
                <a:solidFill>
                  <a:schemeClr val="tx1"/>
                </a:solidFill>
                <a:effectLst/>
                <a:latin typeface="Times New Roman" pitchFamily="18" charset="0"/>
                <a:ea typeface="+mn-ea"/>
                <a:cs typeface="+mn-cs"/>
              </a:rPr>
              <a:t>，平均寻道时间是</a:t>
            </a:r>
            <a:r>
              <a:rPr lang="en-US" altLang="zh-CN" sz="1200" kern="1200" dirty="0" smtClean="0">
                <a:solidFill>
                  <a:schemeClr val="tx1"/>
                </a:solidFill>
                <a:effectLst/>
                <a:latin typeface="Times New Roman" pitchFamily="18" charset="0"/>
                <a:ea typeface="+mn-ea"/>
                <a:cs typeface="+mn-cs"/>
              </a:rPr>
              <a:t>6 </a:t>
            </a:r>
            <a:r>
              <a:rPr lang="en-US" altLang="zh-CN" sz="1200" kern="1200" dirty="0" err="1" smtClean="0">
                <a:solidFill>
                  <a:schemeClr val="tx1"/>
                </a:solidFill>
                <a:effectLst/>
                <a:latin typeface="Times New Roman" pitchFamily="18" charset="0"/>
                <a:ea typeface="+mn-ea"/>
                <a:cs typeface="+mn-cs"/>
              </a:rPr>
              <a:t>ms</a:t>
            </a:r>
            <a:r>
              <a:rPr lang="zh-CN" altLang="zh-CN" sz="1200" kern="1200" dirty="0" smtClean="0">
                <a:solidFill>
                  <a:schemeClr val="tx1"/>
                </a:solidFill>
                <a:effectLst/>
                <a:latin typeface="Times New Roman" pitchFamily="18" charset="0"/>
                <a:ea typeface="+mn-ea"/>
                <a:cs typeface="+mn-cs"/>
              </a:rPr>
              <a:t>，读取</a:t>
            </a:r>
            <a:r>
              <a:rPr lang="en-US" altLang="zh-CN" sz="1200" kern="1200" dirty="0" smtClean="0">
                <a:solidFill>
                  <a:schemeClr val="tx1"/>
                </a:solidFill>
                <a:effectLst/>
                <a:latin typeface="Times New Roman" pitchFamily="18" charset="0"/>
                <a:ea typeface="+mn-ea"/>
                <a:cs typeface="+mn-cs"/>
              </a:rPr>
              <a:t>4 KB</a:t>
            </a:r>
            <a:r>
              <a:rPr lang="zh-CN" altLang="zh-CN" sz="1200" kern="1200" dirty="0" smtClean="0">
                <a:solidFill>
                  <a:schemeClr val="tx1"/>
                </a:solidFill>
                <a:effectLst/>
                <a:latin typeface="Times New Roman" pitchFamily="18" charset="0"/>
                <a:ea typeface="+mn-ea"/>
                <a:cs typeface="+mn-cs"/>
              </a:rPr>
              <a:t>扇区信息的时间为</a:t>
            </a:r>
            <a:r>
              <a:rPr lang="en-US" altLang="zh-CN" sz="1200" kern="1200" dirty="0" smtClean="0">
                <a:solidFill>
                  <a:schemeClr val="tx1"/>
                </a:solidFill>
                <a:effectLst/>
                <a:latin typeface="Times New Roman" pitchFamily="18" charset="0"/>
                <a:ea typeface="+mn-ea"/>
                <a:cs typeface="+mn-cs"/>
              </a:rPr>
              <a:t>0.2 </a:t>
            </a:r>
            <a:r>
              <a:rPr lang="en-US" altLang="zh-CN" sz="1200" kern="1200" dirty="0" err="1" smtClean="0">
                <a:solidFill>
                  <a:schemeClr val="tx1"/>
                </a:solidFill>
                <a:effectLst/>
                <a:latin typeface="Times New Roman" pitchFamily="18" charset="0"/>
                <a:ea typeface="+mn-ea"/>
                <a:cs typeface="+mn-cs"/>
              </a:rPr>
              <a:t>ms</a:t>
            </a:r>
            <a:r>
              <a:rPr lang="zh-CN" altLang="zh-CN" sz="1200" kern="1200" dirty="0" smtClean="0">
                <a:solidFill>
                  <a:schemeClr val="tx1"/>
                </a:solidFill>
                <a:effectLst/>
                <a:latin typeface="Times New Roman" pitchFamily="18" charset="0"/>
                <a:ea typeface="+mn-ea"/>
                <a:cs typeface="+mn-cs"/>
              </a:rPr>
              <a:t>，信息延迟的时间为</a:t>
            </a:r>
            <a:r>
              <a:rPr lang="en-US" altLang="zh-CN" sz="1200" kern="1200" dirty="0" smtClean="0">
                <a:solidFill>
                  <a:schemeClr val="tx1"/>
                </a:solidFill>
                <a:effectLst/>
                <a:latin typeface="Times New Roman" pitchFamily="18" charset="0"/>
                <a:ea typeface="+mn-ea"/>
                <a:cs typeface="+mn-cs"/>
              </a:rPr>
              <a:t>0.2 </a:t>
            </a:r>
            <a:r>
              <a:rPr lang="en-US" altLang="zh-CN" sz="1200" kern="1200" dirty="0" err="1" smtClean="0">
                <a:solidFill>
                  <a:schemeClr val="tx1"/>
                </a:solidFill>
                <a:effectLst/>
                <a:latin typeface="Times New Roman" pitchFamily="18" charset="0"/>
                <a:ea typeface="+mn-ea"/>
                <a:cs typeface="+mn-cs"/>
              </a:rPr>
              <a:t>ms</a:t>
            </a:r>
            <a:r>
              <a:rPr lang="zh-CN" altLang="zh-CN" sz="1200" kern="1200" dirty="0" smtClean="0">
                <a:solidFill>
                  <a:schemeClr val="tx1"/>
                </a:solidFill>
                <a:effectLst/>
                <a:latin typeface="Times New Roman" pitchFamily="18" charset="0"/>
                <a:ea typeface="+mn-ea"/>
                <a:cs typeface="+mn-cs"/>
              </a:rPr>
              <a:t>，总时间为</a:t>
            </a:r>
            <a:r>
              <a:rPr lang="en-US" altLang="zh-CN" sz="1200" kern="1200" dirty="0" smtClean="0">
                <a:solidFill>
                  <a:schemeClr val="tx1"/>
                </a:solidFill>
                <a:effectLst/>
                <a:latin typeface="Times New Roman" pitchFamily="18" charset="0"/>
                <a:ea typeface="+mn-ea"/>
                <a:cs typeface="+mn-cs"/>
              </a:rPr>
              <a:t>3+6+0.2+0.2=9.4 </a:t>
            </a:r>
            <a:r>
              <a:rPr lang="en-US" altLang="zh-CN" sz="1200" kern="1200" dirty="0" err="1" smtClean="0">
                <a:solidFill>
                  <a:schemeClr val="tx1"/>
                </a:solidFill>
                <a:effectLst/>
                <a:latin typeface="Times New Roman" pitchFamily="18" charset="0"/>
                <a:ea typeface="+mn-ea"/>
                <a:cs typeface="+mn-cs"/>
              </a:rPr>
              <a:t>ms</a:t>
            </a:r>
            <a:r>
              <a:rPr lang="zh-CN" altLang="zh-CN" sz="1200" kern="1200" dirty="0" smtClean="0">
                <a:solidFill>
                  <a:schemeClr val="tx1"/>
                </a:solidFill>
                <a:effectLst/>
                <a:latin typeface="Times New Roman" pitchFamily="18" charset="0"/>
                <a:ea typeface="+mn-ea"/>
                <a:cs typeface="+mn-cs"/>
              </a:rPr>
              <a:t>。</a:t>
            </a:r>
            <a:endParaRPr lang="zh-CN" altLang="en-US" dirty="0"/>
          </a:p>
        </p:txBody>
      </p:sp>
      <p:sp>
        <p:nvSpPr>
          <p:cNvPr id="4" name="灯片编号占位符 3"/>
          <p:cNvSpPr>
            <a:spLocks noGrp="1"/>
          </p:cNvSpPr>
          <p:nvPr>
            <p:ph type="sldNum" sz="quarter" idx="10"/>
          </p:nvPr>
        </p:nvSpPr>
        <p:spPr/>
        <p:txBody>
          <a:bodyPr/>
          <a:lstStyle/>
          <a:p>
            <a:pPr>
              <a:defRPr/>
            </a:pPr>
            <a:fld id="{40F64717-A5A5-4C4E-9291-2F18B7410B06}" type="slidenum">
              <a:rPr lang="en-US" smtClean="0"/>
              <a:pPr>
                <a:defRPr/>
              </a:pPr>
              <a:t>40</a:t>
            </a:fld>
            <a:endParaRPr lang="en-US"/>
          </a:p>
        </p:txBody>
      </p:sp>
    </p:spTree>
    <p:extLst>
      <p:ext uri="{BB962C8B-B14F-4D97-AF65-F5344CB8AC3E}">
        <p14:creationId xmlns:p14="http://schemas.microsoft.com/office/powerpoint/2010/main" val="22298605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0F64717-A5A5-4C4E-9291-2F18B7410B06}" type="slidenum">
              <a:rPr lang="en-US" smtClean="0"/>
              <a:pPr>
                <a:defRPr/>
              </a:pPr>
              <a:t>41</a:t>
            </a:fld>
            <a:endParaRPr lang="en-US"/>
          </a:p>
        </p:txBody>
      </p:sp>
    </p:spTree>
    <p:extLst>
      <p:ext uri="{BB962C8B-B14F-4D97-AF65-F5344CB8AC3E}">
        <p14:creationId xmlns:p14="http://schemas.microsoft.com/office/powerpoint/2010/main" val="18853970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dirty="0" smtClean="0">
                <a:latin typeface="黑体" panose="02010609060101010101" pitchFamily="49" charset="-122"/>
                <a:ea typeface="黑体" panose="02010609060101010101" pitchFamily="49" charset="-122"/>
              </a:rPr>
              <a:t>基准程序的</a:t>
            </a:r>
            <a:r>
              <a:rPr lang="en-US" altLang="zh-CN" sz="1200" dirty="0" smtClean="0">
                <a:latin typeface="黑体" panose="02010609060101010101" pitchFamily="49" charset="-122"/>
                <a:ea typeface="黑体" panose="02010609060101010101" pitchFamily="49" charset="-122"/>
              </a:rPr>
              <a:t>CPI=3*0.5+4*0.3+5*0.2=3.7 </a:t>
            </a:r>
          </a:p>
          <a:p>
            <a:pPr marL="0" indent="0">
              <a:buNone/>
            </a:pPr>
            <a:r>
              <a:rPr lang="en-US" altLang="zh-CN" sz="1200" dirty="0" smtClean="0">
                <a:latin typeface="黑体" panose="02010609060101010101" pitchFamily="49" charset="-122"/>
                <a:ea typeface="黑体" panose="02010609060101010101" pitchFamily="49" charset="-122"/>
              </a:rPr>
              <a:t>  </a:t>
            </a:r>
            <a:r>
              <a:rPr lang="zh-CN" altLang="zh-CN" sz="1200" dirty="0" smtClean="0">
                <a:latin typeface="黑体" panose="02010609060101010101" pitchFamily="49" charset="-122"/>
                <a:ea typeface="黑体" panose="02010609060101010101" pitchFamily="49" charset="-122"/>
              </a:rPr>
              <a:t>计算机的主频为</a:t>
            </a:r>
            <a:r>
              <a:rPr lang="en-US" altLang="zh-CN" sz="1200" dirty="0" smtClean="0">
                <a:latin typeface="黑体" panose="02010609060101010101" pitchFamily="49" charset="-122"/>
                <a:ea typeface="黑体" panose="02010609060101010101" pitchFamily="49" charset="-122"/>
              </a:rPr>
              <a:t>1.48GHa</a:t>
            </a:r>
            <a:r>
              <a:rPr lang="zh-CN" altLang="zh-CN" sz="1200" dirty="0" smtClean="0">
                <a:latin typeface="黑体" panose="02010609060101010101" pitchFamily="49" charset="-122"/>
                <a:ea typeface="黑体" panose="02010609060101010101" pitchFamily="49" charset="-122"/>
              </a:rPr>
              <a:t>，为</a:t>
            </a:r>
            <a:r>
              <a:rPr lang="en-US" altLang="zh-CN" sz="1200" dirty="0" smtClean="0">
                <a:latin typeface="黑体" panose="02010609060101010101" pitchFamily="49" charset="-122"/>
                <a:ea typeface="黑体" panose="02010609060101010101" pitchFamily="49" charset="-122"/>
              </a:rPr>
              <a:t>1480MHz</a:t>
            </a:r>
            <a:r>
              <a:rPr lang="zh-CN" altLang="zh-CN" sz="1200" dirty="0" smtClean="0">
                <a:latin typeface="黑体" panose="02010609060101010101" pitchFamily="49" charset="-122"/>
                <a:ea typeface="黑体" panose="02010609060101010101" pitchFamily="49" charset="-122"/>
              </a:rPr>
              <a:t>，该机器的</a:t>
            </a:r>
            <a:r>
              <a:rPr lang="en-US" altLang="zh-CN" sz="1200" dirty="0" smtClean="0">
                <a:latin typeface="黑体" panose="02010609060101010101" pitchFamily="49" charset="-122"/>
                <a:ea typeface="黑体" panose="02010609060101010101" pitchFamily="49" charset="-122"/>
              </a:rPr>
              <a:t>    MIPS</a:t>
            </a:r>
            <a:r>
              <a:rPr lang="zh-CN" altLang="zh-CN" sz="1200" dirty="0" smtClean="0">
                <a:latin typeface="黑体" panose="02010609060101010101" pitchFamily="49" charset="-122"/>
                <a:ea typeface="黑体" panose="02010609060101010101" pitchFamily="49" charset="-122"/>
              </a:rPr>
              <a:t>为</a:t>
            </a:r>
            <a:r>
              <a:rPr lang="en-US" altLang="zh-CN" sz="1200" dirty="0" smtClean="0">
                <a:latin typeface="黑体" panose="02010609060101010101" pitchFamily="49" charset="-122"/>
                <a:ea typeface="黑体" panose="02010609060101010101" pitchFamily="49" charset="-122"/>
              </a:rPr>
              <a:t>1480/3.7=400</a:t>
            </a:r>
            <a:endParaRPr lang="zh-CN" altLang="en-US" sz="1200" dirty="0" smtClean="0">
              <a:latin typeface="黑体" panose="02010609060101010101" pitchFamily="49" charset="-122"/>
              <a:ea typeface="黑体" panose="02010609060101010101" pitchFamily="49" charset="-122"/>
            </a:endParaRPr>
          </a:p>
          <a:p>
            <a:endParaRPr lang="zh-CN" altLang="en-US" dirty="0"/>
          </a:p>
        </p:txBody>
      </p:sp>
      <p:sp>
        <p:nvSpPr>
          <p:cNvPr id="4" name="灯片编号占位符 3"/>
          <p:cNvSpPr>
            <a:spLocks noGrp="1"/>
          </p:cNvSpPr>
          <p:nvPr>
            <p:ph type="sldNum" sz="quarter" idx="10"/>
          </p:nvPr>
        </p:nvSpPr>
        <p:spPr/>
        <p:txBody>
          <a:bodyPr/>
          <a:lstStyle/>
          <a:p>
            <a:pPr>
              <a:defRPr/>
            </a:pPr>
            <a:fld id="{40F64717-A5A5-4C4E-9291-2F18B7410B06}" type="slidenum">
              <a:rPr lang="en-US" smtClean="0"/>
              <a:pPr>
                <a:defRPr/>
              </a:pPr>
              <a:t>43</a:t>
            </a:fld>
            <a:endParaRPr lang="en-US"/>
          </a:p>
        </p:txBody>
      </p:sp>
    </p:spTree>
    <p:extLst>
      <p:ext uri="{BB962C8B-B14F-4D97-AF65-F5344CB8AC3E}">
        <p14:creationId xmlns:p14="http://schemas.microsoft.com/office/powerpoint/2010/main" val="10032485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138 </a:t>
            </a:r>
            <a:r>
              <a:rPr lang="zh-CN" altLang="en-US" dirty="0" smtClean="0"/>
              <a:t>为</a:t>
            </a:r>
            <a:r>
              <a:rPr lang="en-US" altLang="zh-CN" dirty="0" smtClean="0"/>
              <a:t>3 </a:t>
            </a:r>
            <a:r>
              <a:rPr lang="zh-CN" altLang="en-US" dirty="0" smtClean="0"/>
              <a:t>线－</a:t>
            </a:r>
            <a:r>
              <a:rPr lang="en-US" altLang="zh-CN" dirty="0" smtClean="0"/>
              <a:t>8 </a:t>
            </a:r>
            <a:r>
              <a:rPr lang="zh-CN" altLang="en-US" dirty="0" smtClean="0"/>
              <a:t>线译码器，共有 </a:t>
            </a:r>
            <a:r>
              <a:rPr lang="en-US" altLang="zh-CN" dirty="0" smtClean="0"/>
              <a:t>54/74S138</a:t>
            </a:r>
            <a:r>
              <a:rPr lang="zh-CN" altLang="en-US" dirty="0" smtClean="0"/>
              <a:t>和 </a:t>
            </a:r>
            <a:r>
              <a:rPr lang="en-US" altLang="zh-CN" dirty="0" smtClean="0"/>
              <a:t>54/74LS138 </a:t>
            </a:r>
            <a:r>
              <a:rPr lang="zh-CN" altLang="en-US" dirty="0" smtClean="0"/>
              <a:t>两种线路结构型式，其主 要电特性的典型值如下： 当一个选通端（</a:t>
            </a:r>
            <a:r>
              <a:rPr lang="en-US" altLang="zh-CN" dirty="0" smtClean="0"/>
              <a:t>G1</a:t>
            </a:r>
            <a:r>
              <a:rPr lang="zh-CN" altLang="en-US" dirty="0" smtClean="0"/>
              <a:t>）为高电平，另两个选通端（</a:t>
            </a:r>
            <a:r>
              <a:rPr lang="en-US" altLang="zh-CN" dirty="0" smtClean="0"/>
              <a:t>/(G2A)</a:t>
            </a:r>
            <a:r>
              <a:rPr lang="zh-CN" altLang="en-US" dirty="0" smtClean="0"/>
              <a:t>和</a:t>
            </a:r>
            <a:r>
              <a:rPr lang="en-US" altLang="zh-CN" dirty="0" smtClean="0"/>
              <a:t>/(G2B)</a:t>
            </a:r>
            <a:r>
              <a:rPr lang="zh-CN" altLang="en-US" dirty="0" smtClean="0"/>
              <a:t>）为 低电平时，可将地址端（</a:t>
            </a:r>
            <a:r>
              <a:rPr lang="en-US" altLang="zh-CN" dirty="0" smtClean="0"/>
              <a:t>A</a:t>
            </a:r>
            <a:r>
              <a:rPr lang="zh-CN" altLang="en-US" dirty="0" smtClean="0"/>
              <a:t>、</a:t>
            </a:r>
            <a:r>
              <a:rPr lang="en-US" altLang="zh-CN" dirty="0" smtClean="0"/>
              <a:t>B</a:t>
            </a:r>
            <a:r>
              <a:rPr lang="zh-CN" altLang="en-US" dirty="0" smtClean="0"/>
              <a:t>、</a:t>
            </a:r>
            <a:r>
              <a:rPr lang="en-US" altLang="zh-CN" dirty="0" smtClean="0"/>
              <a:t>C</a:t>
            </a:r>
            <a:r>
              <a:rPr lang="zh-CN" altLang="en-US" dirty="0" smtClean="0"/>
              <a:t>）的二进制编码在一个对应的输出端以低 电平译出。 </a:t>
            </a:r>
            <a:endParaRPr lang="zh-CN" altLang="en-US" dirty="0"/>
          </a:p>
        </p:txBody>
      </p:sp>
      <p:sp>
        <p:nvSpPr>
          <p:cNvPr id="4" name="灯片编号占位符 3"/>
          <p:cNvSpPr>
            <a:spLocks noGrp="1"/>
          </p:cNvSpPr>
          <p:nvPr>
            <p:ph type="sldNum" sz="quarter" idx="10"/>
          </p:nvPr>
        </p:nvSpPr>
        <p:spPr/>
        <p:txBody>
          <a:bodyPr/>
          <a:lstStyle/>
          <a:p>
            <a:pPr>
              <a:defRPr/>
            </a:pPr>
            <a:fld id="{40F64717-A5A5-4C4E-9291-2F18B7410B06}" type="slidenum">
              <a:rPr lang="en-US" smtClean="0"/>
              <a:pPr>
                <a:defRPr/>
              </a:pPr>
              <a:t>54</a:t>
            </a:fld>
            <a:endParaRPr lang="en-US"/>
          </a:p>
        </p:txBody>
      </p:sp>
    </p:spTree>
    <p:extLst>
      <p:ext uri="{BB962C8B-B14F-4D97-AF65-F5344CB8AC3E}">
        <p14:creationId xmlns:p14="http://schemas.microsoft.com/office/powerpoint/2010/main" val="7890856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片内地址</a:t>
            </a:r>
            <a:endParaRPr lang="en-US" altLang="zh-CN" dirty="0" smtClean="0"/>
          </a:p>
          <a:p>
            <a:r>
              <a:rPr lang="zh-CN" altLang="en-US" dirty="0" smtClean="0"/>
              <a:t>片外地址</a:t>
            </a:r>
            <a:endParaRPr lang="zh-CN" altLang="en-US" dirty="0"/>
          </a:p>
        </p:txBody>
      </p:sp>
      <p:sp>
        <p:nvSpPr>
          <p:cNvPr id="4" name="灯片编号占位符 3"/>
          <p:cNvSpPr>
            <a:spLocks noGrp="1"/>
          </p:cNvSpPr>
          <p:nvPr>
            <p:ph type="sldNum" sz="quarter" idx="10"/>
          </p:nvPr>
        </p:nvSpPr>
        <p:spPr/>
        <p:txBody>
          <a:bodyPr/>
          <a:lstStyle/>
          <a:p>
            <a:pPr>
              <a:defRPr/>
            </a:pPr>
            <a:fld id="{40F64717-A5A5-4C4E-9291-2F18B7410B06}" type="slidenum">
              <a:rPr lang="en-US" smtClean="0"/>
              <a:pPr>
                <a:defRPr/>
              </a:pPr>
              <a:t>55</a:t>
            </a:fld>
            <a:endParaRPr lang="en-US"/>
          </a:p>
        </p:txBody>
      </p:sp>
    </p:spTree>
    <p:extLst>
      <p:ext uri="{BB962C8B-B14F-4D97-AF65-F5344CB8AC3E}">
        <p14:creationId xmlns:p14="http://schemas.microsoft.com/office/powerpoint/2010/main" val="3642842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PD</a:t>
            </a:r>
            <a:r>
              <a:rPr lang="zh-CN" altLang="en-US" dirty="0" smtClean="0"/>
              <a:t>非</a:t>
            </a:r>
            <a:r>
              <a:rPr lang="en-US" altLang="zh-CN" dirty="0" smtClean="0"/>
              <a:t>/</a:t>
            </a:r>
            <a:r>
              <a:rPr lang="en-US" altLang="zh-CN" dirty="0" err="1" smtClean="0"/>
              <a:t>Progr</a:t>
            </a:r>
            <a:endParaRPr lang="zh-CN" altLang="en-US" dirty="0"/>
          </a:p>
        </p:txBody>
      </p:sp>
      <p:sp>
        <p:nvSpPr>
          <p:cNvPr id="4" name="灯片编号占位符 3"/>
          <p:cNvSpPr>
            <a:spLocks noGrp="1"/>
          </p:cNvSpPr>
          <p:nvPr>
            <p:ph type="sldNum" sz="quarter" idx="10"/>
          </p:nvPr>
        </p:nvSpPr>
        <p:spPr/>
        <p:txBody>
          <a:bodyPr/>
          <a:lstStyle/>
          <a:p>
            <a:pPr>
              <a:defRPr/>
            </a:pPr>
            <a:fld id="{40F64717-A5A5-4C4E-9291-2F18B7410B06}" type="slidenum">
              <a:rPr lang="en-US" smtClean="0"/>
              <a:pPr>
                <a:defRPr/>
              </a:pPr>
              <a:t>56</a:t>
            </a:fld>
            <a:endParaRPr lang="en-US"/>
          </a:p>
        </p:txBody>
      </p:sp>
    </p:spTree>
    <p:extLst>
      <p:ext uri="{BB962C8B-B14F-4D97-AF65-F5344CB8AC3E}">
        <p14:creationId xmlns:p14="http://schemas.microsoft.com/office/powerpoint/2010/main" val="762400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08012"/>
            <a:ext cx="7772400" cy="1470025"/>
          </a:xfrm>
        </p:spPr>
        <p:txBody>
          <a:bodyPr/>
          <a:lstStyle>
            <a:lvl1pPr>
              <a:defRPr>
                <a:latin typeface="Calibri" pitchFamily="34" charset="0"/>
              </a:defRPr>
            </a:lvl1pPr>
          </a:lstStyle>
          <a:p>
            <a:r>
              <a:rPr lang="zh-CN" altLang="en-US" dirty="0" smtClean="0"/>
              <a:t>单击此处编辑母版标题样式</a:t>
            </a:r>
            <a:endParaRPr lang="en-US" dirty="0"/>
          </a:p>
        </p:txBody>
      </p:sp>
      <p:sp>
        <p:nvSpPr>
          <p:cNvPr id="3" name="Subtitle 2"/>
          <p:cNvSpPr>
            <a:spLocks noGrp="1"/>
          </p:cNvSpPr>
          <p:nvPr>
            <p:ph type="subTitle" idx="1"/>
          </p:nvPr>
        </p:nvSpPr>
        <p:spPr>
          <a:xfrm>
            <a:off x="685800" y="3886200"/>
            <a:ext cx="7677492" cy="1752600"/>
          </a:xfrm>
        </p:spPr>
        <p:txBody>
          <a:bodyPr/>
          <a:lstStyle>
            <a:lvl1pPr marL="0" indent="0" algn="l">
              <a:buNone/>
              <a:defRPr sz="2000" b="0">
                <a:latin typeface="Calibri"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en-US" dirty="0"/>
          </a:p>
        </p:txBody>
      </p:sp>
      <p:sp>
        <p:nvSpPr>
          <p:cNvPr id="4" name="矩形 3"/>
          <p:cNvSpPr/>
          <p:nvPr userDrawn="1"/>
        </p:nvSpPr>
        <p:spPr bwMode="auto">
          <a:xfrm>
            <a:off x="16932" y="6688667"/>
            <a:ext cx="4555067" cy="152400"/>
          </a:xfrm>
          <a:prstGeom prst="rect">
            <a:avLst/>
          </a:prstGeom>
          <a:solidFill>
            <a:schemeClr val="bg1"/>
          </a:solidFill>
          <a:ln w="25400" cap="flat" cmpd="sng" algn="ctr">
            <a:solidFill>
              <a:schemeClr val="bg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Narrow" pitchFamily="34" charset="0"/>
            </a:endParaRPr>
          </a:p>
        </p:txBody>
      </p:sp>
      <p:sp>
        <p:nvSpPr>
          <p:cNvPr id="6" name="矩形 5"/>
          <p:cNvSpPr/>
          <p:nvPr userDrawn="1"/>
        </p:nvSpPr>
        <p:spPr bwMode="auto">
          <a:xfrm>
            <a:off x="0" y="0"/>
            <a:ext cx="9144000" cy="228600"/>
          </a:xfrm>
          <a:prstGeom prst="rect">
            <a:avLst/>
          </a:prstGeom>
          <a:solidFill>
            <a:srgbClr val="B20E12"/>
          </a:solidFill>
          <a:ln w="25400" cap="flat" cmpd="sng" algn="ctr">
            <a:solidFill>
              <a:srgbClr val="B20E12"/>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Narrow" pitchFamily="34" charset="0"/>
            </a:endParaRPr>
          </a:p>
        </p:txBody>
      </p:sp>
      <p:sp>
        <p:nvSpPr>
          <p:cNvPr id="7" name="文本框 6"/>
          <p:cNvSpPr txBox="1"/>
          <p:nvPr userDrawn="1"/>
        </p:nvSpPr>
        <p:spPr>
          <a:xfrm>
            <a:off x="3810000" y="-54977"/>
            <a:ext cx="5334000" cy="338554"/>
          </a:xfrm>
          <a:prstGeom prst="rect">
            <a:avLst/>
          </a:prstGeom>
          <a:noFill/>
        </p:spPr>
        <p:txBody>
          <a:bodyPr wrap="square" rtlCol="0">
            <a:spAutoFit/>
          </a:bodyPr>
          <a:lstStyle/>
          <a:p>
            <a:r>
              <a:rPr lang="en-US" altLang="zh-CN" sz="1600" dirty="0" smtClean="0">
                <a:solidFill>
                  <a:schemeClr val="bg1"/>
                </a:solidFill>
                <a:latin typeface="Calibri" pitchFamily="34" charset="0"/>
              </a:rPr>
              <a:t>The Principle of Computer Organization, BUPT,</a:t>
            </a:r>
            <a:r>
              <a:rPr lang="en-US" altLang="zh-CN" sz="1600" baseline="0" dirty="0" smtClean="0">
                <a:solidFill>
                  <a:schemeClr val="bg1"/>
                </a:solidFill>
                <a:latin typeface="Calibri" pitchFamily="34" charset="0"/>
              </a:rPr>
              <a:t> 2017 Spring</a:t>
            </a:r>
            <a:endParaRPr lang="zh-CN" altLang="en-US" sz="1600" dirty="0" smtClean="0">
              <a:solidFill>
                <a:schemeClr val="bg1"/>
              </a:solidFill>
              <a:latin typeface="Calibri" pitchFamily="34" charset="0"/>
            </a:endParaRPr>
          </a:p>
        </p:txBody>
      </p:sp>
    </p:spTree>
    <p:extLst>
      <p:ext uri="{BB962C8B-B14F-4D97-AF65-F5344CB8AC3E}">
        <p14:creationId xmlns:p14="http://schemas.microsoft.com/office/powerpoint/2010/main" val="541158574"/>
      </p:ext>
    </p:extLst>
  </p:cSld>
  <p:clrMapOvr>
    <a:masterClrMapping/>
  </p:clrMapOvr>
  <p:timing>
    <p:tnLst>
      <p:par>
        <p:cTn id="1" dur="indefinite" restart="never" nodeType="tmRoot"/>
      </p:par>
    </p:tn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7592093" cy="762000"/>
          </a:xfrm>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a:p>
        </p:txBody>
      </p:sp>
      <p:sp>
        <p:nvSpPr>
          <p:cNvPr id="4" name="矩形 3"/>
          <p:cNvSpPr/>
          <p:nvPr userDrawn="1"/>
        </p:nvSpPr>
        <p:spPr bwMode="auto">
          <a:xfrm>
            <a:off x="0" y="0"/>
            <a:ext cx="9144000" cy="228600"/>
          </a:xfrm>
          <a:prstGeom prst="rect">
            <a:avLst/>
          </a:prstGeom>
          <a:solidFill>
            <a:srgbClr val="B20E12"/>
          </a:solidFill>
          <a:ln w="25400" cap="flat" cmpd="sng" algn="ctr">
            <a:solidFill>
              <a:srgbClr val="B20E12"/>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Narrow" pitchFamily="34" charset="0"/>
            </a:endParaRPr>
          </a:p>
        </p:txBody>
      </p:sp>
      <p:sp>
        <p:nvSpPr>
          <p:cNvPr id="5" name="文本框 4"/>
          <p:cNvSpPr txBox="1"/>
          <p:nvPr userDrawn="1"/>
        </p:nvSpPr>
        <p:spPr>
          <a:xfrm>
            <a:off x="3810000" y="-54977"/>
            <a:ext cx="5334000" cy="338554"/>
          </a:xfrm>
          <a:prstGeom prst="rect">
            <a:avLst/>
          </a:prstGeom>
          <a:noFill/>
        </p:spPr>
        <p:txBody>
          <a:bodyPr wrap="square" rtlCol="0">
            <a:spAutoFit/>
          </a:bodyPr>
          <a:lstStyle/>
          <a:p>
            <a:r>
              <a:rPr lang="en-US" altLang="zh-CN" sz="1600" dirty="0" smtClean="0">
                <a:solidFill>
                  <a:schemeClr val="bg1"/>
                </a:solidFill>
                <a:latin typeface="Calibri" pitchFamily="34" charset="0"/>
              </a:rPr>
              <a:t>The Principle of Computer Organization, BUPT,</a:t>
            </a:r>
            <a:r>
              <a:rPr lang="en-US" altLang="zh-CN" sz="1600" baseline="0" dirty="0" smtClean="0">
                <a:solidFill>
                  <a:schemeClr val="bg1"/>
                </a:solidFill>
                <a:latin typeface="Calibri" pitchFamily="34" charset="0"/>
              </a:rPr>
              <a:t> 2017 Spring</a:t>
            </a:r>
            <a:endParaRPr lang="zh-CN" altLang="en-US" sz="1600" dirty="0" smtClean="0">
              <a:solidFill>
                <a:schemeClr val="bg1"/>
              </a:solidFill>
              <a:latin typeface="Calibri" pitchFamily="34" charset="0"/>
            </a:endParaRPr>
          </a:p>
        </p:txBody>
      </p:sp>
      <p:sp>
        <p:nvSpPr>
          <p:cNvPr id="6" name="矩形 5"/>
          <p:cNvSpPr/>
          <p:nvPr userDrawn="1"/>
        </p:nvSpPr>
        <p:spPr bwMode="auto">
          <a:xfrm>
            <a:off x="16932" y="6688667"/>
            <a:ext cx="4555067" cy="152400"/>
          </a:xfrm>
          <a:prstGeom prst="rect">
            <a:avLst/>
          </a:prstGeom>
          <a:solidFill>
            <a:schemeClr val="bg1"/>
          </a:solidFill>
          <a:ln w="25400" cap="flat" cmpd="sng" algn="ctr">
            <a:solidFill>
              <a:schemeClr val="bg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Narrow" pitchFamily="34" charset="0"/>
            </a:endParaRPr>
          </a:p>
        </p:txBody>
      </p:sp>
    </p:spTree>
    <p:extLst>
      <p:ext uri="{BB962C8B-B14F-4D97-AF65-F5344CB8AC3E}">
        <p14:creationId xmlns:p14="http://schemas.microsoft.com/office/powerpoint/2010/main" val="658908173"/>
      </p:ext>
    </p:extLst>
  </p:cSld>
  <p:clrMapOvr>
    <a:masterClrMapping/>
  </p:clrMapOvr>
  <p:timing>
    <p:tnLst>
      <p:par>
        <p:cTn id="1" dur="indefinite" restart="never" nodeType="tmRoot"/>
      </p:par>
    </p:tnLst>
  </p:timing>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矩形 3"/>
          <p:cNvSpPr/>
          <p:nvPr userDrawn="1"/>
        </p:nvSpPr>
        <p:spPr bwMode="auto">
          <a:xfrm>
            <a:off x="0" y="0"/>
            <a:ext cx="9144000" cy="228600"/>
          </a:xfrm>
          <a:prstGeom prst="rect">
            <a:avLst/>
          </a:prstGeom>
          <a:solidFill>
            <a:srgbClr val="B20E12"/>
          </a:solidFill>
          <a:ln w="25400" cap="flat" cmpd="sng" algn="ctr">
            <a:solidFill>
              <a:srgbClr val="B20E12"/>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Narrow" pitchFamily="34" charset="0"/>
            </a:endParaRPr>
          </a:p>
        </p:txBody>
      </p:sp>
      <p:sp>
        <p:nvSpPr>
          <p:cNvPr id="6" name="矩形 5"/>
          <p:cNvSpPr/>
          <p:nvPr userDrawn="1"/>
        </p:nvSpPr>
        <p:spPr bwMode="auto">
          <a:xfrm>
            <a:off x="16932" y="6688667"/>
            <a:ext cx="4555067" cy="152400"/>
          </a:xfrm>
          <a:prstGeom prst="rect">
            <a:avLst/>
          </a:prstGeom>
          <a:solidFill>
            <a:schemeClr val="bg1"/>
          </a:solidFill>
          <a:ln w="25400" cap="flat" cmpd="sng" algn="ctr">
            <a:solidFill>
              <a:schemeClr val="bg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Narrow" pitchFamily="34" charset="0"/>
            </a:endParaRPr>
          </a:p>
        </p:txBody>
      </p:sp>
      <p:sp>
        <p:nvSpPr>
          <p:cNvPr id="8" name="文本框 7"/>
          <p:cNvSpPr txBox="1"/>
          <p:nvPr userDrawn="1"/>
        </p:nvSpPr>
        <p:spPr>
          <a:xfrm>
            <a:off x="3810000" y="-54977"/>
            <a:ext cx="5334000" cy="338554"/>
          </a:xfrm>
          <a:prstGeom prst="rect">
            <a:avLst/>
          </a:prstGeom>
          <a:noFill/>
        </p:spPr>
        <p:txBody>
          <a:bodyPr wrap="square" rtlCol="0">
            <a:spAutoFit/>
          </a:bodyPr>
          <a:lstStyle/>
          <a:p>
            <a:r>
              <a:rPr lang="en-US" altLang="zh-CN" sz="1600" dirty="0" smtClean="0">
                <a:solidFill>
                  <a:schemeClr val="bg1"/>
                </a:solidFill>
                <a:latin typeface="Calibri" pitchFamily="34" charset="0"/>
              </a:rPr>
              <a:t>The Principle of Computer Organization, BUPT,</a:t>
            </a:r>
            <a:r>
              <a:rPr lang="en-US" altLang="zh-CN" sz="1600" baseline="0" dirty="0" smtClean="0">
                <a:solidFill>
                  <a:schemeClr val="bg1"/>
                </a:solidFill>
                <a:latin typeface="Calibri" pitchFamily="34" charset="0"/>
              </a:rPr>
              <a:t> 2017 Spring</a:t>
            </a:r>
            <a:endParaRPr lang="zh-CN" altLang="en-US" sz="1600" dirty="0" smtClean="0">
              <a:solidFill>
                <a:schemeClr val="bg1"/>
              </a:solidFill>
              <a:latin typeface="Calibri" pitchFamily="34" charset="0"/>
            </a:endParaRPr>
          </a:p>
        </p:txBody>
      </p:sp>
    </p:spTree>
    <p:extLst>
      <p:ext uri="{BB962C8B-B14F-4D97-AF65-F5344CB8AC3E}">
        <p14:creationId xmlns:p14="http://schemas.microsoft.com/office/powerpoint/2010/main" val="1843979679"/>
      </p:ext>
    </p:extLst>
  </p:cSld>
  <p:clrMapOvr>
    <a:masterClrMapping/>
  </p:clrMapOvr>
  <p:timing>
    <p:tnLst>
      <p:par>
        <p:cTn id="1" dur="indefinite" restart="never" nodeType="tmRoot"/>
      </p:par>
    </p:tnLst>
  </p:timing>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Content Placeholder 2"/>
          <p:cNvSpPr>
            <a:spLocks noGrp="1"/>
          </p:cNvSpPr>
          <p:nvPr>
            <p:ph sz="half" idx="1"/>
          </p:nvPr>
        </p:nvSpPr>
        <p:spPr>
          <a:xfrm>
            <a:off x="638175" y="1362075"/>
            <a:ext cx="3871913" cy="4972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a:p>
        </p:txBody>
      </p:sp>
      <p:sp>
        <p:nvSpPr>
          <p:cNvPr id="4" name="Content Placeholder 3"/>
          <p:cNvSpPr>
            <a:spLocks noGrp="1"/>
          </p:cNvSpPr>
          <p:nvPr>
            <p:ph sz="half" idx="2"/>
          </p:nvPr>
        </p:nvSpPr>
        <p:spPr>
          <a:xfrm>
            <a:off x="4662488" y="1362075"/>
            <a:ext cx="3871912" cy="4972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a:p>
        </p:txBody>
      </p:sp>
      <p:sp>
        <p:nvSpPr>
          <p:cNvPr id="5" name="矩形 4"/>
          <p:cNvSpPr/>
          <p:nvPr userDrawn="1"/>
        </p:nvSpPr>
        <p:spPr bwMode="auto">
          <a:xfrm>
            <a:off x="0" y="0"/>
            <a:ext cx="9144000" cy="228600"/>
          </a:xfrm>
          <a:prstGeom prst="rect">
            <a:avLst/>
          </a:prstGeom>
          <a:solidFill>
            <a:srgbClr val="B20E12"/>
          </a:solidFill>
          <a:ln w="25400" cap="flat" cmpd="sng" algn="ctr">
            <a:solidFill>
              <a:srgbClr val="B20E12"/>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Narrow" pitchFamily="34" charset="0"/>
            </a:endParaRPr>
          </a:p>
        </p:txBody>
      </p:sp>
      <p:sp>
        <p:nvSpPr>
          <p:cNvPr id="7" name="矩形 6"/>
          <p:cNvSpPr/>
          <p:nvPr userDrawn="1"/>
        </p:nvSpPr>
        <p:spPr bwMode="auto">
          <a:xfrm>
            <a:off x="16932" y="6688667"/>
            <a:ext cx="4555067" cy="152400"/>
          </a:xfrm>
          <a:prstGeom prst="rect">
            <a:avLst/>
          </a:prstGeom>
          <a:solidFill>
            <a:schemeClr val="bg1"/>
          </a:solidFill>
          <a:ln w="25400" cap="flat" cmpd="sng" algn="ctr">
            <a:solidFill>
              <a:schemeClr val="bg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Narrow" pitchFamily="34" charset="0"/>
            </a:endParaRPr>
          </a:p>
        </p:txBody>
      </p:sp>
      <p:sp>
        <p:nvSpPr>
          <p:cNvPr id="8" name="文本框 7"/>
          <p:cNvSpPr txBox="1"/>
          <p:nvPr userDrawn="1"/>
        </p:nvSpPr>
        <p:spPr>
          <a:xfrm>
            <a:off x="3810000" y="-54977"/>
            <a:ext cx="5334000" cy="338554"/>
          </a:xfrm>
          <a:prstGeom prst="rect">
            <a:avLst/>
          </a:prstGeom>
          <a:noFill/>
        </p:spPr>
        <p:txBody>
          <a:bodyPr wrap="square" rtlCol="0">
            <a:spAutoFit/>
          </a:bodyPr>
          <a:lstStyle/>
          <a:p>
            <a:r>
              <a:rPr lang="en-US" altLang="zh-CN" sz="1600" dirty="0" smtClean="0">
                <a:solidFill>
                  <a:schemeClr val="bg1"/>
                </a:solidFill>
                <a:latin typeface="Calibri" pitchFamily="34" charset="0"/>
              </a:rPr>
              <a:t>The Principle of Computer Organization, BUPT,</a:t>
            </a:r>
            <a:r>
              <a:rPr lang="en-US" altLang="zh-CN" sz="1600" baseline="0" dirty="0" smtClean="0">
                <a:solidFill>
                  <a:schemeClr val="bg1"/>
                </a:solidFill>
                <a:latin typeface="Calibri" pitchFamily="34" charset="0"/>
              </a:rPr>
              <a:t> 2017 Spring</a:t>
            </a:r>
            <a:endParaRPr lang="zh-CN" altLang="en-US" sz="1600" dirty="0" smtClean="0">
              <a:solidFill>
                <a:schemeClr val="bg1"/>
              </a:solidFill>
              <a:latin typeface="Calibri" pitchFamily="34" charset="0"/>
            </a:endParaRPr>
          </a:p>
        </p:txBody>
      </p:sp>
    </p:spTree>
    <p:extLst>
      <p:ext uri="{BB962C8B-B14F-4D97-AF65-F5344CB8AC3E}">
        <p14:creationId xmlns:p14="http://schemas.microsoft.com/office/powerpoint/2010/main" val="1429955096"/>
      </p:ext>
    </p:extLst>
  </p:cSld>
  <p:clrMapOvr>
    <a:masterClrMapping/>
  </p:clrMapOvr>
  <p:timing>
    <p:tnLst>
      <p:par>
        <p:cTn id="1" dur="indefinite" restart="never" nodeType="tmRoot"/>
      </p:par>
    </p:tnLst>
  </p:timing>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a:p>
        </p:txBody>
      </p:sp>
      <p:sp>
        <p:nvSpPr>
          <p:cNvPr id="7" name="矩形 6"/>
          <p:cNvSpPr/>
          <p:nvPr userDrawn="1"/>
        </p:nvSpPr>
        <p:spPr bwMode="auto">
          <a:xfrm>
            <a:off x="0" y="0"/>
            <a:ext cx="9144000" cy="228600"/>
          </a:xfrm>
          <a:prstGeom prst="rect">
            <a:avLst/>
          </a:prstGeom>
          <a:solidFill>
            <a:srgbClr val="B20E12"/>
          </a:solidFill>
          <a:ln w="25400" cap="flat" cmpd="sng" algn="ctr">
            <a:solidFill>
              <a:srgbClr val="B20E12"/>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Narrow" pitchFamily="34" charset="0"/>
            </a:endParaRPr>
          </a:p>
        </p:txBody>
      </p:sp>
      <p:sp>
        <p:nvSpPr>
          <p:cNvPr id="9" name="矩形 8"/>
          <p:cNvSpPr/>
          <p:nvPr userDrawn="1"/>
        </p:nvSpPr>
        <p:spPr bwMode="auto">
          <a:xfrm>
            <a:off x="16932" y="6688667"/>
            <a:ext cx="4555067" cy="152400"/>
          </a:xfrm>
          <a:prstGeom prst="rect">
            <a:avLst/>
          </a:prstGeom>
          <a:solidFill>
            <a:schemeClr val="bg1"/>
          </a:solidFill>
          <a:ln w="25400" cap="flat" cmpd="sng" algn="ctr">
            <a:solidFill>
              <a:schemeClr val="bg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Narrow" pitchFamily="34" charset="0"/>
            </a:endParaRPr>
          </a:p>
        </p:txBody>
      </p:sp>
      <p:sp>
        <p:nvSpPr>
          <p:cNvPr id="10" name="文本框 9"/>
          <p:cNvSpPr txBox="1"/>
          <p:nvPr userDrawn="1"/>
        </p:nvSpPr>
        <p:spPr>
          <a:xfrm>
            <a:off x="3810000" y="-54977"/>
            <a:ext cx="5334000" cy="338554"/>
          </a:xfrm>
          <a:prstGeom prst="rect">
            <a:avLst/>
          </a:prstGeom>
          <a:noFill/>
        </p:spPr>
        <p:txBody>
          <a:bodyPr wrap="square" rtlCol="0">
            <a:spAutoFit/>
          </a:bodyPr>
          <a:lstStyle/>
          <a:p>
            <a:r>
              <a:rPr lang="en-US" altLang="zh-CN" sz="1600" dirty="0" smtClean="0">
                <a:solidFill>
                  <a:schemeClr val="bg1"/>
                </a:solidFill>
                <a:latin typeface="Calibri" pitchFamily="34" charset="0"/>
              </a:rPr>
              <a:t>The Principle of Computer Organization, BUPT,</a:t>
            </a:r>
            <a:r>
              <a:rPr lang="en-US" altLang="zh-CN" sz="1600" baseline="0" dirty="0" smtClean="0">
                <a:solidFill>
                  <a:schemeClr val="bg1"/>
                </a:solidFill>
                <a:latin typeface="Calibri" pitchFamily="34" charset="0"/>
              </a:rPr>
              <a:t> 2017 Spring</a:t>
            </a:r>
            <a:endParaRPr lang="zh-CN" altLang="en-US" sz="1600" dirty="0" smtClean="0">
              <a:solidFill>
                <a:schemeClr val="bg1"/>
              </a:solidFill>
              <a:latin typeface="Calibri" pitchFamily="34" charset="0"/>
            </a:endParaRPr>
          </a:p>
        </p:txBody>
      </p:sp>
    </p:spTree>
    <p:extLst>
      <p:ext uri="{BB962C8B-B14F-4D97-AF65-F5344CB8AC3E}">
        <p14:creationId xmlns:p14="http://schemas.microsoft.com/office/powerpoint/2010/main" val="76580489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357762" y="445070"/>
            <a:ext cx="7591425" cy="762000"/>
          </a:xfrm>
        </p:spPr>
        <p:txBody>
          <a:bodyPr/>
          <a:lstStyle/>
          <a:p>
            <a:r>
              <a:rPr lang="zh-CN" altLang="en-US" smtClean="0"/>
              <a:t>单击此处编辑母版标题样式</a:t>
            </a:r>
            <a:endParaRPr lang="en-US"/>
          </a:p>
        </p:txBody>
      </p:sp>
      <p:sp>
        <p:nvSpPr>
          <p:cNvPr id="3" name="矩形 2"/>
          <p:cNvSpPr/>
          <p:nvPr userDrawn="1"/>
        </p:nvSpPr>
        <p:spPr bwMode="auto">
          <a:xfrm>
            <a:off x="0" y="0"/>
            <a:ext cx="9144000" cy="228600"/>
          </a:xfrm>
          <a:prstGeom prst="rect">
            <a:avLst/>
          </a:prstGeom>
          <a:solidFill>
            <a:srgbClr val="B20E12"/>
          </a:solidFill>
          <a:ln w="25400" cap="flat" cmpd="sng" algn="ctr">
            <a:solidFill>
              <a:srgbClr val="B20E12"/>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Narrow" pitchFamily="34" charset="0"/>
            </a:endParaRPr>
          </a:p>
        </p:txBody>
      </p:sp>
      <p:sp>
        <p:nvSpPr>
          <p:cNvPr id="5" name="矩形 4"/>
          <p:cNvSpPr/>
          <p:nvPr userDrawn="1"/>
        </p:nvSpPr>
        <p:spPr bwMode="auto">
          <a:xfrm>
            <a:off x="16932" y="6688667"/>
            <a:ext cx="4555067" cy="152400"/>
          </a:xfrm>
          <a:prstGeom prst="rect">
            <a:avLst/>
          </a:prstGeom>
          <a:solidFill>
            <a:schemeClr val="bg1"/>
          </a:solidFill>
          <a:ln w="25400" cap="flat" cmpd="sng" algn="ctr">
            <a:solidFill>
              <a:schemeClr val="bg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Narrow" pitchFamily="34" charset="0"/>
            </a:endParaRPr>
          </a:p>
        </p:txBody>
      </p:sp>
      <p:sp>
        <p:nvSpPr>
          <p:cNvPr id="6" name="文本框 5"/>
          <p:cNvSpPr txBox="1"/>
          <p:nvPr userDrawn="1"/>
        </p:nvSpPr>
        <p:spPr>
          <a:xfrm>
            <a:off x="3810000" y="-54977"/>
            <a:ext cx="5334000" cy="338554"/>
          </a:xfrm>
          <a:prstGeom prst="rect">
            <a:avLst/>
          </a:prstGeom>
          <a:noFill/>
        </p:spPr>
        <p:txBody>
          <a:bodyPr wrap="square" rtlCol="0">
            <a:spAutoFit/>
          </a:bodyPr>
          <a:lstStyle/>
          <a:p>
            <a:r>
              <a:rPr lang="en-US" altLang="zh-CN" sz="1600" dirty="0" smtClean="0">
                <a:solidFill>
                  <a:schemeClr val="bg1"/>
                </a:solidFill>
                <a:latin typeface="Calibri" pitchFamily="34" charset="0"/>
              </a:rPr>
              <a:t>The Principle of Computer Organization, BUPT,</a:t>
            </a:r>
            <a:r>
              <a:rPr lang="en-US" altLang="zh-CN" sz="1600" baseline="0" dirty="0" smtClean="0">
                <a:solidFill>
                  <a:schemeClr val="bg1"/>
                </a:solidFill>
                <a:latin typeface="Calibri" pitchFamily="34" charset="0"/>
              </a:rPr>
              <a:t> 2017 Spring</a:t>
            </a:r>
            <a:endParaRPr lang="zh-CN" altLang="en-US" sz="1600" dirty="0" smtClean="0">
              <a:solidFill>
                <a:schemeClr val="bg1"/>
              </a:solidFill>
              <a:latin typeface="Calibri" pitchFamily="34" charset="0"/>
            </a:endParaRPr>
          </a:p>
        </p:txBody>
      </p:sp>
    </p:spTree>
    <p:extLst>
      <p:ext uri="{BB962C8B-B14F-4D97-AF65-F5344CB8AC3E}">
        <p14:creationId xmlns:p14="http://schemas.microsoft.com/office/powerpoint/2010/main" val="1013373794"/>
      </p:ext>
    </p:extLst>
  </p:cSld>
  <p:clrMapOvr>
    <a:masterClrMapping/>
  </p:clrMapOvr>
  <p:timing>
    <p:tnLst>
      <p:par>
        <p:cTn id="1" dur="indefinite" restart="never" nodeType="tmRoot"/>
      </p:par>
    </p:tnLst>
  </p:timing>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矩形 1"/>
          <p:cNvSpPr/>
          <p:nvPr userDrawn="1"/>
        </p:nvSpPr>
        <p:spPr bwMode="auto">
          <a:xfrm>
            <a:off x="0" y="0"/>
            <a:ext cx="9144000" cy="228600"/>
          </a:xfrm>
          <a:prstGeom prst="rect">
            <a:avLst/>
          </a:prstGeom>
          <a:solidFill>
            <a:srgbClr val="B20E12"/>
          </a:solidFill>
          <a:ln w="25400" cap="flat" cmpd="sng" algn="ctr">
            <a:solidFill>
              <a:srgbClr val="B20E12"/>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Narrow" pitchFamily="34" charset="0"/>
            </a:endParaRPr>
          </a:p>
        </p:txBody>
      </p:sp>
      <p:sp>
        <p:nvSpPr>
          <p:cNvPr id="4" name="矩形 3"/>
          <p:cNvSpPr/>
          <p:nvPr userDrawn="1"/>
        </p:nvSpPr>
        <p:spPr bwMode="auto">
          <a:xfrm>
            <a:off x="16932" y="6688667"/>
            <a:ext cx="4555067" cy="152400"/>
          </a:xfrm>
          <a:prstGeom prst="rect">
            <a:avLst/>
          </a:prstGeom>
          <a:solidFill>
            <a:schemeClr val="bg1"/>
          </a:solidFill>
          <a:ln w="25400" cap="flat" cmpd="sng" algn="ctr">
            <a:solidFill>
              <a:schemeClr val="bg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Narrow" pitchFamily="34" charset="0"/>
            </a:endParaRPr>
          </a:p>
        </p:txBody>
      </p:sp>
      <p:sp>
        <p:nvSpPr>
          <p:cNvPr id="5" name="文本框 4"/>
          <p:cNvSpPr txBox="1"/>
          <p:nvPr userDrawn="1"/>
        </p:nvSpPr>
        <p:spPr>
          <a:xfrm>
            <a:off x="3810000" y="-54977"/>
            <a:ext cx="5334000" cy="338554"/>
          </a:xfrm>
          <a:prstGeom prst="rect">
            <a:avLst/>
          </a:prstGeom>
          <a:noFill/>
        </p:spPr>
        <p:txBody>
          <a:bodyPr wrap="square" rtlCol="0">
            <a:spAutoFit/>
          </a:bodyPr>
          <a:lstStyle/>
          <a:p>
            <a:r>
              <a:rPr lang="en-US" altLang="zh-CN" sz="1600" dirty="0" smtClean="0">
                <a:solidFill>
                  <a:schemeClr val="bg1"/>
                </a:solidFill>
                <a:latin typeface="Calibri" pitchFamily="34" charset="0"/>
              </a:rPr>
              <a:t>The Principle of Computer Organization, BUPT,</a:t>
            </a:r>
            <a:r>
              <a:rPr lang="en-US" altLang="zh-CN" sz="1600" baseline="0" dirty="0" smtClean="0">
                <a:solidFill>
                  <a:schemeClr val="bg1"/>
                </a:solidFill>
                <a:latin typeface="Calibri" pitchFamily="34" charset="0"/>
              </a:rPr>
              <a:t> 2017 Spring</a:t>
            </a:r>
            <a:endParaRPr lang="zh-CN" altLang="en-US" sz="1600" dirty="0" smtClean="0">
              <a:solidFill>
                <a:schemeClr val="bg1"/>
              </a:solidFill>
              <a:latin typeface="Calibri" pitchFamily="34" charset="0"/>
            </a:endParaRPr>
          </a:p>
        </p:txBody>
      </p:sp>
    </p:spTree>
    <p:extLst>
      <p:ext uri="{BB962C8B-B14F-4D97-AF65-F5344CB8AC3E}">
        <p14:creationId xmlns:p14="http://schemas.microsoft.com/office/powerpoint/2010/main" val="80551401"/>
      </p:ext>
    </p:extLst>
  </p:cSld>
  <p:clrMapOvr>
    <a:masterClrMapping/>
  </p:clrMapOvr>
  <p:timing>
    <p:tnLst>
      <p:par>
        <p:cTn id="1" dur="indefinite" restart="never" nodeType="tmRoot"/>
      </p:par>
    </p:tnLst>
  </p:timing>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矩形 4"/>
          <p:cNvSpPr/>
          <p:nvPr userDrawn="1"/>
        </p:nvSpPr>
        <p:spPr bwMode="auto">
          <a:xfrm>
            <a:off x="0" y="0"/>
            <a:ext cx="9144000" cy="228600"/>
          </a:xfrm>
          <a:prstGeom prst="rect">
            <a:avLst/>
          </a:prstGeom>
          <a:solidFill>
            <a:srgbClr val="B20E12"/>
          </a:solidFill>
          <a:ln w="25400" cap="flat" cmpd="sng" algn="ctr">
            <a:solidFill>
              <a:srgbClr val="B20E12"/>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Narrow" pitchFamily="34" charset="0"/>
            </a:endParaRPr>
          </a:p>
        </p:txBody>
      </p:sp>
      <p:sp>
        <p:nvSpPr>
          <p:cNvPr id="7" name="矩形 6"/>
          <p:cNvSpPr/>
          <p:nvPr userDrawn="1"/>
        </p:nvSpPr>
        <p:spPr bwMode="auto">
          <a:xfrm>
            <a:off x="16932" y="6688667"/>
            <a:ext cx="4555067" cy="152400"/>
          </a:xfrm>
          <a:prstGeom prst="rect">
            <a:avLst/>
          </a:prstGeom>
          <a:solidFill>
            <a:schemeClr val="bg1"/>
          </a:solidFill>
          <a:ln w="25400" cap="flat" cmpd="sng" algn="ctr">
            <a:solidFill>
              <a:schemeClr val="bg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Narrow" pitchFamily="34" charset="0"/>
            </a:endParaRPr>
          </a:p>
        </p:txBody>
      </p:sp>
      <p:sp>
        <p:nvSpPr>
          <p:cNvPr id="8" name="文本框 7"/>
          <p:cNvSpPr txBox="1"/>
          <p:nvPr userDrawn="1"/>
        </p:nvSpPr>
        <p:spPr>
          <a:xfrm>
            <a:off x="3810000" y="-54977"/>
            <a:ext cx="5334000" cy="338554"/>
          </a:xfrm>
          <a:prstGeom prst="rect">
            <a:avLst/>
          </a:prstGeom>
          <a:noFill/>
        </p:spPr>
        <p:txBody>
          <a:bodyPr wrap="square" rtlCol="0">
            <a:spAutoFit/>
          </a:bodyPr>
          <a:lstStyle/>
          <a:p>
            <a:r>
              <a:rPr lang="en-US" altLang="zh-CN" sz="1600" dirty="0" smtClean="0">
                <a:solidFill>
                  <a:schemeClr val="bg1"/>
                </a:solidFill>
                <a:latin typeface="Calibri" pitchFamily="34" charset="0"/>
              </a:rPr>
              <a:t>The Principle of Computer Organization, BUPT,</a:t>
            </a:r>
            <a:r>
              <a:rPr lang="en-US" altLang="zh-CN" sz="1600" baseline="0" dirty="0" smtClean="0">
                <a:solidFill>
                  <a:schemeClr val="bg1"/>
                </a:solidFill>
                <a:latin typeface="Calibri" pitchFamily="34" charset="0"/>
              </a:rPr>
              <a:t> 2017 Spring</a:t>
            </a:r>
            <a:endParaRPr lang="zh-CN" altLang="en-US" sz="1600" dirty="0" smtClean="0">
              <a:solidFill>
                <a:schemeClr val="bg1"/>
              </a:solidFill>
              <a:latin typeface="Calibri" pitchFamily="34" charset="0"/>
            </a:endParaRPr>
          </a:p>
        </p:txBody>
      </p:sp>
    </p:spTree>
    <p:extLst>
      <p:ext uri="{BB962C8B-B14F-4D97-AF65-F5344CB8AC3E}">
        <p14:creationId xmlns:p14="http://schemas.microsoft.com/office/powerpoint/2010/main" val="912698997"/>
      </p:ext>
    </p:extLst>
  </p:cSld>
  <p:clrMapOvr>
    <a:masterClrMapping/>
  </p:clrMapOvr>
  <p:timing>
    <p:tnLst>
      <p:par>
        <p:cTn id="1" dur="indefinite" restart="never" nodeType="tmRoot"/>
      </p:par>
    </p:tnLst>
  </p:timing>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将图片拖动到占位符，或单击添加图标</a:t>
            </a:r>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矩形 4"/>
          <p:cNvSpPr/>
          <p:nvPr userDrawn="1"/>
        </p:nvSpPr>
        <p:spPr bwMode="auto">
          <a:xfrm>
            <a:off x="0" y="0"/>
            <a:ext cx="9144000" cy="228600"/>
          </a:xfrm>
          <a:prstGeom prst="rect">
            <a:avLst/>
          </a:prstGeom>
          <a:solidFill>
            <a:srgbClr val="B20E12"/>
          </a:solidFill>
          <a:ln w="25400" cap="flat" cmpd="sng" algn="ctr">
            <a:solidFill>
              <a:srgbClr val="B20E12"/>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Narrow" pitchFamily="34" charset="0"/>
            </a:endParaRPr>
          </a:p>
        </p:txBody>
      </p:sp>
      <p:sp>
        <p:nvSpPr>
          <p:cNvPr id="7" name="矩形 6"/>
          <p:cNvSpPr/>
          <p:nvPr userDrawn="1"/>
        </p:nvSpPr>
        <p:spPr bwMode="auto">
          <a:xfrm>
            <a:off x="16932" y="6688667"/>
            <a:ext cx="4555067" cy="152400"/>
          </a:xfrm>
          <a:prstGeom prst="rect">
            <a:avLst/>
          </a:prstGeom>
          <a:solidFill>
            <a:schemeClr val="bg1"/>
          </a:solidFill>
          <a:ln w="25400" cap="flat" cmpd="sng" algn="ctr">
            <a:solidFill>
              <a:schemeClr val="bg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Narrow" pitchFamily="34" charset="0"/>
            </a:endParaRPr>
          </a:p>
        </p:txBody>
      </p:sp>
      <p:sp>
        <p:nvSpPr>
          <p:cNvPr id="8" name="文本框 7"/>
          <p:cNvSpPr txBox="1"/>
          <p:nvPr userDrawn="1"/>
        </p:nvSpPr>
        <p:spPr>
          <a:xfrm>
            <a:off x="3810000" y="-54977"/>
            <a:ext cx="5334000" cy="338554"/>
          </a:xfrm>
          <a:prstGeom prst="rect">
            <a:avLst/>
          </a:prstGeom>
          <a:noFill/>
        </p:spPr>
        <p:txBody>
          <a:bodyPr wrap="square" rtlCol="0">
            <a:spAutoFit/>
          </a:bodyPr>
          <a:lstStyle/>
          <a:p>
            <a:r>
              <a:rPr lang="en-US" altLang="zh-CN" sz="1600" dirty="0" smtClean="0">
                <a:solidFill>
                  <a:schemeClr val="bg1"/>
                </a:solidFill>
                <a:latin typeface="Calibri" pitchFamily="34" charset="0"/>
              </a:rPr>
              <a:t>The Principle of Computer Organization, BUPT,</a:t>
            </a:r>
            <a:r>
              <a:rPr lang="en-US" altLang="zh-CN" sz="1600" baseline="0" dirty="0" smtClean="0">
                <a:solidFill>
                  <a:schemeClr val="bg1"/>
                </a:solidFill>
                <a:latin typeface="Calibri" pitchFamily="34" charset="0"/>
              </a:rPr>
              <a:t> 2017 Spring</a:t>
            </a:r>
            <a:endParaRPr lang="zh-CN" altLang="en-US" sz="1600" dirty="0" smtClean="0">
              <a:solidFill>
                <a:schemeClr val="bg1"/>
              </a:solidFill>
              <a:latin typeface="Calibri" pitchFamily="34" charset="0"/>
            </a:endParaRPr>
          </a:p>
        </p:txBody>
      </p:sp>
    </p:spTree>
    <p:extLst>
      <p:ext uri="{BB962C8B-B14F-4D97-AF65-F5344CB8AC3E}">
        <p14:creationId xmlns:p14="http://schemas.microsoft.com/office/powerpoint/2010/main" val="25635205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a:p>
        </p:txBody>
      </p:sp>
      <p:sp>
        <p:nvSpPr>
          <p:cNvPr id="4" name="矩形 3"/>
          <p:cNvSpPr/>
          <p:nvPr userDrawn="1"/>
        </p:nvSpPr>
        <p:spPr bwMode="auto">
          <a:xfrm>
            <a:off x="0" y="0"/>
            <a:ext cx="9144000" cy="228600"/>
          </a:xfrm>
          <a:prstGeom prst="rect">
            <a:avLst/>
          </a:prstGeom>
          <a:solidFill>
            <a:srgbClr val="B20E12"/>
          </a:solidFill>
          <a:ln w="25400" cap="flat" cmpd="sng" algn="ctr">
            <a:solidFill>
              <a:srgbClr val="B20E12"/>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Narrow" pitchFamily="34" charset="0"/>
            </a:endParaRPr>
          </a:p>
        </p:txBody>
      </p:sp>
      <p:sp>
        <p:nvSpPr>
          <p:cNvPr id="6" name="矩形 5"/>
          <p:cNvSpPr/>
          <p:nvPr userDrawn="1"/>
        </p:nvSpPr>
        <p:spPr bwMode="auto">
          <a:xfrm>
            <a:off x="16932" y="6688667"/>
            <a:ext cx="4555067" cy="152400"/>
          </a:xfrm>
          <a:prstGeom prst="rect">
            <a:avLst/>
          </a:prstGeom>
          <a:solidFill>
            <a:schemeClr val="bg1"/>
          </a:solidFill>
          <a:ln w="25400" cap="flat" cmpd="sng" algn="ctr">
            <a:solidFill>
              <a:schemeClr val="bg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Narrow" pitchFamily="34" charset="0"/>
            </a:endParaRPr>
          </a:p>
        </p:txBody>
      </p:sp>
      <p:sp>
        <p:nvSpPr>
          <p:cNvPr id="7" name="文本框 6"/>
          <p:cNvSpPr txBox="1"/>
          <p:nvPr userDrawn="1"/>
        </p:nvSpPr>
        <p:spPr>
          <a:xfrm>
            <a:off x="3810000" y="-54977"/>
            <a:ext cx="5334000" cy="338554"/>
          </a:xfrm>
          <a:prstGeom prst="rect">
            <a:avLst/>
          </a:prstGeom>
          <a:noFill/>
        </p:spPr>
        <p:txBody>
          <a:bodyPr wrap="square" rtlCol="0">
            <a:spAutoFit/>
          </a:bodyPr>
          <a:lstStyle/>
          <a:p>
            <a:r>
              <a:rPr lang="en-US" altLang="zh-CN" sz="1600" dirty="0" smtClean="0">
                <a:solidFill>
                  <a:schemeClr val="bg1"/>
                </a:solidFill>
                <a:latin typeface="Calibri" pitchFamily="34" charset="0"/>
              </a:rPr>
              <a:t>The Principle of Computer Organization, BUPT,</a:t>
            </a:r>
            <a:r>
              <a:rPr lang="en-US" altLang="zh-CN" sz="1600" baseline="0" dirty="0" smtClean="0">
                <a:solidFill>
                  <a:schemeClr val="bg1"/>
                </a:solidFill>
                <a:latin typeface="Calibri" pitchFamily="34" charset="0"/>
              </a:rPr>
              <a:t> 2017 Spring</a:t>
            </a:r>
            <a:endParaRPr lang="zh-CN" altLang="en-US" sz="1600" dirty="0" smtClean="0">
              <a:solidFill>
                <a:schemeClr val="bg1"/>
              </a:solidFill>
              <a:latin typeface="Calibri" pitchFamily="34" charset="0"/>
            </a:endParaRPr>
          </a:p>
        </p:txBody>
      </p:sp>
    </p:spTree>
    <p:extLst>
      <p:ext uri="{BB962C8B-B14F-4D97-AF65-F5344CB8AC3E}">
        <p14:creationId xmlns:p14="http://schemas.microsoft.com/office/powerpoint/2010/main" val="65684292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58013" y="228600"/>
            <a:ext cx="2185987" cy="6105525"/>
          </a:xfrm>
        </p:spPr>
        <p:txBody>
          <a:bodyPr vert="eaVert"/>
          <a:lstStyle/>
          <a:p>
            <a:r>
              <a:rPr lang="zh-CN" altLang="en-US" smtClean="0"/>
              <a:t>单击此处编辑母版标题样式</a:t>
            </a:r>
            <a:endParaRPr lang="en-US"/>
          </a:p>
        </p:txBody>
      </p:sp>
      <p:sp>
        <p:nvSpPr>
          <p:cNvPr id="3" name="Vertical Text Placeholder 2"/>
          <p:cNvSpPr>
            <a:spLocks noGrp="1"/>
          </p:cNvSpPr>
          <p:nvPr>
            <p:ph type="body" orient="vert" idx="1"/>
          </p:nvPr>
        </p:nvSpPr>
        <p:spPr>
          <a:xfrm>
            <a:off x="396875" y="228600"/>
            <a:ext cx="6408738" cy="6105525"/>
          </a:xfrm>
        </p:spPr>
        <p:txBody>
          <a:bodyPr vert="eaVert"/>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a:p>
        </p:txBody>
      </p:sp>
      <p:sp>
        <p:nvSpPr>
          <p:cNvPr id="4" name="矩形 3"/>
          <p:cNvSpPr/>
          <p:nvPr userDrawn="1"/>
        </p:nvSpPr>
        <p:spPr bwMode="auto">
          <a:xfrm>
            <a:off x="0" y="0"/>
            <a:ext cx="9144000" cy="228600"/>
          </a:xfrm>
          <a:prstGeom prst="rect">
            <a:avLst/>
          </a:prstGeom>
          <a:solidFill>
            <a:srgbClr val="B20E12"/>
          </a:solidFill>
          <a:ln w="25400" cap="flat" cmpd="sng" algn="ctr">
            <a:solidFill>
              <a:srgbClr val="B20E12"/>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Narrow" pitchFamily="34" charset="0"/>
            </a:endParaRPr>
          </a:p>
        </p:txBody>
      </p:sp>
      <p:sp>
        <p:nvSpPr>
          <p:cNvPr id="6" name="矩形 5"/>
          <p:cNvSpPr/>
          <p:nvPr userDrawn="1"/>
        </p:nvSpPr>
        <p:spPr bwMode="auto">
          <a:xfrm>
            <a:off x="16932" y="6688667"/>
            <a:ext cx="4555067" cy="152400"/>
          </a:xfrm>
          <a:prstGeom prst="rect">
            <a:avLst/>
          </a:prstGeom>
          <a:solidFill>
            <a:schemeClr val="bg1"/>
          </a:solidFill>
          <a:ln w="25400" cap="flat" cmpd="sng" algn="ctr">
            <a:solidFill>
              <a:schemeClr val="bg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Narrow" pitchFamily="34" charset="0"/>
            </a:endParaRPr>
          </a:p>
        </p:txBody>
      </p:sp>
      <p:sp>
        <p:nvSpPr>
          <p:cNvPr id="7" name="文本框 6"/>
          <p:cNvSpPr txBox="1"/>
          <p:nvPr userDrawn="1"/>
        </p:nvSpPr>
        <p:spPr>
          <a:xfrm>
            <a:off x="3810000" y="-54977"/>
            <a:ext cx="5334000" cy="338554"/>
          </a:xfrm>
          <a:prstGeom prst="rect">
            <a:avLst/>
          </a:prstGeom>
          <a:noFill/>
        </p:spPr>
        <p:txBody>
          <a:bodyPr wrap="square" rtlCol="0">
            <a:spAutoFit/>
          </a:bodyPr>
          <a:lstStyle/>
          <a:p>
            <a:r>
              <a:rPr lang="en-US" altLang="zh-CN" sz="1600" dirty="0" smtClean="0">
                <a:solidFill>
                  <a:schemeClr val="bg1"/>
                </a:solidFill>
                <a:latin typeface="Calibri" pitchFamily="34" charset="0"/>
              </a:rPr>
              <a:t>The Principle of Computer Organization, BUPT,</a:t>
            </a:r>
            <a:r>
              <a:rPr lang="en-US" altLang="zh-CN" sz="1600" baseline="0" dirty="0" smtClean="0">
                <a:solidFill>
                  <a:schemeClr val="bg1"/>
                </a:solidFill>
                <a:latin typeface="Calibri" pitchFamily="34" charset="0"/>
              </a:rPr>
              <a:t> 2017 Spring</a:t>
            </a:r>
            <a:endParaRPr lang="zh-CN" altLang="en-US" sz="1600" dirty="0" smtClean="0">
              <a:solidFill>
                <a:schemeClr val="bg1"/>
              </a:solidFill>
              <a:latin typeface="Calibri" pitchFamily="34" charset="0"/>
            </a:endParaRPr>
          </a:p>
        </p:txBody>
      </p:sp>
    </p:spTree>
    <p:extLst>
      <p:ext uri="{BB962C8B-B14F-4D97-AF65-F5344CB8AC3E}">
        <p14:creationId xmlns:p14="http://schemas.microsoft.com/office/powerpoint/2010/main" val="149307808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Title 1"/>
          <p:cNvSpPr>
            <a:spLocks noGrp="1"/>
          </p:cNvSpPr>
          <p:nvPr>
            <p:ph type="title"/>
          </p:nvPr>
        </p:nvSpPr>
        <p:spPr>
          <a:xfrm>
            <a:off x="396875" y="228600"/>
            <a:ext cx="8747125" cy="762000"/>
          </a:xfrm>
        </p:spPr>
        <p:txBody>
          <a:bodyPr/>
          <a:lstStyle/>
          <a:p>
            <a:r>
              <a:rPr lang="zh-CN" altLang="en-US" smtClean="0"/>
              <a:t>单击此处编辑母版标题样式</a:t>
            </a:r>
            <a:endParaRPr lang="en-US"/>
          </a:p>
        </p:txBody>
      </p:sp>
      <p:sp>
        <p:nvSpPr>
          <p:cNvPr id="3" name="Content Placeholder 2"/>
          <p:cNvSpPr>
            <a:spLocks noGrp="1"/>
          </p:cNvSpPr>
          <p:nvPr>
            <p:ph sz="half" idx="1"/>
          </p:nvPr>
        </p:nvSpPr>
        <p:spPr>
          <a:xfrm>
            <a:off x="638175" y="1362075"/>
            <a:ext cx="3871913" cy="4972050"/>
          </a:xfrm>
        </p:spPr>
        <p:txBody>
          <a:body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a:p>
        </p:txBody>
      </p:sp>
      <p:sp>
        <p:nvSpPr>
          <p:cNvPr id="4" name="Content Placeholder 3"/>
          <p:cNvSpPr>
            <a:spLocks noGrp="1"/>
          </p:cNvSpPr>
          <p:nvPr>
            <p:ph sz="quarter" idx="2"/>
          </p:nvPr>
        </p:nvSpPr>
        <p:spPr>
          <a:xfrm>
            <a:off x="4662488" y="1362075"/>
            <a:ext cx="3871912" cy="2409825"/>
          </a:xfrm>
        </p:spPr>
        <p:txBody>
          <a:body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a:p>
        </p:txBody>
      </p:sp>
      <p:sp>
        <p:nvSpPr>
          <p:cNvPr id="5" name="Content Placeholder 4"/>
          <p:cNvSpPr>
            <a:spLocks noGrp="1"/>
          </p:cNvSpPr>
          <p:nvPr>
            <p:ph sz="quarter" idx="3"/>
          </p:nvPr>
        </p:nvSpPr>
        <p:spPr>
          <a:xfrm>
            <a:off x="4662488" y="3924300"/>
            <a:ext cx="3871912" cy="2409825"/>
          </a:xfrm>
        </p:spPr>
        <p:txBody>
          <a:body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a:p>
        </p:txBody>
      </p:sp>
      <p:sp>
        <p:nvSpPr>
          <p:cNvPr id="6" name="矩形 5"/>
          <p:cNvSpPr/>
          <p:nvPr userDrawn="1"/>
        </p:nvSpPr>
        <p:spPr bwMode="auto">
          <a:xfrm>
            <a:off x="0" y="0"/>
            <a:ext cx="9144000" cy="228600"/>
          </a:xfrm>
          <a:prstGeom prst="rect">
            <a:avLst/>
          </a:prstGeom>
          <a:solidFill>
            <a:srgbClr val="B20E12"/>
          </a:solidFill>
          <a:ln w="25400" cap="flat" cmpd="sng" algn="ctr">
            <a:solidFill>
              <a:srgbClr val="B20E12"/>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Narrow" pitchFamily="34" charset="0"/>
            </a:endParaRPr>
          </a:p>
        </p:txBody>
      </p:sp>
      <p:sp>
        <p:nvSpPr>
          <p:cNvPr id="8" name="矩形 7"/>
          <p:cNvSpPr/>
          <p:nvPr userDrawn="1"/>
        </p:nvSpPr>
        <p:spPr bwMode="auto">
          <a:xfrm>
            <a:off x="16932" y="6688667"/>
            <a:ext cx="4555067" cy="152400"/>
          </a:xfrm>
          <a:prstGeom prst="rect">
            <a:avLst/>
          </a:prstGeom>
          <a:solidFill>
            <a:schemeClr val="bg1"/>
          </a:solidFill>
          <a:ln w="25400" cap="flat" cmpd="sng" algn="ctr">
            <a:solidFill>
              <a:schemeClr val="bg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Narrow" pitchFamily="34" charset="0"/>
            </a:endParaRPr>
          </a:p>
        </p:txBody>
      </p:sp>
      <p:sp>
        <p:nvSpPr>
          <p:cNvPr id="9" name="文本框 8"/>
          <p:cNvSpPr txBox="1"/>
          <p:nvPr userDrawn="1"/>
        </p:nvSpPr>
        <p:spPr>
          <a:xfrm>
            <a:off x="3810000" y="-54977"/>
            <a:ext cx="5334000" cy="338554"/>
          </a:xfrm>
          <a:prstGeom prst="rect">
            <a:avLst/>
          </a:prstGeom>
          <a:noFill/>
        </p:spPr>
        <p:txBody>
          <a:bodyPr wrap="square" rtlCol="0">
            <a:spAutoFit/>
          </a:bodyPr>
          <a:lstStyle/>
          <a:p>
            <a:r>
              <a:rPr lang="en-US" altLang="zh-CN" sz="1600" dirty="0" smtClean="0">
                <a:solidFill>
                  <a:schemeClr val="bg1"/>
                </a:solidFill>
                <a:latin typeface="Calibri" pitchFamily="34" charset="0"/>
              </a:rPr>
              <a:t>The Principle of Computer Organization, BUPT,</a:t>
            </a:r>
            <a:r>
              <a:rPr lang="en-US" altLang="zh-CN" sz="1600" baseline="0" dirty="0" smtClean="0">
                <a:solidFill>
                  <a:schemeClr val="bg1"/>
                </a:solidFill>
                <a:latin typeface="Calibri" pitchFamily="34" charset="0"/>
              </a:rPr>
              <a:t> 2017 Spring</a:t>
            </a:r>
            <a:endParaRPr lang="zh-CN" altLang="en-US" sz="1600" dirty="0" smtClean="0">
              <a:solidFill>
                <a:schemeClr val="bg1"/>
              </a:solidFill>
              <a:latin typeface="Calibri" pitchFamily="34" charset="0"/>
            </a:endParaRPr>
          </a:p>
        </p:txBody>
      </p:sp>
    </p:spTree>
    <p:extLst>
      <p:ext uri="{BB962C8B-B14F-4D97-AF65-F5344CB8AC3E}">
        <p14:creationId xmlns:p14="http://schemas.microsoft.com/office/powerpoint/2010/main" val="81700982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Title 1"/>
          <p:cNvSpPr>
            <a:spLocks noGrp="1"/>
          </p:cNvSpPr>
          <p:nvPr>
            <p:ph type="title"/>
          </p:nvPr>
        </p:nvSpPr>
        <p:spPr>
          <a:xfrm>
            <a:off x="396875" y="228600"/>
            <a:ext cx="8747125" cy="762000"/>
          </a:xfrm>
        </p:spPr>
        <p:txBody>
          <a:bodyPr/>
          <a:lstStyle/>
          <a:p>
            <a:r>
              <a:rPr lang="zh-CN" altLang="en-US" smtClean="0"/>
              <a:t>单击此处编辑母版标题样式</a:t>
            </a:r>
            <a:endParaRPr lang="en-US"/>
          </a:p>
        </p:txBody>
      </p:sp>
      <p:sp>
        <p:nvSpPr>
          <p:cNvPr id="3" name="Text Placeholder 2"/>
          <p:cNvSpPr>
            <a:spLocks noGrp="1"/>
          </p:cNvSpPr>
          <p:nvPr>
            <p:ph type="body" sz="half" idx="1"/>
          </p:nvPr>
        </p:nvSpPr>
        <p:spPr>
          <a:xfrm>
            <a:off x="638175" y="1362075"/>
            <a:ext cx="3871913" cy="4972050"/>
          </a:xfrm>
        </p:spPr>
        <p:txBody>
          <a:body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a:p>
        </p:txBody>
      </p:sp>
      <p:sp>
        <p:nvSpPr>
          <p:cNvPr id="4" name="Content Placeholder 3"/>
          <p:cNvSpPr>
            <a:spLocks noGrp="1"/>
          </p:cNvSpPr>
          <p:nvPr>
            <p:ph sz="half" idx="2"/>
          </p:nvPr>
        </p:nvSpPr>
        <p:spPr>
          <a:xfrm>
            <a:off x="4662488" y="1362075"/>
            <a:ext cx="3871912" cy="4972050"/>
          </a:xfrm>
        </p:spPr>
        <p:txBody>
          <a:body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a:p>
        </p:txBody>
      </p:sp>
      <p:sp>
        <p:nvSpPr>
          <p:cNvPr id="5" name="矩形 4"/>
          <p:cNvSpPr/>
          <p:nvPr userDrawn="1"/>
        </p:nvSpPr>
        <p:spPr bwMode="auto">
          <a:xfrm>
            <a:off x="0" y="0"/>
            <a:ext cx="9144000" cy="228600"/>
          </a:xfrm>
          <a:prstGeom prst="rect">
            <a:avLst/>
          </a:prstGeom>
          <a:solidFill>
            <a:srgbClr val="B20E12"/>
          </a:solidFill>
          <a:ln w="25400" cap="flat" cmpd="sng" algn="ctr">
            <a:solidFill>
              <a:srgbClr val="B20E12"/>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Narrow" pitchFamily="34" charset="0"/>
            </a:endParaRPr>
          </a:p>
        </p:txBody>
      </p:sp>
      <p:sp>
        <p:nvSpPr>
          <p:cNvPr id="7" name="矩形 6"/>
          <p:cNvSpPr/>
          <p:nvPr userDrawn="1"/>
        </p:nvSpPr>
        <p:spPr bwMode="auto">
          <a:xfrm>
            <a:off x="16932" y="6688667"/>
            <a:ext cx="4555067" cy="152400"/>
          </a:xfrm>
          <a:prstGeom prst="rect">
            <a:avLst/>
          </a:prstGeom>
          <a:solidFill>
            <a:schemeClr val="bg1"/>
          </a:solidFill>
          <a:ln w="25400" cap="flat" cmpd="sng" algn="ctr">
            <a:solidFill>
              <a:schemeClr val="bg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Narrow" pitchFamily="34" charset="0"/>
            </a:endParaRPr>
          </a:p>
        </p:txBody>
      </p:sp>
      <p:sp>
        <p:nvSpPr>
          <p:cNvPr id="8" name="文本框 7"/>
          <p:cNvSpPr txBox="1"/>
          <p:nvPr userDrawn="1"/>
        </p:nvSpPr>
        <p:spPr>
          <a:xfrm>
            <a:off x="3810000" y="-54977"/>
            <a:ext cx="5334000" cy="338554"/>
          </a:xfrm>
          <a:prstGeom prst="rect">
            <a:avLst/>
          </a:prstGeom>
          <a:noFill/>
        </p:spPr>
        <p:txBody>
          <a:bodyPr wrap="square" rtlCol="0">
            <a:spAutoFit/>
          </a:bodyPr>
          <a:lstStyle/>
          <a:p>
            <a:r>
              <a:rPr lang="en-US" altLang="zh-CN" sz="1600" dirty="0" smtClean="0">
                <a:solidFill>
                  <a:schemeClr val="bg1"/>
                </a:solidFill>
                <a:latin typeface="Calibri" pitchFamily="34" charset="0"/>
              </a:rPr>
              <a:t>The Principle of Computer Organization, BUPT,</a:t>
            </a:r>
            <a:r>
              <a:rPr lang="en-US" altLang="zh-CN" sz="1600" baseline="0" dirty="0" smtClean="0">
                <a:solidFill>
                  <a:schemeClr val="bg1"/>
                </a:solidFill>
                <a:latin typeface="Calibri" pitchFamily="34" charset="0"/>
              </a:rPr>
              <a:t> 2017 Spring</a:t>
            </a:r>
            <a:endParaRPr lang="zh-CN" altLang="en-US" sz="1600" dirty="0" smtClean="0">
              <a:solidFill>
                <a:schemeClr val="bg1"/>
              </a:solidFill>
              <a:latin typeface="Calibri" pitchFamily="34" charset="0"/>
            </a:endParaRPr>
          </a:p>
        </p:txBody>
      </p:sp>
    </p:spTree>
    <p:extLst>
      <p:ext uri="{BB962C8B-B14F-4D97-AF65-F5344CB8AC3E}">
        <p14:creationId xmlns:p14="http://schemas.microsoft.com/office/powerpoint/2010/main" val="473622629"/>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374090" y="371182"/>
            <a:ext cx="7591425"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endParaRPr lang="en-US" dirty="0" smtClean="0"/>
          </a:p>
        </p:txBody>
      </p:sp>
      <p:sp>
        <p:nvSpPr>
          <p:cNvPr id="8195" name="Rectangle 3"/>
          <p:cNvSpPr>
            <a:spLocks noGrp="1" noChangeArrowheads="1"/>
          </p:cNvSpPr>
          <p:nvPr>
            <p:ph type="body" idx="1"/>
          </p:nvPr>
        </p:nvSpPr>
        <p:spPr bwMode="auto">
          <a:xfrm>
            <a:off x="396875" y="1362075"/>
            <a:ext cx="7896225" cy="4972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smtClean="0"/>
          </a:p>
        </p:txBody>
      </p:sp>
      <p:sp>
        <p:nvSpPr>
          <p:cNvPr id="1032" name="Rectangle 8"/>
          <p:cNvSpPr>
            <a:spLocks noChangeArrowheads="1"/>
          </p:cNvSpPr>
          <p:nvPr/>
        </p:nvSpPr>
        <p:spPr bwMode="auto">
          <a:xfrm>
            <a:off x="0" y="0"/>
            <a:ext cx="9144000" cy="228600"/>
          </a:xfrm>
          <a:prstGeom prst="rect">
            <a:avLst/>
          </a:prstGeom>
          <a:solidFill>
            <a:srgbClr val="990000"/>
          </a:solidFill>
          <a:ln w="9525">
            <a:noFill/>
            <a:miter lim="800000"/>
            <a:headEnd/>
            <a:tailEnd/>
          </a:ln>
          <a:effectLst/>
        </p:spPr>
        <p:txBody>
          <a:bodyPr wrap="none" anchor="ctr"/>
          <a:lstStyle/>
          <a:p>
            <a:pPr algn="ctr">
              <a:defRPr/>
            </a:pPr>
            <a:endParaRPr lang="en-US" b="0">
              <a:latin typeface="Times New Roman" pitchFamily="18" charset="0"/>
            </a:endParaRPr>
          </a:p>
        </p:txBody>
      </p:sp>
      <p:sp>
        <p:nvSpPr>
          <p:cNvPr id="6" name="Rectangle 4"/>
          <p:cNvSpPr/>
          <p:nvPr/>
        </p:nvSpPr>
        <p:spPr>
          <a:xfrm>
            <a:off x="8830843" y="6611779"/>
            <a:ext cx="313157" cy="246221"/>
          </a:xfrm>
          <a:prstGeom prst="rect">
            <a:avLst/>
          </a:prstGeom>
        </p:spPr>
        <p:txBody>
          <a:bodyPr wrap="none">
            <a:spAutoFit/>
          </a:bodyPr>
          <a:lstStyle/>
          <a:p>
            <a:fld id="{F5551B27-49BC-4291-80C6-707CDCF1D651}" type="slidenum">
              <a:rPr kumimoji="0" lang="en-US" sz="1000" b="1" i="0" u="none" strike="noStrike" kern="1200" cap="none" spc="0" normalizeH="0" baseline="0" noProof="0" smtClean="0">
                <a:ln>
                  <a:noFill/>
                </a:ln>
                <a:solidFill>
                  <a:srgbClr val="000000"/>
                </a:solidFill>
                <a:effectLst/>
                <a:uLnTx/>
                <a:uFillTx/>
                <a:latin typeface="Arial Narrow" pitchFamily="-96" charset="0"/>
                <a:ea typeface="ＭＳ Ｐゴシック" pitchFamily="-96" charset="-128"/>
                <a:cs typeface="ＭＳ Ｐゴシック" pitchFamily="-96" charset="-128"/>
              </a:rPr>
              <a:pPr/>
              <a:t>‹#›</a:t>
            </a:fld>
            <a:endParaRPr lang="en-US" sz="1000" dirty="0"/>
          </a:p>
        </p:txBody>
      </p:sp>
      <p:sp>
        <p:nvSpPr>
          <p:cNvPr id="8" name="Rectangle 5"/>
          <p:cNvSpPr/>
          <p:nvPr userDrawn="1"/>
        </p:nvSpPr>
        <p:spPr>
          <a:xfrm>
            <a:off x="8830843" y="6611779"/>
            <a:ext cx="313157" cy="246221"/>
          </a:xfrm>
          <a:prstGeom prst="rect">
            <a:avLst/>
          </a:prstGeom>
        </p:spPr>
        <p:txBody>
          <a:bodyPr wrap="none">
            <a:spAutoFit/>
          </a:bodyPr>
          <a:lstStyle/>
          <a:p>
            <a:fld id="{F5551B27-49BC-4291-80C6-707CDCF1D651}" type="slidenum">
              <a:rPr kumimoji="0" lang="en-US" sz="1000" b="1" i="0" u="none" strike="noStrike" kern="1200" cap="none" spc="0" normalizeH="0" baseline="0" noProof="0" smtClean="0">
                <a:ln>
                  <a:noFill/>
                </a:ln>
                <a:solidFill>
                  <a:srgbClr val="000000"/>
                </a:solidFill>
                <a:effectLst/>
                <a:uLnTx/>
                <a:uFillTx/>
                <a:latin typeface="Arial Narrow" pitchFamily="-96" charset="0"/>
                <a:ea typeface="ＭＳ Ｐゴシック" pitchFamily="-96" charset="-128"/>
                <a:cs typeface="ＭＳ Ｐゴシック" pitchFamily="-96" charset="-128"/>
              </a:rPr>
              <a:pPr/>
              <a:t>‹#›</a:t>
            </a:fld>
            <a:endParaRPr lang="en-US" sz="1000" dirty="0"/>
          </a:p>
        </p:txBody>
      </p:sp>
      <p:sp>
        <p:nvSpPr>
          <p:cNvPr id="9" name="TextBox 7"/>
          <p:cNvSpPr txBox="1"/>
          <p:nvPr userDrawn="1"/>
        </p:nvSpPr>
        <p:spPr>
          <a:xfrm>
            <a:off x="-16031" y="6629400"/>
            <a:ext cx="4649342" cy="246221"/>
          </a:xfrm>
          <a:prstGeom prst="rect">
            <a:avLst/>
          </a:prstGeom>
          <a:noFill/>
        </p:spPr>
        <p:txBody>
          <a:bodyPr wrap="none" rtlCol="0">
            <a:spAutoFit/>
          </a:bodyPr>
          <a:lstStyle/>
          <a:p>
            <a:r>
              <a:rPr lang="en-US" sz="1000" b="0" i="0" dirty="0" smtClean="0">
                <a:latin typeface="Calibri" pitchFamily="34" charset="0"/>
              </a:rPr>
              <a:t>Bryant</a:t>
            </a:r>
            <a:r>
              <a:rPr lang="en-US" sz="1000" b="0" i="0" baseline="0" dirty="0" smtClean="0">
                <a:latin typeface="Calibri" pitchFamily="34" charset="0"/>
              </a:rPr>
              <a:t> and </a:t>
            </a:r>
            <a:r>
              <a:rPr lang="en-US" sz="1000" b="0" i="0" baseline="0" dirty="0" err="1" smtClean="0">
                <a:latin typeface="Calibri" pitchFamily="34" charset="0"/>
              </a:rPr>
              <a:t>O’Hallaron</a:t>
            </a:r>
            <a:r>
              <a:rPr lang="en-US" sz="1000" b="0" i="0" baseline="0" dirty="0" smtClean="0">
                <a:latin typeface="Calibri" pitchFamily="34" charset="0"/>
              </a:rPr>
              <a:t>, Computer Systems: A Programmer’s Perspective, Third Edition</a:t>
            </a:r>
            <a:endParaRPr lang="en-US" sz="1000" b="0" i="0" dirty="0" smtClean="0">
              <a:latin typeface="Calibri" pitchFamily="34" charset="0"/>
            </a:endParaRPr>
          </a:p>
        </p:txBody>
      </p:sp>
      <p:sp>
        <p:nvSpPr>
          <p:cNvPr id="10" name="文本框 9"/>
          <p:cNvSpPr txBox="1"/>
          <p:nvPr userDrawn="1"/>
        </p:nvSpPr>
        <p:spPr>
          <a:xfrm>
            <a:off x="3810000" y="-54977"/>
            <a:ext cx="5334000" cy="338554"/>
          </a:xfrm>
          <a:prstGeom prst="rect">
            <a:avLst/>
          </a:prstGeom>
          <a:noFill/>
        </p:spPr>
        <p:txBody>
          <a:bodyPr wrap="square" rtlCol="0">
            <a:spAutoFit/>
          </a:bodyPr>
          <a:lstStyle/>
          <a:p>
            <a:r>
              <a:rPr lang="en-US" altLang="zh-CN" sz="1600" dirty="0" smtClean="0">
                <a:solidFill>
                  <a:schemeClr val="bg1"/>
                </a:solidFill>
                <a:latin typeface="Calibri" pitchFamily="34" charset="0"/>
              </a:rPr>
              <a:t>The Principle of Computer Organization, BUPT,</a:t>
            </a:r>
            <a:r>
              <a:rPr lang="en-US" altLang="zh-CN" sz="1600" baseline="0" dirty="0" smtClean="0">
                <a:solidFill>
                  <a:schemeClr val="bg1"/>
                </a:solidFill>
                <a:latin typeface="Calibri" pitchFamily="34" charset="0"/>
              </a:rPr>
              <a:t> 2017 Spring</a:t>
            </a:r>
            <a:endParaRPr lang="zh-CN" altLang="en-US" sz="1600" dirty="0" smtClean="0">
              <a:solidFill>
                <a:schemeClr val="bg1"/>
              </a:solidFill>
              <a:latin typeface="Calibri" pitchFamily="34" charset="0"/>
            </a:endParaRPr>
          </a:p>
        </p:txBody>
      </p:sp>
      <p:sp>
        <p:nvSpPr>
          <p:cNvPr id="11" name="矩形 10"/>
          <p:cNvSpPr/>
          <p:nvPr userDrawn="1"/>
        </p:nvSpPr>
        <p:spPr bwMode="auto">
          <a:xfrm>
            <a:off x="16932" y="6688667"/>
            <a:ext cx="4555067" cy="152400"/>
          </a:xfrm>
          <a:prstGeom prst="rect">
            <a:avLst/>
          </a:prstGeom>
          <a:solidFill>
            <a:schemeClr val="bg1"/>
          </a:solidFill>
          <a:ln w="25400" cap="flat" cmpd="sng" algn="ctr">
            <a:solidFill>
              <a:schemeClr val="bg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Narrow" pitchFamily="34" charset="0"/>
            </a:endParaRPr>
          </a:p>
        </p:txBody>
      </p:sp>
    </p:spTree>
    <p:extLst>
      <p:ext uri="{BB962C8B-B14F-4D97-AF65-F5344CB8AC3E}">
        <p14:creationId xmlns:p14="http://schemas.microsoft.com/office/powerpoint/2010/main" val="1156762695"/>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Lst>
  <p:timing>
    <p:tnLst>
      <p:par>
        <p:cTn id="1" dur="indefinite" restart="never" nodeType="tmRoot"/>
      </p:par>
    </p:tnLst>
  </p:timing>
  <p:hf sldNum="0" hdr="0" ftr="0" dt="0"/>
  <p:txStyles>
    <p:titleStyle>
      <a:lvl1pPr marL="119063" indent="-119063" algn="l" rtl="0" eaLnBrk="1" fontAlgn="base" hangingPunct="1">
        <a:spcBef>
          <a:spcPct val="0"/>
        </a:spcBef>
        <a:spcAft>
          <a:spcPct val="0"/>
        </a:spcAft>
        <a:defRPr sz="3600" b="1">
          <a:solidFill>
            <a:schemeClr val="tx1"/>
          </a:solidFill>
          <a:latin typeface="Calibri" pitchFamily="34" charset="0"/>
          <a:ea typeface="+mj-ea"/>
          <a:cs typeface="+mj-cs"/>
        </a:defRPr>
      </a:lvl1pPr>
      <a:lvl2pPr marL="119063" indent="-119063" algn="l" rtl="0" eaLnBrk="1" fontAlgn="base" hangingPunct="1">
        <a:spcBef>
          <a:spcPct val="0"/>
        </a:spcBef>
        <a:spcAft>
          <a:spcPct val="0"/>
        </a:spcAft>
        <a:defRPr sz="3600" b="1">
          <a:solidFill>
            <a:schemeClr val="tx1"/>
          </a:solidFill>
          <a:latin typeface="Arial Narrow" pitchFamily="34" charset="0"/>
        </a:defRPr>
      </a:lvl2pPr>
      <a:lvl3pPr marL="119063" indent="-119063" algn="l" rtl="0" eaLnBrk="1" fontAlgn="base" hangingPunct="1">
        <a:spcBef>
          <a:spcPct val="0"/>
        </a:spcBef>
        <a:spcAft>
          <a:spcPct val="0"/>
        </a:spcAft>
        <a:defRPr sz="3600" b="1">
          <a:solidFill>
            <a:schemeClr val="tx1"/>
          </a:solidFill>
          <a:latin typeface="Arial Narrow" pitchFamily="34" charset="0"/>
        </a:defRPr>
      </a:lvl3pPr>
      <a:lvl4pPr marL="119063" indent="-119063" algn="l" rtl="0" eaLnBrk="1" fontAlgn="base" hangingPunct="1">
        <a:spcBef>
          <a:spcPct val="0"/>
        </a:spcBef>
        <a:spcAft>
          <a:spcPct val="0"/>
        </a:spcAft>
        <a:defRPr sz="3600" b="1">
          <a:solidFill>
            <a:schemeClr val="tx1"/>
          </a:solidFill>
          <a:latin typeface="Arial Narrow" pitchFamily="34" charset="0"/>
        </a:defRPr>
      </a:lvl4pPr>
      <a:lvl5pPr marL="119063" indent="-119063" algn="l" rtl="0" eaLnBrk="1" fontAlgn="base" hangingPunct="1">
        <a:spcBef>
          <a:spcPct val="0"/>
        </a:spcBef>
        <a:spcAft>
          <a:spcPct val="0"/>
        </a:spcAft>
        <a:defRPr sz="3600" b="1">
          <a:solidFill>
            <a:schemeClr val="tx1"/>
          </a:solidFill>
          <a:latin typeface="Arial Narrow" pitchFamily="34" charset="0"/>
        </a:defRPr>
      </a:lvl5pPr>
      <a:lvl6pPr marL="576263" algn="l" rtl="0" eaLnBrk="1" fontAlgn="base" hangingPunct="1">
        <a:spcBef>
          <a:spcPct val="0"/>
        </a:spcBef>
        <a:spcAft>
          <a:spcPct val="0"/>
        </a:spcAft>
        <a:defRPr sz="3600" b="1">
          <a:solidFill>
            <a:schemeClr val="tx1"/>
          </a:solidFill>
          <a:latin typeface="Arial Narrow" pitchFamily="34" charset="0"/>
        </a:defRPr>
      </a:lvl6pPr>
      <a:lvl7pPr marL="1033463" algn="l" rtl="0" eaLnBrk="1" fontAlgn="base" hangingPunct="1">
        <a:spcBef>
          <a:spcPct val="0"/>
        </a:spcBef>
        <a:spcAft>
          <a:spcPct val="0"/>
        </a:spcAft>
        <a:defRPr sz="3600" b="1">
          <a:solidFill>
            <a:schemeClr val="tx1"/>
          </a:solidFill>
          <a:latin typeface="Arial Narrow" pitchFamily="34" charset="0"/>
        </a:defRPr>
      </a:lvl7pPr>
      <a:lvl8pPr marL="1490663" algn="l" rtl="0" eaLnBrk="1" fontAlgn="base" hangingPunct="1">
        <a:spcBef>
          <a:spcPct val="0"/>
        </a:spcBef>
        <a:spcAft>
          <a:spcPct val="0"/>
        </a:spcAft>
        <a:defRPr sz="3600" b="1">
          <a:solidFill>
            <a:schemeClr val="tx1"/>
          </a:solidFill>
          <a:latin typeface="Arial Narrow" pitchFamily="34" charset="0"/>
        </a:defRPr>
      </a:lvl8pPr>
      <a:lvl9pPr marL="1947863" algn="l" rtl="0" eaLnBrk="1" fontAlgn="base" hangingPunct="1">
        <a:spcBef>
          <a:spcPct val="0"/>
        </a:spcBef>
        <a:spcAft>
          <a:spcPct val="0"/>
        </a:spcAft>
        <a:defRPr sz="3600" b="1">
          <a:solidFill>
            <a:schemeClr val="tx1"/>
          </a:solidFill>
          <a:latin typeface="Arial Narrow" pitchFamily="34" charset="0"/>
        </a:defRPr>
      </a:lvl9pPr>
    </p:titleStyle>
    <p:bodyStyle>
      <a:lvl1pPr marL="342900" indent="-342900" algn="l" rtl="0" eaLnBrk="1" fontAlgn="base" hangingPunct="1">
        <a:spcBef>
          <a:spcPct val="20000"/>
        </a:spcBef>
        <a:spcAft>
          <a:spcPct val="0"/>
        </a:spcAft>
        <a:buClr>
          <a:srgbClr val="990000"/>
        </a:buClr>
        <a:buSzPct val="60000"/>
        <a:buFont typeface="Wingdings 2" pitchFamily="18" charset="2"/>
        <a:buChar char="¢"/>
        <a:defRPr sz="2400" b="1">
          <a:solidFill>
            <a:schemeClr val="tx1"/>
          </a:solidFill>
          <a:latin typeface="Calibri"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itchFamily="2" charset="2"/>
        <a:buChar char="§"/>
        <a:defRPr sz="2000">
          <a:solidFill>
            <a:schemeClr val="tx1"/>
          </a:solidFill>
          <a:latin typeface="Calibri" pitchFamily="34" charset="0"/>
        </a:defRPr>
      </a:lvl2pPr>
      <a:lvl3pPr marL="1143000" indent="-228600" algn="l" rtl="0" eaLnBrk="1" fontAlgn="base" hangingPunct="1">
        <a:spcBef>
          <a:spcPct val="20000"/>
        </a:spcBef>
        <a:spcAft>
          <a:spcPct val="0"/>
        </a:spcAft>
        <a:buSzPct val="80000"/>
        <a:buFont typeface="Wingdings" pitchFamily="2" charset="2"/>
        <a:buChar char="§"/>
        <a:defRPr sz="2000">
          <a:solidFill>
            <a:schemeClr val="tx1"/>
          </a:solidFill>
          <a:latin typeface="Calibri" pitchFamily="34" charset="0"/>
        </a:defRPr>
      </a:lvl3pPr>
      <a:lvl4pPr marL="1600200" indent="-228600" algn="l" rtl="0" eaLnBrk="1" fontAlgn="base" hangingPunct="1">
        <a:spcBef>
          <a:spcPct val="20000"/>
        </a:spcBef>
        <a:spcAft>
          <a:spcPct val="0"/>
        </a:spcAft>
        <a:buChar char="–"/>
        <a:defRPr sz="2000">
          <a:solidFill>
            <a:schemeClr val="tx1"/>
          </a:solidFill>
          <a:latin typeface="Calibri" pitchFamily="34" charset="0"/>
        </a:defRPr>
      </a:lvl4pPr>
      <a:lvl5pPr marL="2057400" indent="-228600" algn="l" rtl="0" eaLnBrk="1" fontAlgn="base" hangingPunct="1">
        <a:spcBef>
          <a:spcPct val="20000"/>
        </a:spcBef>
        <a:spcAft>
          <a:spcPct val="0"/>
        </a:spcAft>
        <a:buChar char="»"/>
        <a:defRPr sz="2000">
          <a:solidFill>
            <a:schemeClr val="tx1"/>
          </a:solidFill>
          <a:latin typeface="Calibri" pitchFamily="34"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haoyuwang@bupt.edu.c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file:///D:\jinerwork\&#32452;&#25104;\&#30333;&#20013;&#33521;&#29256;&#25913;&#32534;\Chap05\Images\5.38(c).gif"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a:xfrm>
            <a:off x="685800" y="1371600"/>
            <a:ext cx="7772400" cy="1470025"/>
          </a:xfrm>
        </p:spPr>
        <p:txBody>
          <a:bodyPr/>
          <a:lstStyle/>
          <a:p>
            <a:r>
              <a:rPr lang="zh-CN" altLang="en-US" sz="4400" dirty="0" smtClean="0">
                <a:latin typeface="黑体" panose="02010609060101010101" pitchFamily="49" charset="-122"/>
                <a:ea typeface="黑体" panose="02010609060101010101" pitchFamily="49" charset="-122"/>
              </a:rPr>
              <a:t>计算机组成原理 </a:t>
            </a:r>
            <a:endParaRPr lang="zh-CN" altLang="en-US" sz="4400" dirty="0">
              <a:latin typeface="黑体" panose="02010609060101010101" pitchFamily="49" charset="-122"/>
              <a:ea typeface="黑体" panose="02010609060101010101" pitchFamily="49" charset="-122"/>
            </a:endParaRPr>
          </a:p>
        </p:txBody>
      </p:sp>
      <p:sp>
        <p:nvSpPr>
          <p:cNvPr id="5" name="副标题 4"/>
          <p:cNvSpPr>
            <a:spLocks noGrp="1"/>
          </p:cNvSpPr>
          <p:nvPr>
            <p:ph type="subTitle" idx="1"/>
          </p:nvPr>
        </p:nvSpPr>
        <p:spPr>
          <a:xfrm>
            <a:off x="716280" y="3124200"/>
            <a:ext cx="8001000" cy="2743200"/>
          </a:xfrm>
        </p:spPr>
        <p:txBody>
          <a:bodyPr/>
          <a:lstStyle/>
          <a:p>
            <a:r>
              <a:rPr lang="zh-CN" altLang="en-US" sz="3200" b="1" dirty="0" smtClean="0"/>
              <a:t>总复习 </a:t>
            </a:r>
            <a:r>
              <a:rPr lang="en-US" altLang="zh-CN" sz="3200" b="1" dirty="0" smtClean="0"/>
              <a:t>+ </a:t>
            </a:r>
            <a:r>
              <a:rPr lang="zh-CN" altLang="en-US" sz="3200" b="1" dirty="0" smtClean="0"/>
              <a:t>期中考试讲解</a:t>
            </a:r>
            <a:endParaRPr lang="en-US" altLang="zh-CN" sz="3200" b="1" dirty="0" smtClean="0"/>
          </a:p>
          <a:p>
            <a:endParaRPr lang="en-US" altLang="zh-CN" sz="2400" dirty="0"/>
          </a:p>
          <a:p>
            <a:r>
              <a:rPr lang="zh-CN" altLang="en-US" sz="2400" dirty="0" smtClean="0"/>
              <a:t>授课老师：王浩宇</a:t>
            </a:r>
            <a:endParaRPr lang="en-US" altLang="zh-CN" sz="2400" dirty="0" smtClean="0"/>
          </a:p>
          <a:p>
            <a:r>
              <a:rPr lang="en-US" altLang="zh-CN" sz="2400" dirty="0" smtClean="0">
                <a:hlinkClick r:id="rId3"/>
              </a:rPr>
              <a:t>haoyuwang@bupt.edu.cn</a:t>
            </a:r>
            <a:endParaRPr lang="en-US" altLang="zh-CN" sz="2400" dirty="0" smtClean="0"/>
          </a:p>
          <a:p>
            <a:r>
              <a:rPr lang="zh-CN" altLang="en-US" sz="2400" dirty="0" smtClean="0"/>
              <a:t>课程主页：</a:t>
            </a:r>
            <a:r>
              <a:rPr lang="en-US" altLang="zh-CN" sz="2400" dirty="0" smtClean="0"/>
              <a:t>http</a:t>
            </a:r>
            <a:r>
              <a:rPr lang="en-US" altLang="zh-CN" sz="2400" dirty="0"/>
              <a:t>://sei.pku.edu.cn/~wanghy11/2017spring.html</a:t>
            </a:r>
            <a:endParaRPr lang="zh-CN" altLang="en-US" sz="2400" dirty="0"/>
          </a:p>
        </p:txBody>
      </p:sp>
    </p:spTree>
    <p:extLst>
      <p:ext uri="{BB962C8B-B14F-4D97-AF65-F5344CB8AC3E}">
        <p14:creationId xmlns:p14="http://schemas.microsoft.com/office/powerpoint/2010/main" val="42680958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04800" y="685800"/>
            <a:ext cx="7896225" cy="5410200"/>
          </a:xfrm>
        </p:spPr>
        <p:txBody>
          <a:bodyPr/>
          <a:lstStyle/>
          <a:p>
            <a:r>
              <a:rPr lang="en-US" altLang="zh-CN" b="0" dirty="0" smtClean="0">
                <a:latin typeface="+mn-ea"/>
              </a:rPr>
              <a:t>1. [2013</a:t>
            </a:r>
            <a:r>
              <a:rPr lang="zh-CN" altLang="en-US" b="0" dirty="0" smtClean="0">
                <a:latin typeface="+mn-ea"/>
              </a:rPr>
              <a:t>年考研题</a:t>
            </a:r>
            <a:r>
              <a:rPr lang="en-US" altLang="zh-CN" b="0" dirty="0" smtClean="0">
                <a:latin typeface="+mn-ea"/>
              </a:rPr>
              <a:t>] </a:t>
            </a:r>
            <a:r>
              <a:rPr lang="zh-CN" altLang="en-US" b="0" dirty="0" smtClean="0">
                <a:latin typeface="+mn-ea"/>
              </a:rPr>
              <a:t>某</a:t>
            </a:r>
            <a:r>
              <a:rPr lang="zh-CN" altLang="en-US" b="0" dirty="0">
                <a:latin typeface="+mn-ea"/>
              </a:rPr>
              <a:t>计算机主频为</a:t>
            </a:r>
            <a:r>
              <a:rPr lang="en-US" altLang="zh-CN" b="0" dirty="0">
                <a:latin typeface="+mn-ea"/>
              </a:rPr>
              <a:t>1.2  GHz</a:t>
            </a:r>
            <a:r>
              <a:rPr lang="zh-CN" altLang="en-US" b="0" dirty="0">
                <a:latin typeface="+mn-ea"/>
              </a:rPr>
              <a:t>，其指令分为</a:t>
            </a:r>
            <a:r>
              <a:rPr lang="en-US" altLang="zh-CN" b="0" dirty="0">
                <a:latin typeface="+mn-ea"/>
              </a:rPr>
              <a:t>4</a:t>
            </a:r>
            <a:r>
              <a:rPr lang="zh-CN" altLang="en-US" b="0" dirty="0">
                <a:latin typeface="+mn-ea"/>
              </a:rPr>
              <a:t>类，它们在基准程序中所占比例及</a:t>
            </a:r>
            <a:r>
              <a:rPr lang="en-US" altLang="zh-CN" b="0" dirty="0">
                <a:latin typeface="+mn-ea"/>
              </a:rPr>
              <a:t>CPI</a:t>
            </a:r>
            <a:r>
              <a:rPr lang="zh-CN" altLang="en-US" b="0" dirty="0">
                <a:latin typeface="+mn-ea"/>
              </a:rPr>
              <a:t>如下表所示</a:t>
            </a:r>
          </a:p>
          <a:p>
            <a:pPr marL="0" indent="0">
              <a:buNone/>
            </a:pPr>
            <a:r>
              <a:rPr lang="zh-CN" altLang="en-US" b="0" dirty="0" smtClean="0">
                <a:latin typeface="+mn-ea"/>
              </a:rPr>
              <a:t>     指令类型</a:t>
            </a:r>
            <a:r>
              <a:rPr lang="zh-CN" altLang="en-US" b="0" dirty="0">
                <a:latin typeface="+mn-ea"/>
              </a:rPr>
              <a:t>	所占比例	</a:t>
            </a:r>
            <a:r>
              <a:rPr lang="en-US" altLang="zh-CN" b="0" dirty="0">
                <a:latin typeface="+mn-ea"/>
              </a:rPr>
              <a:t>CPI</a:t>
            </a:r>
          </a:p>
          <a:p>
            <a:pPr marL="0" indent="0">
              <a:buNone/>
            </a:pPr>
            <a:r>
              <a:rPr lang="en-US" altLang="zh-CN" b="0" dirty="0" smtClean="0">
                <a:latin typeface="+mn-ea"/>
              </a:rPr>
              <a:t>     A</a:t>
            </a:r>
            <a:r>
              <a:rPr lang="en-US" altLang="zh-CN" b="0" dirty="0">
                <a:latin typeface="+mn-ea"/>
              </a:rPr>
              <a:t>	</a:t>
            </a:r>
            <a:r>
              <a:rPr lang="en-US" altLang="zh-CN" b="0" dirty="0" smtClean="0">
                <a:latin typeface="+mn-ea"/>
              </a:rPr>
              <a:t>	50</a:t>
            </a:r>
            <a:r>
              <a:rPr lang="en-US" altLang="zh-CN" b="0" dirty="0">
                <a:latin typeface="+mn-ea"/>
              </a:rPr>
              <a:t>%	</a:t>
            </a:r>
            <a:r>
              <a:rPr lang="en-US" altLang="zh-CN" b="0" dirty="0" smtClean="0">
                <a:latin typeface="+mn-ea"/>
              </a:rPr>
              <a:t>	2</a:t>
            </a:r>
            <a:endParaRPr lang="en-US" altLang="zh-CN" b="0" dirty="0">
              <a:latin typeface="+mn-ea"/>
            </a:endParaRPr>
          </a:p>
          <a:p>
            <a:pPr marL="0" indent="0">
              <a:buNone/>
            </a:pPr>
            <a:r>
              <a:rPr lang="en-US" altLang="zh-CN" b="0" dirty="0" smtClean="0">
                <a:latin typeface="+mn-ea"/>
              </a:rPr>
              <a:t>     B</a:t>
            </a:r>
            <a:r>
              <a:rPr lang="en-US" altLang="zh-CN" b="0" dirty="0">
                <a:latin typeface="+mn-ea"/>
              </a:rPr>
              <a:t>	</a:t>
            </a:r>
            <a:r>
              <a:rPr lang="en-US" altLang="zh-CN" b="0" dirty="0" smtClean="0">
                <a:latin typeface="+mn-ea"/>
              </a:rPr>
              <a:t>	20</a:t>
            </a:r>
            <a:r>
              <a:rPr lang="en-US" altLang="zh-CN" b="0" dirty="0">
                <a:latin typeface="+mn-ea"/>
              </a:rPr>
              <a:t>%	</a:t>
            </a:r>
            <a:r>
              <a:rPr lang="en-US" altLang="zh-CN" b="0" dirty="0" smtClean="0">
                <a:latin typeface="+mn-ea"/>
              </a:rPr>
              <a:t>	3</a:t>
            </a:r>
            <a:endParaRPr lang="en-US" altLang="zh-CN" b="0" dirty="0">
              <a:latin typeface="+mn-ea"/>
            </a:endParaRPr>
          </a:p>
          <a:p>
            <a:pPr marL="0" indent="0">
              <a:buNone/>
            </a:pPr>
            <a:r>
              <a:rPr lang="en-US" altLang="zh-CN" b="0" dirty="0" smtClean="0">
                <a:latin typeface="+mn-ea"/>
              </a:rPr>
              <a:t>     C</a:t>
            </a:r>
            <a:r>
              <a:rPr lang="en-US" altLang="zh-CN" b="0" dirty="0">
                <a:latin typeface="+mn-ea"/>
              </a:rPr>
              <a:t>	</a:t>
            </a:r>
            <a:r>
              <a:rPr lang="en-US" altLang="zh-CN" b="0" dirty="0" smtClean="0">
                <a:latin typeface="+mn-ea"/>
              </a:rPr>
              <a:t>	10</a:t>
            </a:r>
            <a:r>
              <a:rPr lang="en-US" altLang="zh-CN" b="0" dirty="0">
                <a:latin typeface="+mn-ea"/>
              </a:rPr>
              <a:t>%	</a:t>
            </a:r>
            <a:r>
              <a:rPr lang="en-US" altLang="zh-CN" b="0" dirty="0" smtClean="0">
                <a:latin typeface="+mn-ea"/>
              </a:rPr>
              <a:t>	4</a:t>
            </a:r>
            <a:endParaRPr lang="en-US" altLang="zh-CN" b="0" dirty="0">
              <a:latin typeface="+mn-ea"/>
            </a:endParaRPr>
          </a:p>
          <a:p>
            <a:pPr marL="0" indent="0">
              <a:buNone/>
            </a:pPr>
            <a:r>
              <a:rPr lang="en-US" altLang="zh-CN" b="0" dirty="0" smtClean="0">
                <a:latin typeface="+mn-ea"/>
              </a:rPr>
              <a:t>     D</a:t>
            </a:r>
            <a:r>
              <a:rPr lang="en-US" altLang="zh-CN" b="0" dirty="0">
                <a:latin typeface="+mn-ea"/>
              </a:rPr>
              <a:t>	</a:t>
            </a:r>
            <a:r>
              <a:rPr lang="en-US" altLang="zh-CN" b="0" dirty="0" smtClean="0">
                <a:latin typeface="+mn-ea"/>
              </a:rPr>
              <a:t>	20</a:t>
            </a:r>
            <a:r>
              <a:rPr lang="en-US" altLang="zh-CN" b="0" dirty="0">
                <a:latin typeface="+mn-ea"/>
              </a:rPr>
              <a:t>%	</a:t>
            </a:r>
            <a:r>
              <a:rPr lang="en-US" altLang="zh-CN" b="0" dirty="0" smtClean="0">
                <a:latin typeface="+mn-ea"/>
              </a:rPr>
              <a:t>	5</a:t>
            </a:r>
          </a:p>
          <a:p>
            <a:pPr marL="0" indent="0">
              <a:buNone/>
            </a:pPr>
            <a:endParaRPr lang="en-US" altLang="zh-CN" b="0" dirty="0" smtClean="0">
              <a:latin typeface="+mn-ea"/>
            </a:endParaRPr>
          </a:p>
          <a:p>
            <a:pPr marL="0" indent="0">
              <a:buNone/>
            </a:pPr>
            <a:r>
              <a:rPr lang="en-US" altLang="zh-CN" b="0" dirty="0">
                <a:latin typeface="+mn-ea"/>
              </a:rPr>
              <a:t> </a:t>
            </a:r>
            <a:r>
              <a:rPr lang="en-US" altLang="zh-CN" b="0" dirty="0" smtClean="0">
                <a:latin typeface="+mn-ea"/>
              </a:rPr>
              <a:t>    </a:t>
            </a:r>
            <a:r>
              <a:rPr lang="zh-CN" altLang="en-US" b="0" dirty="0" smtClean="0">
                <a:latin typeface="+mn-ea"/>
              </a:rPr>
              <a:t>该</a:t>
            </a:r>
            <a:r>
              <a:rPr lang="zh-CN" altLang="en-US" b="0" dirty="0">
                <a:latin typeface="+mn-ea"/>
              </a:rPr>
              <a:t>机的</a:t>
            </a:r>
            <a:r>
              <a:rPr lang="en-US" altLang="zh-CN" b="0" dirty="0">
                <a:latin typeface="+mn-ea"/>
              </a:rPr>
              <a:t>MIPS</a:t>
            </a:r>
            <a:r>
              <a:rPr lang="zh-CN" altLang="en-US" b="0" dirty="0">
                <a:latin typeface="+mn-ea"/>
              </a:rPr>
              <a:t>数是 </a:t>
            </a:r>
          </a:p>
          <a:p>
            <a:pPr marL="0" indent="0">
              <a:buNone/>
            </a:pPr>
            <a:r>
              <a:rPr lang="zh-CN" altLang="en-US" b="0" dirty="0" smtClean="0">
                <a:latin typeface="+mn-ea"/>
              </a:rPr>
              <a:t>     </a:t>
            </a:r>
            <a:r>
              <a:rPr lang="en-US" altLang="zh-CN" b="0" dirty="0" smtClean="0">
                <a:latin typeface="+mn-ea"/>
              </a:rPr>
              <a:t>A</a:t>
            </a:r>
            <a:r>
              <a:rPr lang="en-US" altLang="zh-CN" b="0" dirty="0">
                <a:latin typeface="+mn-ea"/>
              </a:rPr>
              <a:t>. 100       B. 200       C. 400        D. 600</a:t>
            </a:r>
          </a:p>
          <a:p>
            <a:endParaRPr lang="zh-CN" altLang="en-US" b="0" dirty="0">
              <a:latin typeface="+mn-ea"/>
            </a:endParaRPr>
          </a:p>
        </p:txBody>
      </p:sp>
    </p:spTree>
    <p:extLst>
      <p:ext uri="{BB962C8B-B14F-4D97-AF65-F5344CB8AC3E}">
        <p14:creationId xmlns:p14="http://schemas.microsoft.com/office/powerpoint/2010/main" val="37855160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a:t>
            </a:r>
            <a:r>
              <a:rPr lang="zh-CN" altLang="en-US" dirty="0" smtClean="0"/>
              <a:t>点复习</a:t>
            </a:r>
            <a:endParaRPr lang="zh-CN" altLang="en-US" dirty="0"/>
          </a:p>
        </p:txBody>
      </p:sp>
      <p:sp>
        <p:nvSpPr>
          <p:cNvPr id="3" name="内容占位符 2"/>
          <p:cNvSpPr>
            <a:spLocks noGrp="1"/>
          </p:cNvSpPr>
          <p:nvPr>
            <p:ph idx="1"/>
          </p:nvPr>
        </p:nvSpPr>
        <p:spPr/>
        <p:txBody>
          <a:bodyPr/>
          <a:lstStyle/>
          <a:p>
            <a:r>
              <a:rPr lang="zh-CN" altLang="en-US" sz="2800" dirty="0" smtClean="0">
                <a:latin typeface="+mn-ea"/>
              </a:rPr>
              <a:t>计算机的性能指标</a:t>
            </a:r>
            <a:endParaRPr lang="en-US" altLang="zh-CN" sz="2800" dirty="0" smtClean="0">
              <a:latin typeface="+mn-ea"/>
            </a:endParaRPr>
          </a:p>
          <a:p>
            <a:pPr lvl="1"/>
            <a:r>
              <a:rPr lang="en-US" altLang="zh-CN" sz="2400" dirty="0" smtClean="0">
                <a:latin typeface="+mn-ea"/>
                <a:ea typeface="+mn-ea"/>
              </a:rPr>
              <a:t>CPI</a:t>
            </a:r>
          </a:p>
          <a:p>
            <a:pPr lvl="1"/>
            <a:r>
              <a:rPr lang="en-US" altLang="zh-CN" sz="2400" dirty="0" smtClean="0">
                <a:latin typeface="+mn-ea"/>
                <a:ea typeface="+mn-ea"/>
              </a:rPr>
              <a:t>MIPS</a:t>
            </a:r>
          </a:p>
          <a:p>
            <a:pPr lvl="1"/>
            <a:r>
              <a:rPr lang="en-US" altLang="zh-CN" sz="2400" dirty="0" smtClean="0">
                <a:latin typeface="+mn-ea"/>
                <a:ea typeface="+mn-ea"/>
              </a:rPr>
              <a:t>MFLOPS</a:t>
            </a:r>
          </a:p>
          <a:p>
            <a:r>
              <a:rPr lang="zh-CN" altLang="en-US" sz="2800" dirty="0" smtClean="0">
                <a:latin typeface="+mn-ea"/>
              </a:rPr>
              <a:t>定义以及计算公式</a:t>
            </a:r>
            <a:endParaRPr lang="zh-CN" altLang="en-US" sz="2800" dirty="0">
              <a:latin typeface="+mn-ea"/>
            </a:endParaRPr>
          </a:p>
        </p:txBody>
      </p:sp>
    </p:spTree>
    <p:extLst>
      <p:ext uri="{BB962C8B-B14F-4D97-AF65-F5344CB8AC3E}">
        <p14:creationId xmlns:p14="http://schemas.microsoft.com/office/powerpoint/2010/main" val="2506660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习题解答</a:t>
            </a:r>
            <a:endParaRPr lang="zh-CN" altLang="en-US" dirty="0"/>
          </a:p>
        </p:txBody>
      </p:sp>
      <p:sp>
        <p:nvSpPr>
          <p:cNvPr id="3" name="内容占位符 2"/>
          <p:cNvSpPr>
            <a:spLocks noGrp="1"/>
          </p:cNvSpPr>
          <p:nvPr>
            <p:ph idx="1"/>
          </p:nvPr>
        </p:nvSpPr>
        <p:spPr>
          <a:xfrm>
            <a:off x="396875" y="5257800"/>
            <a:ext cx="7896225" cy="1381125"/>
          </a:xfrm>
        </p:spPr>
        <p:txBody>
          <a:bodyPr/>
          <a:lstStyle/>
          <a:p>
            <a:r>
              <a:rPr lang="zh-CN" altLang="zh-CN" sz="2800" dirty="0">
                <a:latin typeface="黑体" panose="02010609060101010101" pitchFamily="49" charset="-122"/>
                <a:ea typeface="黑体" panose="02010609060101010101" pitchFamily="49" charset="-122"/>
              </a:rPr>
              <a:t>基准程序的</a:t>
            </a:r>
            <a:r>
              <a:rPr lang="en-US" altLang="zh-CN" sz="2800" dirty="0">
                <a:latin typeface="黑体" panose="02010609060101010101" pitchFamily="49" charset="-122"/>
                <a:ea typeface="黑体" panose="02010609060101010101" pitchFamily="49" charset="-122"/>
              </a:rPr>
              <a:t>CPI=2*0.5+3*0.2+4*0.1+5*0.2=3 </a:t>
            </a:r>
            <a:endParaRPr lang="en-US" altLang="zh-CN" sz="2800" dirty="0" smtClean="0">
              <a:latin typeface="黑体" panose="02010609060101010101" pitchFamily="49" charset="-122"/>
              <a:ea typeface="黑体" panose="02010609060101010101" pitchFamily="49" charset="-122"/>
            </a:endParaRPr>
          </a:p>
          <a:p>
            <a:pPr marL="0" indent="0">
              <a:buNone/>
            </a:pPr>
            <a:r>
              <a:rPr lang="en-US" altLang="zh-CN" sz="2800" dirty="0">
                <a:latin typeface="黑体" panose="02010609060101010101" pitchFamily="49" charset="-122"/>
                <a:ea typeface="黑体" panose="02010609060101010101" pitchFamily="49" charset="-122"/>
              </a:rPr>
              <a:t> </a:t>
            </a:r>
            <a:r>
              <a:rPr lang="en-US" altLang="zh-CN" sz="2800" dirty="0" smtClean="0">
                <a:latin typeface="黑体" panose="02010609060101010101" pitchFamily="49" charset="-122"/>
                <a:ea typeface="黑体" panose="02010609060101010101" pitchFamily="49" charset="-122"/>
              </a:rPr>
              <a:t> </a:t>
            </a:r>
            <a:r>
              <a:rPr lang="zh-CN" altLang="zh-CN" sz="2800" dirty="0" smtClean="0">
                <a:latin typeface="黑体" panose="02010609060101010101" pitchFamily="49" charset="-122"/>
                <a:ea typeface="黑体" panose="02010609060101010101" pitchFamily="49" charset="-122"/>
              </a:rPr>
              <a:t>计算机</a:t>
            </a:r>
            <a:r>
              <a:rPr lang="zh-CN" altLang="zh-CN" sz="2800" dirty="0">
                <a:latin typeface="黑体" panose="02010609060101010101" pitchFamily="49" charset="-122"/>
                <a:ea typeface="黑体" panose="02010609060101010101" pitchFamily="49" charset="-122"/>
              </a:rPr>
              <a:t>的主频为</a:t>
            </a:r>
            <a:r>
              <a:rPr lang="en-US" altLang="zh-CN" sz="2800" dirty="0">
                <a:latin typeface="黑体" panose="02010609060101010101" pitchFamily="49" charset="-122"/>
                <a:ea typeface="黑体" panose="02010609060101010101" pitchFamily="49" charset="-122"/>
              </a:rPr>
              <a:t>1.2GHa</a:t>
            </a:r>
            <a:r>
              <a:rPr lang="zh-CN" altLang="zh-CN" sz="2800" dirty="0">
                <a:latin typeface="黑体" panose="02010609060101010101" pitchFamily="49" charset="-122"/>
                <a:ea typeface="黑体" panose="02010609060101010101" pitchFamily="49" charset="-122"/>
              </a:rPr>
              <a:t>，为</a:t>
            </a:r>
            <a:r>
              <a:rPr lang="en-US" altLang="zh-CN" sz="2800" dirty="0">
                <a:latin typeface="黑体" panose="02010609060101010101" pitchFamily="49" charset="-122"/>
                <a:ea typeface="黑体" panose="02010609060101010101" pitchFamily="49" charset="-122"/>
              </a:rPr>
              <a:t>1200MHz</a:t>
            </a:r>
            <a:r>
              <a:rPr lang="zh-CN" altLang="zh-CN" sz="2800" dirty="0">
                <a:latin typeface="黑体" panose="02010609060101010101" pitchFamily="49" charset="-122"/>
                <a:ea typeface="黑体" panose="02010609060101010101" pitchFamily="49" charset="-122"/>
              </a:rPr>
              <a:t>，该机器</a:t>
            </a:r>
            <a:r>
              <a:rPr lang="zh-CN" altLang="zh-CN" sz="2800" dirty="0" smtClean="0">
                <a:latin typeface="黑体" panose="02010609060101010101" pitchFamily="49" charset="-122"/>
                <a:ea typeface="黑体" panose="02010609060101010101" pitchFamily="49" charset="-122"/>
              </a:rPr>
              <a:t>的</a:t>
            </a:r>
            <a:r>
              <a:rPr lang="en-US" altLang="zh-CN" sz="2800" dirty="0" smtClean="0">
                <a:latin typeface="黑体" panose="02010609060101010101" pitchFamily="49" charset="-122"/>
                <a:ea typeface="黑体" panose="02010609060101010101" pitchFamily="49" charset="-122"/>
              </a:rPr>
              <a:t>    MIPS</a:t>
            </a:r>
            <a:r>
              <a:rPr lang="zh-CN" altLang="zh-CN" sz="2800" dirty="0">
                <a:latin typeface="黑体" panose="02010609060101010101" pitchFamily="49" charset="-122"/>
                <a:ea typeface="黑体" panose="02010609060101010101" pitchFamily="49" charset="-122"/>
              </a:rPr>
              <a:t>为</a:t>
            </a:r>
            <a:r>
              <a:rPr lang="en-US" altLang="zh-CN" sz="2800" dirty="0" smtClean="0">
                <a:latin typeface="黑体" panose="02010609060101010101" pitchFamily="49" charset="-122"/>
                <a:ea typeface="黑体" panose="02010609060101010101" pitchFamily="49" charset="-122"/>
              </a:rPr>
              <a:t>1200/3=400</a:t>
            </a:r>
            <a:endParaRPr lang="zh-CN" altLang="en-US" sz="2800" dirty="0">
              <a:latin typeface="黑体" panose="02010609060101010101" pitchFamily="49" charset="-122"/>
              <a:ea typeface="黑体" panose="02010609060101010101" pitchFamily="49" charset="-122"/>
            </a:endParaRPr>
          </a:p>
        </p:txBody>
      </p:sp>
      <p:sp>
        <p:nvSpPr>
          <p:cNvPr id="4" name="内容占位符 2"/>
          <p:cNvSpPr txBox="1">
            <a:spLocks/>
          </p:cNvSpPr>
          <p:nvPr/>
        </p:nvSpPr>
        <p:spPr bwMode="auto">
          <a:xfrm>
            <a:off x="304800" y="1143000"/>
            <a:ext cx="7896225"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990000"/>
              </a:buClr>
              <a:buSzPct val="60000"/>
              <a:buFont typeface="Wingdings 2" pitchFamily="18" charset="2"/>
              <a:buChar char="¢"/>
              <a:defRPr sz="2400" b="1">
                <a:solidFill>
                  <a:schemeClr val="tx1"/>
                </a:solidFill>
                <a:latin typeface="Calibri"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itchFamily="2" charset="2"/>
              <a:buChar char="§"/>
              <a:defRPr sz="2000">
                <a:solidFill>
                  <a:schemeClr val="tx1"/>
                </a:solidFill>
                <a:latin typeface="Calibri" pitchFamily="34" charset="0"/>
              </a:defRPr>
            </a:lvl2pPr>
            <a:lvl3pPr marL="1143000" indent="-228600" algn="l" rtl="0" eaLnBrk="1" fontAlgn="base" hangingPunct="1">
              <a:spcBef>
                <a:spcPct val="20000"/>
              </a:spcBef>
              <a:spcAft>
                <a:spcPct val="0"/>
              </a:spcAft>
              <a:buSzPct val="80000"/>
              <a:buFont typeface="Wingdings" pitchFamily="2" charset="2"/>
              <a:buChar char="§"/>
              <a:defRPr sz="2000">
                <a:solidFill>
                  <a:schemeClr val="tx1"/>
                </a:solidFill>
                <a:latin typeface="Calibri" pitchFamily="34" charset="0"/>
              </a:defRPr>
            </a:lvl3pPr>
            <a:lvl4pPr marL="1600200" indent="-228600" algn="l" rtl="0" eaLnBrk="1" fontAlgn="base" hangingPunct="1">
              <a:spcBef>
                <a:spcPct val="20000"/>
              </a:spcBef>
              <a:spcAft>
                <a:spcPct val="0"/>
              </a:spcAft>
              <a:buChar char="–"/>
              <a:defRPr sz="2000">
                <a:solidFill>
                  <a:schemeClr val="tx1"/>
                </a:solidFill>
                <a:latin typeface="Calibri" pitchFamily="34" charset="0"/>
              </a:defRPr>
            </a:lvl4pPr>
            <a:lvl5pPr marL="2057400" indent="-228600" algn="l" rtl="0" eaLnBrk="1" fontAlgn="base" hangingPunct="1">
              <a:spcBef>
                <a:spcPct val="20000"/>
              </a:spcBef>
              <a:spcAft>
                <a:spcPct val="0"/>
              </a:spcAft>
              <a:buChar char="»"/>
              <a:defRPr sz="2000">
                <a:solidFill>
                  <a:schemeClr val="tx1"/>
                </a:solidFill>
                <a:latin typeface="Calibri" pitchFamily="34"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a:lstStyle>
          <a:p>
            <a:r>
              <a:rPr lang="en-US" altLang="zh-CN" b="0" kern="0" dirty="0" smtClean="0">
                <a:latin typeface="+mn-ea"/>
              </a:rPr>
              <a:t>1. [2013</a:t>
            </a:r>
            <a:r>
              <a:rPr lang="zh-CN" altLang="en-US" b="0" kern="0" dirty="0" smtClean="0">
                <a:latin typeface="+mn-ea"/>
              </a:rPr>
              <a:t>年考研题</a:t>
            </a:r>
            <a:r>
              <a:rPr lang="en-US" altLang="zh-CN" b="0" kern="0" dirty="0" smtClean="0">
                <a:latin typeface="+mn-ea"/>
              </a:rPr>
              <a:t>] </a:t>
            </a:r>
            <a:r>
              <a:rPr lang="zh-CN" altLang="en-US" b="0" kern="0" dirty="0" smtClean="0">
                <a:latin typeface="+mn-ea"/>
              </a:rPr>
              <a:t>某计算机主频为</a:t>
            </a:r>
            <a:r>
              <a:rPr lang="en-US" altLang="zh-CN" b="0" kern="0" dirty="0" smtClean="0">
                <a:latin typeface="+mn-ea"/>
              </a:rPr>
              <a:t>1.2  GHz</a:t>
            </a:r>
            <a:r>
              <a:rPr lang="zh-CN" altLang="en-US" b="0" kern="0" dirty="0" smtClean="0">
                <a:latin typeface="+mn-ea"/>
              </a:rPr>
              <a:t>，其指令分为</a:t>
            </a:r>
            <a:r>
              <a:rPr lang="en-US" altLang="zh-CN" b="0" kern="0" dirty="0" smtClean="0">
                <a:latin typeface="+mn-ea"/>
              </a:rPr>
              <a:t>4</a:t>
            </a:r>
            <a:r>
              <a:rPr lang="zh-CN" altLang="en-US" b="0" kern="0" dirty="0" smtClean="0">
                <a:latin typeface="+mn-ea"/>
              </a:rPr>
              <a:t>类，它们在基准程序中所占比例及</a:t>
            </a:r>
            <a:r>
              <a:rPr lang="en-US" altLang="zh-CN" b="0" kern="0" dirty="0" smtClean="0">
                <a:latin typeface="+mn-ea"/>
              </a:rPr>
              <a:t>CPI</a:t>
            </a:r>
            <a:r>
              <a:rPr lang="zh-CN" altLang="en-US" b="0" kern="0" dirty="0" smtClean="0">
                <a:latin typeface="+mn-ea"/>
              </a:rPr>
              <a:t>如下表所示</a:t>
            </a:r>
          </a:p>
          <a:p>
            <a:pPr marL="0" indent="0">
              <a:buFont typeface="Wingdings 2" pitchFamily="18" charset="2"/>
              <a:buNone/>
            </a:pPr>
            <a:r>
              <a:rPr lang="zh-CN" altLang="en-US" b="0" kern="0" dirty="0" smtClean="0">
                <a:latin typeface="+mn-ea"/>
              </a:rPr>
              <a:t>     指令类型	所占比例	</a:t>
            </a:r>
            <a:r>
              <a:rPr lang="en-US" altLang="zh-CN" b="0" kern="0" dirty="0" smtClean="0">
                <a:latin typeface="+mn-ea"/>
              </a:rPr>
              <a:t>CPI</a:t>
            </a:r>
          </a:p>
          <a:p>
            <a:pPr marL="0" indent="0">
              <a:buFont typeface="Wingdings 2" pitchFamily="18" charset="2"/>
              <a:buNone/>
            </a:pPr>
            <a:r>
              <a:rPr lang="en-US" altLang="zh-CN" b="0" kern="0" dirty="0" smtClean="0">
                <a:latin typeface="+mn-ea"/>
              </a:rPr>
              <a:t>     A		50%		2</a:t>
            </a:r>
          </a:p>
          <a:p>
            <a:pPr marL="0" indent="0">
              <a:buFont typeface="Wingdings 2" pitchFamily="18" charset="2"/>
              <a:buNone/>
            </a:pPr>
            <a:r>
              <a:rPr lang="en-US" altLang="zh-CN" b="0" kern="0" dirty="0" smtClean="0">
                <a:latin typeface="+mn-ea"/>
              </a:rPr>
              <a:t>     B		20%		3</a:t>
            </a:r>
          </a:p>
          <a:p>
            <a:pPr marL="0" indent="0">
              <a:buFont typeface="Wingdings 2" pitchFamily="18" charset="2"/>
              <a:buNone/>
            </a:pPr>
            <a:r>
              <a:rPr lang="en-US" altLang="zh-CN" b="0" kern="0" dirty="0" smtClean="0">
                <a:latin typeface="+mn-ea"/>
              </a:rPr>
              <a:t>     C		10%		4</a:t>
            </a:r>
          </a:p>
          <a:p>
            <a:pPr marL="0" indent="0">
              <a:buFont typeface="Wingdings 2" pitchFamily="18" charset="2"/>
              <a:buNone/>
            </a:pPr>
            <a:r>
              <a:rPr lang="en-US" altLang="zh-CN" b="0" kern="0" dirty="0" smtClean="0">
                <a:latin typeface="+mn-ea"/>
              </a:rPr>
              <a:t>     D		20%		5</a:t>
            </a:r>
          </a:p>
          <a:p>
            <a:pPr marL="0" indent="0">
              <a:buFont typeface="Wingdings 2" pitchFamily="18" charset="2"/>
              <a:buNone/>
            </a:pPr>
            <a:r>
              <a:rPr lang="en-US" altLang="zh-CN" b="0" kern="0" dirty="0" smtClean="0">
                <a:latin typeface="+mn-ea"/>
              </a:rPr>
              <a:t>     </a:t>
            </a:r>
            <a:r>
              <a:rPr lang="zh-CN" altLang="en-US" b="0" kern="0" dirty="0" smtClean="0">
                <a:latin typeface="+mn-ea"/>
              </a:rPr>
              <a:t>该机的</a:t>
            </a:r>
            <a:r>
              <a:rPr lang="en-US" altLang="zh-CN" b="0" kern="0" dirty="0" smtClean="0">
                <a:latin typeface="+mn-ea"/>
              </a:rPr>
              <a:t>MIPS</a:t>
            </a:r>
            <a:r>
              <a:rPr lang="zh-CN" altLang="en-US" b="0" kern="0" dirty="0" smtClean="0">
                <a:latin typeface="+mn-ea"/>
              </a:rPr>
              <a:t>数是 </a:t>
            </a:r>
          </a:p>
          <a:p>
            <a:pPr marL="0" indent="0">
              <a:buFont typeface="Wingdings 2" pitchFamily="18" charset="2"/>
              <a:buNone/>
            </a:pPr>
            <a:r>
              <a:rPr lang="zh-CN" altLang="en-US" b="0" kern="0" dirty="0" smtClean="0">
                <a:latin typeface="+mn-ea"/>
              </a:rPr>
              <a:t>     </a:t>
            </a:r>
            <a:r>
              <a:rPr lang="en-US" altLang="zh-CN" b="0" kern="0" dirty="0" smtClean="0">
                <a:latin typeface="+mn-ea"/>
              </a:rPr>
              <a:t>A. 100       B. 200       C. 400        D. 600</a:t>
            </a:r>
          </a:p>
          <a:p>
            <a:endParaRPr lang="zh-CN" altLang="en-US" b="0" kern="0" dirty="0">
              <a:latin typeface="+mn-ea"/>
            </a:endParaRPr>
          </a:p>
        </p:txBody>
      </p:sp>
    </p:spTree>
    <p:extLst>
      <p:ext uri="{BB962C8B-B14F-4D97-AF65-F5344CB8AC3E}">
        <p14:creationId xmlns:p14="http://schemas.microsoft.com/office/powerpoint/2010/main" val="217739372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6875" y="533400"/>
            <a:ext cx="7896225" cy="5800725"/>
          </a:xfrm>
        </p:spPr>
        <p:txBody>
          <a:bodyPr/>
          <a:lstStyle/>
          <a:p>
            <a:r>
              <a:rPr lang="en-US" altLang="zh-CN" sz="2800" b="0" dirty="0" smtClean="0">
                <a:latin typeface="黑体" panose="02010609060101010101" pitchFamily="49" charset="-122"/>
                <a:ea typeface="黑体" panose="02010609060101010101" pitchFamily="49" charset="-122"/>
              </a:rPr>
              <a:t>[2014</a:t>
            </a:r>
            <a:r>
              <a:rPr lang="zh-CN" altLang="en-US" sz="2800" b="0" dirty="0" smtClean="0">
                <a:latin typeface="黑体" panose="02010609060101010101" pitchFamily="49" charset="-122"/>
                <a:ea typeface="黑体" panose="02010609060101010101" pitchFamily="49" charset="-122"/>
              </a:rPr>
              <a:t>年考研题</a:t>
            </a:r>
            <a:r>
              <a:rPr lang="en-US" altLang="zh-CN" sz="2800" b="0" dirty="0" smtClean="0">
                <a:latin typeface="黑体" panose="02010609060101010101" pitchFamily="49" charset="-122"/>
                <a:ea typeface="黑体" panose="02010609060101010101" pitchFamily="49" charset="-122"/>
              </a:rPr>
              <a:t>] </a:t>
            </a:r>
            <a:r>
              <a:rPr lang="zh-CN" altLang="zh-CN" sz="2800" b="0" dirty="0" smtClean="0">
                <a:latin typeface="黑体" panose="02010609060101010101" pitchFamily="49" charset="-122"/>
                <a:ea typeface="黑体" panose="02010609060101010101" pitchFamily="49" charset="-122"/>
              </a:rPr>
              <a:t>程序</a:t>
            </a:r>
            <a:r>
              <a:rPr lang="en-US" altLang="zh-CN" sz="2800" b="0" dirty="0" smtClean="0">
                <a:latin typeface="黑体" panose="02010609060101010101" pitchFamily="49" charset="-122"/>
                <a:ea typeface="黑体" panose="02010609060101010101" pitchFamily="49" charset="-122"/>
              </a:rPr>
              <a:t>P</a:t>
            </a:r>
            <a:r>
              <a:rPr lang="zh-CN" altLang="zh-CN" sz="2800" b="0" dirty="0" smtClean="0">
                <a:latin typeface="黑体" panose="02010609060101010101" pitchFamily="49" charset="-122"/>
                <a:ea typeface="黑体" panose="02010609060101010101" pitchFamily="49" charset="-122"/>
              </a:rPr>
              <a:t>在机器</a:t>
            </a:r>
            <a:r>
              <a:rPr lang="en-US" altLang="zh-CN" sz="2800" b="0" dirty="0" smtClean="0">
                <a:latin typeface="黑体" panose="02010609060101010101" pitchFamily="49" charset="-122"/>
                <a:ea typeface="黑体" panose="02010609060101010101" pitchFamily="49" charset="-122"/>
              </a:rPr>
              <a:t>M</a:t>
            </a:r>
            <a:r>
              <a:rPr lang="zh-CN" altLang="zh-CN" sz="2800" b="0" dirty="0" smtClean="0">
                <a:latin typeface="黑体" panose="02010609060101010101" pitchFamily="49" charset="-122"/>
                <a:ea typeface="黑体" panose="02010609060101010101" pitchFamily="49" charset="-122"/>
              </a:rPr>
              <a:t>上</a:t>
            </a:r>
            <a:r>
              <a:rPr lang="zh-CN" altLang="zh-CN" sz="2800" b="0" dirty="0">
                <a:latin typeface="黑体" panose="02010609060101010101" pitchFamily="49" charset="-122"/>
                <a:ea typeface="黑体" panose="02010609060101010101" pitchFamily="49" charset="-122"/>
              </a:rPr>
              <a:t>的执行时间是 </a:t>
            </a:r>
            <a:r>
              <a:rPr lang="en-US" altLang="zh-CN" sz="2800" b="0" dirty="0">
                <a:latin typeface="黑体" panose="02010609060101010101" pitchFamily="49" charset="-122"/>
                <a:ea typeface="黑体" panose="02010609060101010101" pitchFamily="49" charset="-122"/>
              </a:rPr>
              <a:t>20 </a:t>
            </a:r>
            <a:r>
              <a:rPr lang="zh-CN" altLang="zh-CN" sz="2800" b="0" dirty="0">
                <a:latin typeface="黑体" panose="02010609060101010101" pitchFamily="49" charset="-122"/>
                <a:ea typeface="黑体" panose="02010609060101010101" pitchFamily="49" charset="-122"/>
              </a:rPr>
              <a:t>秒，编译优化后，</a:t>
            </a:r>
            <a:r>
              <a:rPr lang="en-US" altLang="zh-CN" sz="2800" b="0" dirty="0" smtClean="0">
                <a:latin typeface="黑体" panose="02010609060101010101" pitchFamily="49" charset="-122"/>
                <a:ea typeface="黑体" panose="02010609060101010101" pitchFamily="49" charset="-122"/>
              </a:rPr>
              <a:t>P</a:t>
            </a:r>
            <a:r>
              <a:rPr lang="zh-CN" altLang="zh-CN" sz="2800" b="0" dirty="0" smtClean="0">
                <a:latin typeface="黑体" panose="02010609060101010101" pitchFamily="49" charset="-122"/>
                <a:ea typeface="黑体" panose="02010609060101010101" pitchFamily="49" charset="-122"/>
              </a:rPr>
              <a:t>执行</a:t>
            </a:r>
            <a:r>
              <a:rPr lang="zh-CN" altLang="zh-CN" sz="2800" b="0" dirty="0">
                <a:latin typeface="黑体" panose="02010609060101010101" pitchFamily="49" charset="-122"/>
                <a:ea typeface="黑体" panose="02010609060101010101" pitchFamily="49" charset="-122"/>
              </a:rPr>
              <a:t>的指令数减少到</a:t>
            </a:r>
            <a:r>
              <a:rPr lang="zh-CN" altLang="zh-CN" sz="2800" b="0" dirty="0" smtClean="0">
                <a:latin typeface="黑体" panose="02010609060101010101" pitchFamily="49" charset="-122"/>
                <a:ea typeface="黑体" panose="02010609060101010101" pitchFamily="49" charset="-122"/>
              </a:rPr>
              <a:t>原来的 </a:t>
            </a:r>
            <a:r>
              <a:rPr lang="en-US" altLang="zh-CN" sz="2800" b="0" dirty="0">
                <a:latin typeface="黑体" panose="02010609060101010101" pitchFamily="49" charset="-122"/>
                <a:ea typeface="黑体" panose="02010609060101010101" pitchFamily="49" charset="-122"/>
              </a:rPr>
              <a:t>70%</a:t>
            </a:r>
            <a:r>
              <a:rPr lang="zh-CN" altLang="zh-CN" sz="2800" b="0" dirty="0">
                <a:latin typeface="黑体" panose="02010609060101010101" pitchFamily="49" charset="-122"/>
                <a:ea typeface="黑体" panose="02010609060101010101" pitchFamily="49" charset="-122"/>
              </a:rPr>
              <a:t>，而 </a:t>
            </a:r>
            <a:r>
              <a:rPr lang="en-US" altLang="zh-CN" sz="2800" b="0" dirty="0">
                <a:latin typeface="黑体" panose="02010609060101010101" pitchFamily="49" charset="-122"/>
                <a:ea typeface="黑体" panose="02010609060101010101" pitchFamily="49" charset="-122"/>
              </a:rPr>
              <a:t>CPI </a:t>
            </a:r>
            <a:r>
              <a:rPr lang="zh-CN" altLang="zh-CN" sz="2800" b="0" dirty="0">
                <a:latin typeface="黑体" panose="02010609060101010101" pitchFamily="49" charset="-122"/>
                <a:ea typeface="黑体" panose="02010609060101010101" pitchFamily="49" charset="-122"/>
              </a:rPr>
              <a:t>增加到原来的 </a:t>
            </a:r>
            <a:r>
              <a:rPr lang="en-US" altLang="zh-CN" sz="2800" b="0" dirty="0">
                <a:latin typeface="黑体" panose="02010609060101010101" pitchFamily="49" charset="-122"/>
                <a:ea typeface="黑体" panose="02010609060101010101" pitchFamily="49" charset="-122"/>
              </a:rPr>
              <a:t>1.2 </a:t>
            </a:r>
            <a:r>
              <a:rPr lang="zh-CN" altLang="zh-CN" sz="2800" b="0" dirty="0">
                <a:latin typeface="黑体" panose="02010609060101010101" pitchFamily="49" charset="-122"/>
                <a:ea typeface="黑体" panose="02010609060101010101" pitchFamily="49" charset="-122"/>
              </a:rPr>
              <a:t>倍，</a:t>
            </a:r>
            <a:r>
              <a:rPr lang="zh-CN" altLang="zh-CN" sz="2800" b="0" dirty="0" smtClean="0">
                <a:latin typeface="黑体" panose="02010609060101010101" pitchFamily="49" charset="-122"/>
                <a:ea typeface="黑体" panose="02010609060101010101" pitchFamily="49" charset="-122"/>
              </a:rPr>
              <a:t>则</a:t>
            </a:r>
            <a:r>
              <a:rPr lang="en-US" altLang="zh-CN" sz="2800" b="0" dirty="0" smtClean="0">
                <a:latin typeface="黑体" panose="02010609060101010101" pitchFamily="49" charset="-122"/>
                <a:ea typeface="黑体" panose="02010609060101010101" pitchFamily="49" charset="-122"/>
              </a:rPr>
              <a:t>P</a:t>
            </a:r>
            <a:r>
              <a:rPr lang="zh-CN" altLang="zh-CN" sz="2800" b="0" dirty="0" smtClean="0">
                <a:latin typeface="黑体" panose="02010609060101010101" pitchFamily="49" charset="-122"/>
                <a:ea typeface="黑体" panose="02010609060101010101" pitchFamily="49" charset="-122"/>
              </a:rPr>
              <a:t>在</a:t>
            </a:r>
            <a:r>
              <a:rPr lang="en-US" altLang="zh-CN" sz="2800" b="0" dirty="0" smtClean="0">
                <a:latin typeface="黑体" panose="02010609060101010101" pitchFamily="49" charset="-122"/>
                <a:ea typeface="黑体" panose="02010609060101010101" pitchFamily="49" charset="-122"/>
              </a:rPr>
              <a:t>M</a:t>
            </a:r>
            <a:r>
              <a:rPr lang="zh-CN" altLang="zh-CN" sz="2800" b="0" dirty="0" smtClean="0">
                <a:latin typeface="黑体" panose="02010609060101010101" pitchFamily="49" charset="-122"/>
                <a:ea typeface="黑体" panose="02010609060101010101" pitchFamily="49" charset="-122"/>
              </a:rPr>
              <a:t>上</a:t>
            </a:r>
            <a:r>
              <a:rPr lang="zh-CN" altLang="zh-CN" sz="2800" b="0" dirty="0">
                <a:latin typeface="黑体" panose="02010609060101010101" pitchFamily="49" charset="-122"/>
                <a:ea typeface="黑体" panose="02010609060101010101" pitchFamily="49" charset="-122"/>
              </a:rPr>
              <a:t>的执行时间</a:t>
            </a:r>
            <a:r>
              <a:rPr lang="zh-CN" altLang="zh-CN" sz="2800" b="0" dirty="0" smtClean="0">
                <a:latin typeface="黑体" panose="02010609060101010101" pitchFamily="49" charset="-122"/>
                <a:ea typeface="黑体" panose="02010609060101010101" pitchFamily="49" charset="-122"/>
              </a:rPr>
              <a:t>是</a:t>
            </a:r>
            <a:r>
              <a:rPr lang="en-US" altLang="zh-CN" sz="2800" b="0" u="sng" dirty="0" smtClean="0">
                <a:latin typeface="黑体" panose="02010609060101010101" pitchFamily="49" charset="-122"/>
                <a:ea typeface="黑体" panose="02010609060101010101" pitchFamily="49" charset="-122"/>
              </a:rPr>
              <a:t>  </a:t>
            </a:r>
            <a:endParaRPr lang="zh-CN" altLang="zh-CN" sz="2800" b="0" dirty="0">
              <a:latin typeface="黑体" panose="02010609060101010101" pitchFamily="49" charset="-122"/>
              <a:ea typeface="黑体" panose="02010609060101010101" pitchFamily="49" charset="-122"/>
            </a:endParaRPr>
          </a:p>
          <a:p>
            <a:pPr marL="0" indent="0">
              <a:buNone/>
            </a:pPr>
            <a:r>
              <a:rPr lang="en-US" altLang="zh-CN" sz="2800" b="0" dirty="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 	A</a:t>
            </a:r>
            <a:r>
              <a:rPr lang="zh-CN" altLang="zh-CN" sz="2800" b="0" dirty="0">
                <a:latin typeface="黑体" panose="02010609060101010101" pitchFamily="49" charset="-122"/>
                <a:ea typeface="黑体" panose="02010609060101010101" pitchFamily="49" charset="-122"/>
              </a:rPr>
              <a:t>．</a:t>
            </a:r>
            <a:r>
              <a:rPr lang="en-US" altLang="zh-CN" sz="2800" b="0" dirty="0" smtClean="0">
                <a:latin typeface="黑体" panose="02010609060101010101" pitchFamily="49" charset="-122"/>
                <a:ea typeface="黑体" panose="02010609060101010101" pitchFamily="49" charset="-122"/>
              </a:rPr>
              <a:t>8.4</a:t>
            </a:r>
            <a:r>
              <a:rPr lang="zh-CN" altLang="zh-CN" sz="2800" b="0" dirty="0" smtClean="0">
                <a:latin typeface="黑体" panose="02010609060101010101" pitchFamily="49" charset="-122"/>
                <a:ea typeface="黑体" panose="02010609060101010101" pitchFamily="49" charset="-122"/>
              </a:rPr>
              <a:t>秒</a:t>
            </a:r>
            <a:r>
              <a:rPr lang="en-US" altLang="zh-CN" sz="2800" b="0" dirty="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 	B</a:t>
            </a:r>
            <a:r>
              <a:rPr lang="zh-CN" altLang="zh-CN" sz="2800" b="0" dirty="0">
                <a:latin typeface="黑体" panose="02010609060101010101" pitchFamily="49" charset="-122"/>
                <a:ea typeface="黑体" panose="02010609060101010101" pitchFamily="49" charset="-122"/>
              </a:rPr>
              <a:t>．</a:t>
            </a:r>
            <a:r>
              <a:rPr lang="en-US" altLang="zh-CN" sz="2800" b="0" dirty="0" smtClean="0">
                <a:latin typeface="黑体" panose="02010609060101010101" pitchFamily="49" charset="-122"/>
                <a:ea typeface="黑体" panose="02010609060101010101" pitchFamily="49" charset="-122"/>
              </a:rPr>
              <a:t>11.7</a:t>
            </a:r>
            <a:r>
              <a:rPr lang="zh-CN" altLang="zh-CN" sz="2800" b="0" dirty="0" smtClean="0">
                <a:latin typeface="黑体" panose="02010609060101010101" pitchFamily="49" charset="-122"/>
                <a:ea typeface="黑体" panose="02010609060101010101" pitchFamily="49" charset="-122"/>
              </a:rPr>
              <a:t>秒</a:t>
            </a:r>
            <a:r>
              <a:rPr lang="en-US" altLang="zh-CN" sz="2800" b="0" dirty="0">
                <a:latin typeface="黑体" panose="02010609060101010101" pitchFamily="49" charset="-122"/>
                <a:ea typeface="黑体" panose="02010609060101010101" pitchFamily="49" charset="-122"/>
              </a:rPr>
              <a:t>	</a:t>
            </a:r>
            <a:endParaRPr lang="en-US" altLang="zh-CN" sz="2800" b="0" dirty="0" smtClean="0">
              <a:latin typeface="黑体" panose="02010609060101010101" pitchFamily="49" charset="-122"/>
              <a:ea typeface="黑体" panose="02010609060101010101" pitchFamily="49" charset="-122"/>
            </a:endParaRPr>
          </a:p>
          <a:p>
            <a:pPr marL="0" indent="0">
              <a:buNone/>
            </a:pPr>
            <a:r>
              <a:rPr lang="en-US" altLang="zh-CN" sz="2800" b="0" dirty="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C</a:t>
            </a:r>
            <a:r>
              <a:rPr lang="zh-CN" altLang="zh-CN" sz="2800" b="0" dirty="0">
                <a:latin typeface="黑体" panose="02010609060101010101" pitchFamily="49" charset="-122"/>
                <a:ea typeface="黑体" panose="02010609060101010101" pitchFamily="49" charset="-122"/>
              </a:rPr>
              <a:t>．</a:t>
            </a:r>
            <a:r>
              <a:rPr lang="en-US" altLang="zh-CN" sz="2800" b="0" dirty="0" smtClean="0">
                <a:latin typeface="黑体" panose="02010609060101010101" pitchFamily="49" charset="-122"/>
                <a:ea typeface="黑体" panose="02010609060101010101" pitchFamily="49" charset="-122"/>
              </a:rPr>
              <a:t>14</a:t>
            </a:r>
            <a:r>
              <a:rPr lang="zh-CN" altLang="zh-CN" sz="2800" b="0" dirty="0" smtClean="0">
                <a:latin typeface="黑体" panose="02010609060101010101" pitchFamily="49" charset="-122"/>
                <a:ea typeface="黑体" panose="02010609060101010101" pitchFamily="49" charset="-122"/>
              </a:rPr>
              <a:t>秒</a:t>
            </a:r>
            <a:r>
              <a:rPr lang="en-US" altLang="zh-CN" sz="2800" b="0" dirty="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	D</a:t>
            </a:r>
            <a:r>
              <a:rPr lang="zh-CN" altLang="zh-CN" sz="2800" b="0" dirty="0">
                <a:latin typeface="黑体" panose="02010609060101010101" pitchFamily="49" charset="-122"/>
                <a:ea typeface="黑体" panose="02010609060101010101" pitchFamily="49" charset="-122"/>
              </a:rPr>
              <a:t>．</a:t>
            </a:r>
            <a:r>
              <a:rPr lang="en-US" altLang="zh-CN" sz="2800" b="0" dirty="0" smtClean="0">
                <a:latin typeface="黑体" panose="02010609060101010101" pitchFamily="49" charset="-122"/>
                <a:ea typeface="黑体" panose="02010609060101010101" pitchFamily="49" charset="-122"/>
              </a:rPr>
              <a:t>16.8</a:t>
            </a:r>
            <a:r>
              <a:rPr lang="zh-CN" altLang="zh-CN" sz="2800" b="0" dirty="0" smtClean="0">
                <a:latin typeface="黑体" panose="02010609060101010101" pitchFamily="49" charset="-122"/>
                <a:ea typeface="黑体" panose="02010609060101010101" pitchFamily="49" charset="-122"/>
              </a:rPr>
              <a:t>秒</a:t>
            </a:r>
            <a:endParaRPr lang="zh-CN" altLang="zh-CN" sz="2800" b="0" dirty="0">
              <a:latin typeface="黑体" panose="02010609060101010101" pitchFamily="49" charset="-122"/>
              <a:ea typeface="黑体" panose="02010609060101010101" pitchFamily="49" charset="-122"/>
            </a:endParaRPr>
          </a:p>
          <a:p>
            <a:endParaRPr lang="zh-CN" altLang="en-US" sz="2800" b="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02993705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习题解答</a:t>
            </a:r>
            <a:endParaRPr lang="zh-CN" altLang="en-US" dirty="0"/>
          </a:p>
        </p:txBody>
      </p:sp>
      <p:sp>
        <p:nvSpPr>
          <p:cNvPr id="4" name="内容占位符 2"/>
          <p:cNvSpPr>
            <a:spLocks noGrp="1"/>
          </p:cNvSpPr>
          <p:nvPr>
            <p:ph idx="1"/>
          </p:nvPr>
        </p:nvSpPr>
        <p:spPr>
          <a:xfrm>
            <a:off x="396875" y="1143000"/>
            <a:ext cx="8213725" cy="5191125"/>
          </a:xfrm>
        </p:spPr>
        <p:txBody>
          <a:bodyPr/>
          <a:lstStyle/>
          <a:p>
            <a:r>
              <a:rPr lang="en-US" altLang="zh-CN" sz="2800" b="0" dirty="0" smtClean="0">
                <a:latin typeface="黑体" panose="02010609060101010101" pitchFamily="49" charset="-122"/>
                <a:ea typeface="黑体" panose="02010609060101010101" pitchFamily="49" charset="-122"/>
              </a:rPr>
              <a:t>[2014</a:t>
            </a:r>
            <a:r>
              <a:rPr lang="zh-CN" altLang="en-US" sz="2800" b="0" dirty="0" smtClean="0">
                <a:latin typeface="黑体" panose="02010609060101010101" pitchFamily="49" charset="-122"/>
                <a:ea typeface="黑体" panose="02010609060101010101" pitchFamily="49" charset="-122"/>
              </a:rPr>
              <a:t>年考研题</a:t>
            </a:r>
            <a:r>
              <a:rPr lang="en-US" altLang="zh-CN" sz="2800" b="0" dirty="0" smtClean="0">
                <a:latin typeface="黑体" panose="02010609060101010101" pitchFamily="49" charset="-122"/>
                <a:ea typeface="黑体" panose="02010609060101010101" pitchFamily="49" charset="-122"/>
              </a:rPr>
              <a:t>] </a:t>
            </a:r>
            <a:r>
              <a:rPr lang="zh-CN" altLang="zh-CN" sz="2800" b="0" dirty="0" smtClean="0">
                <a:latin typeface="黑体" panose="02010609060101010101" pitchFamily="49" charset="-122"/>
                <a:ea typeface="黑体" panose="02010609060101010101" pitchFamily="49" charset="-122"/>
              </a:rPr>
              <a:t>程序</a:t>
            </a:r>
            <a:r>
              <a:rPr lang="en-US" altLang="zh-CN" sz="2800" b="0" dirty="0" smtClean="0">
                <a:latin typeface="黑体" panose="02010609060101010101" pitchFamily="49" charset="-122"/>
                <a:ea typeface="黑体" panose="02010609060101010101" pitchFamily="49" charset="-122"/>
              </a:rPr>
              <a:t>P</a:t>
            </a:r>
            <a:r>
              <a:rPr lang="zh-CN" altLang="zh-CN" sz="2800" b="0" dirty="0" smtClean="0">
                <a:latin typeface="黑体" panose="02010609060101010101" pitchFamily="49" charset="-122"/>
                <a:ea typeface="黑体" panose="02010609060101010101" pitchFamily="49" charset="-122"/>
              </a:rPr>
              <a:t>在机器</a:t>
            </a:r>
            <a:r>
              <a:rPr lang="en-US" altLang="zh-CN" sz="2800" b="0" dirty="0" smtClean="0">
                <a:latin typeface="黑体" panose="02010609060101010101" pitchFamily="49" charset="-122"/>
                <a:ea typeface="黑体" panose="02010609060101010101" pitchFamily="49" charset="-122"/>
              </a:rPr>
              <a:t>M</a:t>
            </a:r>
            <a:r>
              <a:rPr lang="zh-CN" altLang="zh-CN" sz="2800" b="0" dirty="0" smtClean="0">
                <a:latin typeface="黑体" panose="02010609060101010101" pitchFamily="49" charset="-122"/>
                <a:ea typeface="黑体" panose="02010609060101010101" pitchFamily="49" charset="-122"/>
              </a:rPr>
              <a:t>上</a:t>
            </a:r>
            <a:r>
              <a:rPr lang="zh-CN" altLang="zh-CN" sz="2800" b="0" dirty="0">
                <a:latin typeface="黑体" panose="02010609060101010101" pitchFamily="49" charset="-122"/>
                <a:ea typeface="黑体" panose="02010609060101010101" pitchFamily="49" charset="-122"/>
              </a:rPr>
              <a:t>的执行时间是 </a:t>
            </a:r>
            <a:r>
              <a:rPr lang="en-US" altLang="zh-CN" sz="2800" b="0" dirty="0">
                <a:latin typeface="黑体" panose="02010609060101010101" pitchFamily="49" charset="-122"/>
                <a:ea typeface="黑体" panose="02010609060101010101" pitchFamily="49" charset="-122"/>
              </a:rPr>
              <a:t>20 </a:t>
            </a:r>
            <a:r>
              <a:rPr lang="zh-CN" altLang="zh-CN" sz="2800" b="0" dirty="0">
                <a:latin typeface="黑体" panose="02010609060101010101" pitchFamily="49" charset="-122"/>
                <a:ea typeface="黑体" panose="02010609060101010101" pitchFamily="49" charset="-122"/>
              </a:rPr>
              <a:t>秒，编译优化后，</a:t>
            </a:r>
            <a:r>
              <a:rPr lang="en-US" altLang="zh-CN" sz="2800" b="0" dirty="0" smtClean="0">
                <a:latin typeface="黑体" panose="02010609060101010101" pitchFamily="49" charset="-122"/>
                <a:ea typeface="黑体" panose="02010609060101010101" pitchFamily="49" charset="-122"/>
              </a:rPr>
              <a:t>P</a:t>
            </a:r>
            <a:r>
              <a:rPr lang="zh-CN" altLang="zh-CN" sz="2800" b="0" dirty="0" smtClean="0">
                <a:latin typeface="黑体" panose="02010609060101010101" pitchFamily="49" charset="-122"/>
                <a:ea typeface="黑体" panose="02010609060101010101" pitchFamily="49" charset="-122"/>
              </a:rPr>
              <a:t>执行</a:t>
            </a:r>
            <a:r>
              <a:rPr lang="zh-CN" altLang="zh-CN" sz="2800" b="0" dirty="0">
                <a:latin typeface="黑体" panose="02010609060101010101" pitchFamily="49" charset="-122"/>
                <a:ea typeface="黑体" panose="02010609060101010101" pitchFamily="49" charset="-122"/>
              </a:rPr>
              <a:t>的指令数减少到</a:t>
            </a:r>
            <a:r>
              <a:rPr lang="zh-CN" altLang="zh-CN" sz="2800" b="0" dirty="0" smtClean="0">
                <a:latin typeface="黑体" panose="02010609060101010101" pitchFamily="49" charset="-122"/>
                <a:ea typeface="黑体" panose="02010609060101010101" pitchFamily="49" charset="-122"/>
              </a:rPr>
              <a:t>原来的 </a:t>
            </a:r>
            <a:r>
              <a:rPr lang="en-US" altLang="zh-CN" sz="2800" b="0" dirty="0">
                <a:latin typeface="黑体" panose="02010609060101010101" pitchFamily="49" charset="-122"/>
                <a:ea typeface="黑体" panose="02010609060101010101" pitchFamily="49" charset="-122"/>
              </a:rPr>
              <a:t>70%</a:t>
            </a:r>
            <a:r>
              <a:rPr lang="zh-CN" altLang="zh-CN" sz="2800" b="0" dirty="0">
                <a:latin typeface="黑体" panose="02010609060101010101" pitchFamily="49" charset="-122"/>
                <a:ea typeface="黑体" panose="02010609060101010101" pitchFamily="49" charset="-122"/>
              </a:rPr>
              <a:t>，而 </a:t>
            </a:r>
            <a:r>
              <a:rPr lang="en-US" altLang="zh-CN" sz="2800" b="0" dirty="0">
                <a:latin typeface="黑体" panose="02010609060101010101" pitchFamily="49" charset="-122"/>
                <a:ea typeface="黑体" panose="02010609060101010101" pitchFamily="49" charset="-122"/>
              </a:rPr>
              <a:t>CPI </a:t>
            </a:r>
            <a:r>
              <a:rPr lang="zh-CN" altLang="zh-CN" sz="2800" b="0" dirty="0">
                <a:latin typeface="黑体" panose="02010609060101010101" pitchFamily="49" charset="-122"/>
                <a:ea typeface="黑体" panose="02010609060101010101" pitchFamily="49" charset="-122"/>
              </a:rPr>
              <a:t>增加到原来的 </a:t>
            </a:r>
            <a:r>
              <a:rPr lang="en-US" altLang="zh-CN" sz="2800" b="0" dirty="0">
                <a:latin typeface="黑体" panose="02010609060101010101" pitchFamily="49" charset="-122"/>
                <a:ea typeface="黑体" panose="02010609060101010101" pitchFamily="49" charset="-122"/>
              </a:rPr>
              <a:t>1.2 </a:t>
            </a:r>
            <a:r>
              <a:rPr lang="zh-CN" altLang="zh-CN" sz="2800" b="0" dirty="0">
                <a:latin typeface="黑体" panose="02010609060101010101" pitchFamily="49" charset="-122"/>
                <a:ea typeface="黑体" panose="02010609060101010101" pitchFamily="49" charset="-122"/>
              </a:rPr>
              <a:t>倍，</a:t>
            </a:r>
            <a:r>
              <a:rPr lang="zh-CN" altLang="zh-CN" sz="2800" b="0" dirty="0" smtClean="0">
                <a:latin typeface="黑体" panose="02010609060101010101" pitchFamily="49" charset="-122"/>
                <a:ea typeface="黑体" panose="02010609060101010101" pitchFamily="49" charset="-122"/>
              </a:rPr>
              <a:t>则</a:t>
            </a:r>
            <a:r>
              <a:rPr lang="en-US" altLang="zh-CN" sz="2800" b="0" dirty="0" smtClean="0">
                <a:latin typeface="黑体" panose="02010609060101010101" pitchFamily="49" charset="-122"/>
                <a:ea typeface="黑体" panose="02010609060101010101" pitchFamily="49" charset="-122"/>
              </a:rPr>
              <a:t>P</a:t>
            </a:r>
            <a:r>
              <a:rPr lang="zh-CN" altLang="zh-CN" sz="2800" b="0" dirty="0" smtClean="0">
                <a:latin typeface="黑体" panose="02010609060101010101" pitchFamily="49" charset="-122"/>
                <a:ea typeface="黑体" panose="02010609060101010101" pitchFamily="49" charset="-122"/>
              </a:rPr>
              <a:t>在</a:t>
            </a:r>
            <a:r>
              <a:rPr lang="en-US" altLang="zh-CN" sz="2800" b="0" dirty="0" smtClean="0">
                <a:latin typeface="黑体" panose="02010609060101010101" pitchFamily="49" charset="-122"/>
                <a:ea typeface="黑体" panose="02010609060101010101" pitchFamily="49" charset="-122"/>
              </a:rPr>
              <a:t>M</a:t>
            </a:r>
            <a:r>
              <a:rPr lang="zh-CN" altLang="zh-CN" sz="2800" b="0" dirty="0" smtClean="0">
                <a:latin typeface="黑体" panose="02010609060101010101" pitchFamily="49" charset="-122"/>
                <a:ea typeface="黑体" panose="02010609060101010101" pitchFamily="49" charset="-122"/>
              </a:rPr>
              <a:t>上</a:t>
            </a:r>
            <a:r>
              <a:rPr lang="zh-CN" altLang="zh-CN" sz="2800" b="0" dirty="0">
                <a:latin typeface="黑体" panose="02010609060101010101" pitchFamily="49" charset="-122"/>
                <a:ea typeface="黑体" panose="02010609060101010101" pitchFamily="49" charset="-122"/>
              </a:rPr>
              <a:t>的执行时间</a:t>
            </a:r>
            <a:r>
              <a:rPr lang="zh-CN" altLang="zh-CN" sz="2800" b="0" dirty="0" smtClean="0">
                <a:latin typeface="黑体" panose="02010609060101010101" pitchFamily="49" charset="-122"/>
                <a:ea typeface="黑体" panose="02010609060101010101" pitchFamily="49" charset="-122"/>
              </a:rPr>
              <a:t>是</a:t>
            </a:r>
            <a:r>
              <a:rPr lang="en-US" altLang="zh-CN" sz="2800" b="0" u="sng" dirty="0" smtClean="0">
                <a:latin typeface="黑体" panose="02010609060101010101" pitchFamily="49" charset="-122"/>
                <a:ea typeface="黑体" panose="02010609060101010101" pitchFamily="49" charset="-122"/>
              </a:rPr>
              <a:t>  </a:t>
            </a:r>
            <a:endParaRPr lang="zh-CN" altLang="zh-CN" sz="2800" b="0" dirty="0">
              <a:latin typeface="黑体" panose="02010609060101010101" pitchFamily="49" charset="-122"/>
              <a:ea typeface="黑体" panose="02010609060101010101" pitchFamily="49" charset="-122"/>
            </a:endParaRPr>
          </a:p>
          <a:p>
            <a:pPr marL="0" indent="0">
              <a:buNone/>
            </a:pPr>
            <a:r>
              <a:rPr lang="en-US" altLang="zh-CN" sz="2800" b="0" dirty="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 	A</a:t>
            </a:r>
            <a:r>
              <a:rPr lang="zh-CN" altLang="zh-CN" sz="2800" b="0" dirty="0">
                <a:latin typeface="黑体" panose="02010609060101010101" pitchFamily="49" charset="-122"/>
                <a:ea typeface="黑体" panose="02010609060101010101" pitchFamily="49" charset="-122"/>
              </a:rPr>
              <a:t>．</a:t>
            </a:r>
            <a:r>
              <a:rPr lang="en-US" altLang="zh-CN" sz="2800" b="0" dirty="0" smtClean="0">
                <a:latin typeface="黑体" panose="02010609060101010101" pitchFamily="49" charset="-122"/>
                <a:ea typeface="黑体" panose="02010609060101010101" pitchFamily="49" charset="-122"/>
              </a:rPr>
              <a:t>8.4</a:t>
            </a:r>
            <a:r>
              <a:rPr lang="zh-CN" altLang="zh-CN" sz="2800" b="0" dirty="0" smtClean="0">
                <a:latin typeface="黑体" panose="02010609060101010101" pitchFamily="49" charset="-122"/>
                <a:ea typeface="黑体" panose="02010609060101010101" pitchFamily="49" charset="-122"/>
              </a:rPr>
              <a:t>秒</a:t>
            </a:r>
            <a:r>
              <a:rPr lang="en-US" altLang="zh-CN" sz="2800" b="0" dirty="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 	B</a:t>
            </a:r>
            <a:r>
              <a:rPr lang="zh-CN" altLang="zh-CN" sz="2800" b="0" dirty="0">
                <a:latin typeface="黑体" panose="02010609060101010101" pitchFamily="49" charset="-122"/>
                <a:ea typeface="黑体" panose="02010609060101010101" pitchFamily="49" charset="-122"/>
              </a:rPr>
              <a:t>．</a:t>
            </a:r>
            <a:r>
              <a:rPr lang="en-US" altLang="zh-CN" sz="2800" b="0" dirty="0" smtClean="0">
                <a:latin typeface="黑体" panose="02010609060101010101" pitchFamily="49" charset="-122"/>
                <a:ea typeface="黑体" panose="02010609060101010101" pitchFamily="49" charset="-122"/>
              </a:rPr>
              <a:t>11.7</a:t>
            </a:r>
            <a:r>
              <a:rPr lang="zh-CN" altLang="zh-CN" sz="2800" b="0" dirty="0" smtClean="0">
                <a:latin typeface="黑体" panose="02010609060101010101" pitchFamily="49" charset="-122"/>
                <a:ea typeface="黑体" panose="02010609060101010101" pitchFamily="49" charset="-122"/>
              </a:rPr>
              <a:t>秒</a:t>
            </a:r>
            <a:r>
              <a:rPr lang="en-US" altLang="zh-CN" sz="2800" b="0" dirty="0">
                <a:latin typeface="黑体" panose="02010609060101010101" pitchFamily="49" charset="-122"/>
                <a:ea typeface="黑体" panose="02010609060101010101" pitchFamily="49" charset="-122"/>
              </a:rPr>
              <a:t>	</a:t>
            </a:r>
            <a:endParaRPr lang="en-US" altLang="zh-CN" sz="2800" b="0" dirty="0" smtClean="0">
              <a:latin typeface="黑体" panose="02010609060101010101" pitchFamily="49" charset="-122"/>
              <a:ea typeface="黑体" panose="02010609060101010101" pitchFamily="49" charset="-122"/>
            </a:endParaRPr>
          </a:p>
          <a:p>
            <a:pPr marL="0" indent="0">
              <a:buNone/>
            </a:pPr>
            <a:r>
              <a:rPr lang="en-US" altLang="zh-CN" sz="2800" b="0" dirty="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C</a:t>
            </a:r>
            <a:r>
              <a:rPr lang="zh-CN" altLang="zh-CN" sz="2800" b="0" dirty="0">
                <a:latin typeface="黑体" panose="02010609060101010101" pitchFamily="49" charset="-122"/>
                <a:ea typeface="黑体" panose="02010609060101010101" pitchFamily="49" charset="-122"/>
              </a:rPr>
              <a:t>．</a:t>
            </a:r>
            <a:r>
              <a:rPr lang="en-US" altLang="zh-CN" sz="2800" b="0" dirty="0" smtClean="0">
                <a:latin typeface="黑体" panose="02010609060101010101" pitchFamily="49" charset="-122"/>
                <a:ea typeface="黑体" panose="02010609060101010101" pitchFamily="49" charset="-122"/>
              </a:rPr>
              <a:t>14</a:t>
            </a:r>
            <a:r>
              <a:rPr lang="zh-CN" altLang="zh-CN" sz="2800" b="0" dirty="0" smtClean="0">
                <a:latin typeface="黑体" panose="02010609060101010101" pitchFamily="49" charset="-122"/>
                <a:ea typeface="黑体" panose="02010609060101010101" pitchFamily="49" charset="-122"/>
              </a:rPr>
              <a:t>秒</a:t>
            </a:r>
            <a:r>
              <a:rPr lang="en-US" altLang="zh-CN" sz="2800" b="0" dirty="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	D</a:t>
            </a:r>
            <a:r>
              <a:rPr lang="zh-CN" altLang="zh-CN" sz="2800" b="0" dirty="0">
                <a:latin typeface="黑体" panose="02010609060101010101" pitchFamily="49" charset="-122"/>
                <a:ea typeface="黑体" panose="02010609060101010101" pitchFamily="49" charset="-122"/>
              </a:rPr>
              <a:t>．</a:t>
            </a:r>
            <a:r>
              <a:rPr lang="en-US" altLang="zh-CN" sz="2800" b="0" dirty="0" smtClean="0">
                <a:latin typeface="黑体" panose="02010609060101010101" pitchFamily="49" charset="-122"/>
                <a:ea typeface="黑体" panose="02010609060101010101" pitchFamily="49" charset="-122"/>
              </a:rPr>
              <a:t>16.8</a:t>
            </a:r>
            <a:r>
              <a:rPr lang="zh-CN" altLang="zh-CN" sz="2800" b="0" dirty="0" smtClean="0">
                <a:latin typeface="黑体" panose="02010609060101010101" pitchFamily="49" charset="-122"/>
                <a:ea typeface="黑体" panose="02010609060101010101" pitchFamily="49" charset="-122"/>
              </a:rPr>
              <a:t>秒</a:t>
            </a:r>
            <a:endParaRPr lang="en-US" altLang="zh-CN" sz="2800" b="0" dirty="0" smtClean="0">
              <a:latin typeface="黑体" panose="02010609060101010101" pitchFamily="49" charset="-122"/>
              <a:ea typeface="黑体" panose="02010609060101010101" pitchFamily="49" charset="-122"/>
            </a:endParaRPr>
          </a:p>
          <a:p>
            <a:pPr marL="0" indent="0">
              <a:buNone/>
            </a:pPr>
            <a:endParaRPr lang="zh-CN" altLang="zh-CN" sz="2800" b="0" dirty="0">
              <a:latin typeface="黑体" panose="02010609060101010101" pitchFamily="49" charset="-122"/>
              <a:ea typeface="黑体" panose="02010609060101010101" pitchFamily="49" charset="-122"/>
            </a:endParaRPr>
          </a:p>
          <a:p>
            <a:r>
              <a:rPr lang="zh-CN" altLang="en-US" sz="2800" b="0" dirty="0">
                <a:latin typeface="黑体" panose="02010609060101010101" pitchFamily="49" charset="-122"/>
                <a:ea typeface="黑体" panose="02010609060101010101" pitchFamily="49" charset="-122"/>
              </a:rPr>
              <a:t>设原来指令条数为 </a:t>
            </a:r>
            <a:r>
              <a:rPr lang="en-US" altLang="zh-CN" sz="2800" b="0" dirty="0">
                <a:latin typeface="黑体" panose="02010609060101010101" pitchFamily="49" charset="-122"/>
                <a:ea typeface="黑体" panose="02010609060101010101" pitchFamily="49" charset="-122"/>
              </a:rPr>
              <a:t>x</a:t>
            </a:r>
            <a:r>
              <a:rPr lang="zh-CN" altLang="en-US" sz="2800" b="0" dirty="0">
                <a:latin typeface="黑体" panose="02010609060101010101" pitchFamily="49" charset="-122"/>
                <a:ea typeface="黑体" panose="02010609060101010101" pitchFamily="49" charset="-122"/>
              </a:rPr>
              <a:t>，那么</a:t>
            </a:r>
            <a:r>
              <a:rPr lang="zh-CN" altLang="en-US" sz="2800" b="0" dirty="0" smtClean="0">
                <a:latin typeface="黑体" panose="02010609060101010101" pitchFamily="49" charset="-122"/>
                <a:ea typeface="黑体" panose="02010609060101010101" pitchFamily="49" charset="-122"/>
              </a:rPr>
              <a:t>原</a:t>
            </a:r>
            <a:r>
              <a:rPr lang="en-US" altLang="zh-CN" sz="2800" b="0" dirty="0" smtClean="0">
                <a:latin typeface="黑体" panose="02010609060101010101" pitchFamily="49" charset="-122"/>
                <a:ea typeface="黑体" panose="02010609060101010101" pitchFamily="49" charset="-122"/>
              </a:rPr>
              <a:t>CPI</a:t>
            </a:r>
            <a:r>
              <a:rPr lang="zh-CN" altLang="en-US" sz="2800" b="0" dirty="0" smtClean="0">
                <a:latin typeface="黑体" panose="02010609060101010101" pitchFamily="49" charset="-122"/>
                <a:ea typeface="黑体" panose="02010609060101010101" pitchFamily="49" charset="-122"/>
              </a:rPr>
              <a:t>就</a:t>
            </a:r>
            <a:r>
              <a:rPr lang="zh-CN" altLang="en-US" sz="2800" b="0" dirty="0">
                <a:latin typeface="黑体" panose="02010609060101010101" pitchFamily="49" charset="-122"/>
                <a:ea typeface="黑体" panose="02010609060101010101" pitchFamily="49" charset="-122"/>
              </a:rPr>
              <a:t>为 </a:t>
            </a:r>
            <a:r>
              <a:rPr lang="en-US" altLang="zh-CN" sz="2800" b="0" dirty="0">
                <a:latin typeface="黑体" panose="02010609060101010101" pitchFamily="49" charset="-122"/>
                <a:ea typeface="黑体" panose="02010609060101010101" pitchFamily="49" charset="-122"/>
              </a:rPr>
              <a:t>20/x</a:t>
            </a:r>
            <a:r>
              <a:rPr lang="zh-CN" altLang="en-US" sz="2800" b="0" dirty="0">
                <a:latin typeface="黑体" panose="02010609060101010101" pitchFamily="49" charset="-122"/>
                <a:ea typeface="黑体" panose="02010609060101010101" pitchFamily="49" charset="-122"/>
              </a:rPr>
              <a:t>，经过编译优化后，指令条数减少 到原来的 </a:t>
            </a:r>
            <a:r>
              <a:rPr lang="en-US" altLang="zh-CN" sz="2800" b="0" dirty="0">
                <a:latin typeface="黑体" panose="02010609060101010101" pitchFamily="49" charset="-122"/>
                <a:ea typeface="黑体" panose="02010609060101010101" pitchFamily="49" charset="-122"/>
              </a:rPr>
              <a:t>70%</a:t>
            </a:r>
            <a:r>
              <a:rPr lang="zh-CN" altLang="en-US" sz="2800" b="0" dirty="0">
                <a:latin typeface="黑体" panose="02010609060101010101" pitchFamily="49" charset="-122"/>
                <a:ea typeface="黑体" panose="02010609060101010101" pitchFamily="49" charset="-122"/>
              </a:rPr>
              <a:t>，即指令条数为 </a:t>
            </a:r>
            <a:r>
              <a:rPr lang="en-US" altLang="zh-CN" sz="2800" b="0" dirty="0">
                <a:latin typeface="黑体" panose="02010609060101010101" pitchFamily="49" charset="-122"/>
                <a:ea typeface="黑体" panose="02010609060101010101" pitchFamily="49" charset="-122"/>
              </a:rPr>
              <a:t>0.7x</a:t>
            </a:r>
            <a:r>
              <a:rPr lang="zh-CN" altLang="en-US" sz="2800" b="0" dirty="0">
                <a:latin typeface="黑体" panose="02010609060101010101" pitchFamily="49" charset="-122"/>
                <a:ea typeface="黑体" panose="02010609060101010101" pitchFamily="49" charset="-122"/>
              </a:rPr>
              <a:t>，而 </a:t>
            </a:r>
            <a:r>
              <a:rPr lang="en-US" altLang="zh-CN" sz="2800" b="0" dirty="0">
                <a:latin typeface="黑体" panose="02010609060101010101" pitchFamily="49" charset="-122"/>
                <a:ea typeface="黑体" panose="02010609060101010101" pitchFamily="49" charset="-122"/>
              </a:rPr>
              <a:t>CPI </a:t>
            </a:r>
            <a:r>
              <a:rPr lang="zh-CN" altLang="en-US" sz="2800" b="0" dirty="0">
                <a:latin typeface="黑体" panose="02010609060101010101" pitchFamily="49" charset="-122"/>
                <a:ea typeface="黑体" panose="02010609060101010101" pitchFamily="49" charset="-122"/>
              </a:rPr>
              <a:t>增加到原来的 </a:t>
            </a:r>
            <a:r>
              <a:rPr lang="en-US" altLang="zh-CN" sz="2800" b="0" dirty="0">
                <a:latin typeface="黑体" panose="02010609060101010101" pitchFamily="49" charset="-122"/>
                <a:ea typeface="黑体" panose="02010609060101010101" pitchFamily="49" charset="-122"/>
              </a:rPr>
              <a:t>1.2 </a:t>
            </a:r>
            <a:r>
              <a:rPr lang="zh-CN" altLang="en-US" sz="2800" b="0" dirty="0">
                <a:latin typeface="黑体" panose="02010609060101010101" pitchFamily="49" charset="-122"/>
                <a:ea typeface="黑体" panose="02010609060101010101" pitchFamily="49" charset="-122"/>
              </a:rPr>
              <a:t>倍，即 </a:t>
            </a:r>
            <a:r>
              <a:rPr lang="en-US" altLang="zh-CN" sz="2800" b="0" dirty="0">
                <a:latin typeface="黑体" panose="02010609060101010101" pitchFamily="49" charset="-122"/>
                <a:ea typeface="黑体" panose="02010609060101010101" pitchFamily="49" charset="-122"/>
              </a:rPr>
              <a:t>24/x</a:t>
            </a:r>
            <a:r>
              <a:rPr lang="zh-CN" altLang="en-US" sz="2800" b="0" dirty="0">
                <a:latin typeface="黑体" panose="02010609060101010101" pitchFamily="49" charset="-122"/>
                <a:ea typeface="黑体" panose="02010609060101010101" pitchFamily="49" charset="-122"/>
              </a:rPr>
              <a:t>，那么现在 </a:t>
            </a:r>
            <a:r>
              <a:rPr lang="en-US" altLang="zh-CN" sz="2800" b="0" dirty="0">
                <a:latin typeface="黑体" panose="02010609060101010101" pitchFamily="49" charset="-122"/>
                <a:ea typeface="黑体" panose="02010609060101010101" pitchFamily="49" charset="-122"/>
              </a:rPr>
              <a:t>P </a:t>
            </a:r>
            <a:r>
              <a:rPr lang="zh-CN" altLang="en-US" sz="2800" b="0" dirty="0">
                <a:latin typeface="黑体" panose="02010609060101010101" pitchFamily="49" charset="-122"/>
                <a:ea typeface="黑体" panose="02010609060101010101" pitchFamily="49" charset="-122"/>
              </a:rPr>
              <a:t>在 </a:t>
            </a:r>
            <a:r>
              <a:rPr lang="en-US" altLang="zh-CN" sz="2800" b="0" dirty="0">
                <a:latin typeface="黑体" panose="02010609060101010101" pitchFamily="49" charset="-122"/>
                <a:ea typeface="黑体" panose="02010609060101010101" pitchFamily="49" charset="-122"/>
              </a:rPr>
              <a:t>M </a:t>
            </a:r>
            <a:r>
              <a:rPr lang="zh-CN" altLang="en-US" sz="2800" b="0" dirty="0">
                <a:latin typeface="黑体" panose="02010609060101010101" pitchFamily="49" charset="-122"/>
                <a:ea typeface="黑体" panose="02010609060101010101" pitchFamily="49" charset="-122"/>
              </a:rPr>
              <a:t>上的执行时间就为指令条数*</a:t>
            </a:r>
            <a:r>
              <a:rPr lang="en-US" altLang="zh-CN" sz="2800" b="0" dirty="0">
                <a:latin typeface="黑体" panose="02010609060101010101" pitchFamily="49" charset="-122"/>
                <a:ea typeface="黑体" panose="02010609060101010101" pitchFamily="49" charset="-122"/>
              </a:rPr>
              <a:t>CPI=0.7x*24/x=24*0.7=16.8 </a:t>
            </a:r>
            <a:r>
              <a:rPr lang="zh-CN" altLang="en-US" sz="2800" b="0" dirty="0">
                <a:latin typeface="黑体" panose="02010609060101010101" pitchFamily="49" charset="-122"/>
                <a:ea typeface="黑体" panose="02010609060101010101" pitchFamily="49" charset="-122"/>
              </a:rPr>
              <a:t>秒</a:t>
            </a:r>
          </a:p>
        </p:txBody>
      </p:sp>
    </p:spTree>
    <p:extLst>
      <p:ext uri="{BB962C8B-B14F-4D97-AF65-F5344CB8AC3E}">
        <p14:creationId xmlns:p14="http://schemas.microsoft.com/office/powerpoint/2010/main" val="23006654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6875" y="533400"/>
            <a:ext cx="7896225" cy="5800725"/>
          </a:xfrm>
        </p:spPr>
        <p:txBody>
          <a:bodyPr/>
          <a:lstStyle/>
          <a:p>
            <a:r>
              <a:rPr lang="en-US" altLang="zh-CN" sz="2800" b="0" dirty="0" smtClean="0">
                <a:latin typeface="黑体" panose="02010609060101010101" pitchFamily="49" charset="-122"/>
                <a:ea typeface="黑体" panose="02010609060101010101" pitchFamily="49" charset="-122"/>
              </a:rPr>
              <a:t>[2013</a:t>
            </a:r>
            <a:r>
              <a:rPr lang="zh-CN" altLang="en-US" sz="2800" b="0" dirty="0" smtClean="0">
                <a:latin typeface="黑体" panose="02010609060101010101" pitchFamily="49" charset="-122"/>
                <a:ea typeface="黑体" panose="02010609060101010101" pitchFamily="49" charset="-122"/>
              </a:rPr>
              <a:t>年考研题</a:t>
            </a:r>
            <a:r>
              <a:rPr lang="en-US" altLang="zh-CN" sz="2800" b="0" dirty="0" smtClean="0">
                <a:latin typeface="黑体" panose="02010609060101010101" pitchFamily="49" charset="-122"/>
                <a:ea typeface="黑体" panose="02010609060101010101" pitchFamily="49" charset="-122"/>
              </a:rPr>
              <a:t>] </a:t>
            </a:r>
            <a:r>
              <a:rPr lang="zh-CN" altLang="en-US" sz="2800" b="0" dirty="0" smtClean="0">
                <a:latin typeface="黑体" panose="02010609060101010101" pitchFamily="49" charset="-122"/>
                <a:ea typeface="黑体" panose="02010609060101010101" pitchFamily="49" charset="-122"/>
              </a:rPr>
              <a:t>某</a:t>
            </a:r>
            <a:r>
              <a:rPr lang="zh-CN" altLang="en-US" sz="2800" b="0" dirty="0">
                <a:latin typeface="黑体" panose="02010609060101010101" pitchFamily="49" charset="-122"/>
                <a:ea typeface="黑体" panose="02010609060101010101" pitchFamily="49" charset="-122"/>
              </a:rPr>
              <a:t>数采用</a:t>
            </a:r>
            <a:r>
              <a:rPr lang="en-US" altLang="zh-CN" sz="2800" b="0" dirty="0">
                <a:latin typeface="黑体" panose="02010609060101010101" pitchFamily="49" charset="-122"/>
                <a:ea typeface="黑体" panose="02010609060101010101" pitchFamily="49" charset="-122"/>
              </a:rPr>
              <a:t>IEEE 754 </a:t>
            </a:r>
            <a:r>
              <a:rPr lang="zh-CN" altLang="en-US" sz="2800" b="0" dirty="0">
                <a:latin typeface="黑体" panose="02010609060101010101" pitchFamily="49" charset="-122"/>
                <a:ea typeface="黑体" panose="02010609060101010101" pitchFamily="49" charset="-122"/>
              </a:rPr>
              <a:t>单精度浮点数格式表示为</a:t>
            </a:r>
            <a:r>
              <a:rPr lang="en-US" altLang="zh-CN" sz="2800" b="0" dirty="0">
                <a:latin typeface="黑体" panose="02010609060101010101" pitchFamily="49" charset="-122"/>
                <a:ea typeface="黑体" panose="02010609060101010101" pitchFamily="49" charset="-122"/>
              </a:rPr>
              <a:t>C640 0000H</a:t>
            </a:r>
            <a:r>
              <a:rPr lang="zh-CN" altLang="en-US" sz="2800" b="0" dirty="0">
                <a:latin typeface="黑体" panose="02010609060101010101" pitchFamily="49" charset="-122"/>
                <a:ea typeface="黑体" panose="02010609060101010101" pitchFamily="49" charset="-122"/>
              </a:rPr>
              <a:t>，则该数的值</a:t>
            </a:r>
            <a:r>
              <a:rPr lang="zh-CN" altLang="en-US" sz="2800" b="0" dirty="0" smtClean="0">
                <a:latin typeface="黑体" panose="02010609060101010101" pitchFamily="49" charset="-122"/>
                <a:ea typeface="黑体" panose="02010609060101010101" pitchFamily="49" charset="-122"/>
              </a:rPr>
              <a:t>是</a:t>
            </a:r>
            <a:endParaRPr lang="en-US" altLang="zh-CN" sz="2800" b="0" dirty="0" smtClean="0">
              <a:latin typeface="黑体" panose="02010609060101010101" pitchFamily="49" charset="-122"/>
              <a:ea typeface="黑体" panose="02010609060101010101" pitchFamily="49" charset="-122"/>
            </a:endParaRPr>
          </a:p>
          <a:p>
            <a:endParaRPr lang="zh-CN" altLang="en-US" sz="2800" b="0" dirty="0">
              <a:latin typeface="黑体" panose="02010609060101010101" pitchFamily="49" charset="-122"/>
              <a:ea typeface="黑体" panose="02010609060101010101" pitchFamily="49" charset="-122"/>
            </a:endParaRPr>
          </a:p>
          <a:p>
            <a:pPr marL="0" indent="0">
              <a:buNone/>
            </a:pPr>
            <a:r>
              <a:rPr lang="en-US" altLang="zh-CN" sz="2800" b="0" dirty="0" smtClean="0">
                <a:latin typeface="黑体" panose="02010609060101010101" pitchFamily="49" charset="-122"/>
                <a:ea typeface="黑体" panose="02010609060101010101" pitchFamily="49" charset="-122"/>
              </a:rPr>
              <a:t>     A</a:t>
            </a:r>
            <a:r>
              <a:rPr lang="en-US" altLang="zh-CN" sz="2800" b="0" dirty="0">
                <a:latin typeface="黑体" panose="02010609060101010101" pitchFamily="49" charset="-122"/>
                <a:ea typeface="黑体" panose="02010609060101010101" pitchFamily="49" charset="-122"/>
              </a:rPr>
              <a:t>. -1.5×2</a:t>
            </a:r>
            <a:r>
              <a:rPr lang="en-US" altLang="zh-CN" sz="2800" b="0" baseline="30000" dirty="0">
                <a:latin typeface="黑体" panose="02010609060101010101" pitchFamily="49" charset="-122"/>
                <a:ea typeface="黑体" panose="02010609060101010101" pitchFamily="49" charset="-122"/>
              </a:rPr>
              <a:t>13</a:t>
            </a:r>
            <a:r>
              <a:rPr lang="en-US" altLang="zh-CN" sz="2800" b="0" dirty="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  	B</a:t>
            </a:r>
            <a:r>
              <a:rPr lang="en-US" altLang="zh-CN" sz="2800" b="0" dirty="0">
                <a:latin typeface="黑体" panose="02010609060101010101" pitchFamily="49" charset="-122"/>
                <a:ea typeface="黑体" panose="02010609060101010101" pitchFamily="49" charset="-122"/>
              </a:rPr>
              <a:t>. -1.5×2</a:t>
            </a:r>
            <a:r>
              <a:rPr lang="en-US" altLang="zh-CN" sz="2800" b="0" baseline="30000" dirty="0">
                <a:latin typeface="黑体" panose="02010609060101010101" pitchFamily="49" charset="-122"/>
                <a:ea typeface="黑体" panose="02010609060101010101" pitchFamily="49" charset="-122"/>
              </a:rPr>
              <a:t>12</a:t>
            </a:r>
            <a:r>
              <a:rPr lang="en-US" altLang="zh-CN" sz="2800" b="0" dirty="0">
                <a:latin typeface="黑体" panose="02010609060101010101" pitchFamily="49" charset="-122"/>
                <a:ea typeface="黑体" panose="02010609060101010101" pitchFamily="49" charset="-122"/>
              </a:rPr>
              <a:t>     </a:t>
            </a:r>
            <a:endParaRPr lang="en-US" altLang="zh-CN" sz="2800" b="0" dirty="0" smtClean="0">
              <a:latin typeface="黑体" panose="02010609060101010101" pitchFamily="49" charset="-122"/>
              <a:ea typeface="黑体" panose="02010609060101010101" pitchFamily="49" charset="-122"/>
            </a:endParaRPr>
          </a:p>
          <a:p>
            <a:pPr marL="0" indent="0">
              <a:buNone/>
            </a:pPr>
            <a:r>
              <a:rPr lang="en-US" altLang="zh-CN" sz="2800" b="0" dirty="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    C</a:t>
            </a:r>
            <a:r>
              <a:rPr lang="en-US" altLang="zh-CN" sz="2800" b="0" dirty="0">
                <a:latin typeface="黑体" panose="02010609060101010101" pitchFamily="49" charset="-122"/>
                <a:ea typeface="黑体" panose="02010609060101010101" pitchFamily="49" charset="-122"/>
              </a:rPr>
              <a:t>. -0.5x×2</a:t>
            </a:r>
            <a:r>
              <a:rPr lang="en-US" altLang="zh-CN" sz="2800" b="0" baseline="30000" dirty="0">
                <a:latin typeface="黑体" panose="02010609060101010101" pitchFamily="49" charset="-122"/>
                <a:ea typeface="黑体" panose="02010609060101010101" pitchFamily="49" charset="-122"/>
              </a:rPr>
              <a:t>13</a:t>
            </a:r>
            <a:r>
              <a:rPr lang="en-US" altLang="zh-CN" sz="2800" b="0" dirty="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	D</a:t>
            </a:r>
            <a:r>
              <a:rPr lang="en-US" altLang="zh-CN" sz="2800" b="0" dirty="0">
                <a:latin typeface="黑体" panose="02010609060101010101" pitchFamily="49" charset="-122"/>
                <a:ea typeface="黑体" panose="02010609060101010101" pitchFamily="49" charset="-122"/>
              </a:rPr>
              <a:t>. -0.5×2</a:t>
            </a:r>
            <a:r>
              <a:rPr lang="en-US" altLang="zh-CN" sz="2800" b="0" baseline="30000" dirty="0">
                <a:latin typeface="黑体" panose="02010609060101010101" pitchFamily="49" charset="-122"/>
                <a:ea typeface="黑体" panose="02010609060101010101" pitchFamily="49" charset="-122"/>
              </a:rPr>
              <a:t>12</a:t>
            </a:r>
          </a:p>
          <a:p>
            <a:endParaRPr lang="zh-CN" altLang="en-US" sz="2800" b="0" dirty="0">
              <a:latin typeface="+mn-ea"/>
            </a:endParaRPr>
          </a:p>
        </p:txBody>
      </p:sp>
    </p:spTree>
    <p:extLst>
      <p:ext uri="{BB962C8B-B14F-4D97-AF65-F5344CB8AC3E}">
        <p14:creationId xmlns:p14="http://schemas.microsoft.com/office/powerpoint/2010/main" val="30624496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2"/>
          <p:cNvSpPr>
            <a:spLocks noGrp="1" noChangeArrowheads="1"/>
          </p:cNvSpPr>
          <p:nvPr>
            <p:ph type="title"/>
          </p:nvPr>
        </p:nvSpPr>
        <p:spPr>
          <a:xfrm>
            <a:off x="304800" y="480216"/>
            <a:ext cx="8229600" cy="639763"/>
          </a:xfrm>
        </p:spPr>
        <p:txBody>
          <a:bodyPr/>
          <a:lstStyle/>
          <a:p>
            <a:pPr algn="l" eaLnBrk="1" hangingPunct="1">
              <a:defRPr/>
            </a:pPr>
            <a:r>
              <a:rPr lang="zh-CN" altLang="en-US" sz="3200" dirty="0" smtClean="0">
                <a:latin typeface="黑体" panose="02010609060101010101" pitchFamily="49" charset="-122"/>
                <a:ea typeface="黑体" panose="02010609060101010101" pitchFamily="49" charset="-122"/>
              </a:rPr>
              <a:t>知识点复习：</a:t>
            </a:r>
            <a:r>
              <a:rPr lang="en-US" altLang="zh-CN" sz="3200" dirty="0" smtClean="0">
                <a:latin typeface="黑体" panose="02010609060101010101" pitchFamily="49" charset="-122"/>
                <a:ea typeface="黑体" panose="02010609060101010101" pitchFamily="49" charset="-122"/>
              </a:rPr>
              <a:t>32</a:t>
            </a:r>
            <a:r>
              <a:rPr lang="zh-CN" altLang="en-US" sz="3200" dirty="0" smtClean="0">
                <a:latin typeface="黑体" panose="02010609060101010101" pitchFamily="49" charset="-122"/>
                <a:ea typeface="黑体" panose="02010609060101010101" pitchFamily="49" charset="-122"/>
              </a:rPr>
              <a:t>位浮点数的</a:t>
            </a:r>
            <a:r>
              <a:rPr lang="en-US" altLang="zh-CN" sz="3200" dirty="0" smtClean="0">
                <a:latin typeface="黑体" panose="02010609060101010101" pitchFamily="49" charset="-122"/>
                <a:ea typeface="黑体" panose="02010609060101010101" pitchFamily="49" charset="-122"/>
              </a:rPr>
              <a:t>IEEE754</a:t>
            </a:r>
            <a:r>
              <a:rPr lang="zh-CN" altLang="en-US" sz="3200" dirty="0" smtClean="0">
                <a:latin typeface="黑体" panose="02010609060101010101" pitchFamily="49" charset="-122"/>
                <a:ea typeface="黑体" panose="02010609060101010101" pitchFamily="49" charset="-122"/>
              </a:rPr>
              <a:t>表示</a:t>
            </a:r>
          </a:p>
        </p:txBody>
      </p:sp>
      <p:sp>
        <p:nvSpPr>
          <p:cNvPr id="56323" name="Rectangle 3"/>
          <p:cNvSpPr>
            <a:spLocks noGrp="1" noChangeArrowheads="1"/>
          </p:cNvSpPr>
          <p:nvPr>
            <p:ph idx="1"/>
          </p:nvPr>
        </p:nvSpPr>
        <p:spPr>
          <a:xfrm>
            <a:off x="248696" y="2286000"/>
            <a:ext cx="8915400" cy="4419600"/>
          </a:xfrm>
        </p:spPr>
        <p:txBody>
          <a:bodyPr/>
          <a:lstStyle/>
          <a:p>
            <a:pPr marL="0" indent="0" eaLnBrk="1" hangingPunct="1">
              <a:lnSpc>
                <a:spcPct val="130000"/>
              </a:lnSpc>
              <a:spcAft>
                <a:spcPct val="20000"/>
              </a:spcAft>
            </a:pPr>
            <a:r>
              <a:rPr lang="zh-CN" altLang="en-US" sz="2400" dirty="0" smtClean="0">
                <a:latin typeface="黑体" panose="02010609060101010101" pitchFamily="49" charset="-122"/>
                <a:ea typeface="黑体" panose="02010609060101010101" pitchFamily="49" charset="-122"/>
              </a:rPr>
              <a:t>数符</a:t>
            </a:r>
            <a:r>
              <a:rPr lang="en-US" altLang="zh-CN" sz="2400" dirty="0" smtClean="0">
                <a:latin typeface="黑体" panose="02010609060101010101" pitchFamily="49" charset="-122"/>
                <a:ea typeface="黑体" panose="02010609060101010101" pitchFamily="49" charset="-122"/>
              </a:rPr>
              <a:t>S</a:t>
            </a:r>
            <a:r>
              <a:rPr lang="zh-CN" altLang="en-US" sz="2400" dirty="0" smtClean="0">
                <a:latin typeface="黑体" panose="02010609060101010101" pitchFamily="49" charset="-122"/>
                <a:ea typeface="黑体" panose="02010609060101010101" pitchFamily="49" charset="-122"/>
              </a:rPr>
              <a:t>：</a:t>
            </a:r>
            <a:r>
              <a:rPr lang="zh-CN" altLang="en-US" sz="2400" dirty="0" smtClean="0">
                <a:solidFill>
                  <a:srgbClr val="006600"/>
                </a:solidFill>
                <a:latin typeface="黑体" panose="02010609060101010101" pitchFamily="49" charset="-122"/>
                <a:ea typeface="黑体" panose="02010609060101010101" pitchFamily="49" charset="-122"/>
              </a:rPr>
              <a:t>表示浮点数的符号，占</a:t>
            </a:r>
            <a:r>
              <a:rPr lang="en-US" altLang="zh-CN" sz="2400" dirty="0" smtClean="0">
                <a:solidFill>
                  <a:srgbClr val="006600"/>
                </a:solidFill>
                <a:latin typeface="黑体" panose="02010609060101010101" pitchFamily="49" charset="-122"/>
                <a:ea typeface="黑体" panose="02010609060101010101" pitchFamily="49" charset="-122"/>
              </a:rPr>
              <a:t>1</a:t>
            </a:r>
            <a:r>
              <a:rPr lang="zh-CN" altLang="en-US" sz="2400" dirty="0" smtClean="0">
                <a:solidFill>
                  <a:srgbClr val="006600"/>
                </a:solidFill>
                <a:latin typeface="黑体" panose="02010609060101010101" pitchFamily="49" charset="-122"/>
                <a:ea typeface="黑体" panose="02010609060101010101" pitchFamily="49" charset="-122"/>
              </a:rPr>
              <a:t>位，</a:t>
            </a:r>
            <a:r>
              <a:rPr lang="en-US" altLang="zh-CN" sz="2400" dirty="0" smtClean="0">
                <a:solidFill>
                  <a:srgbClr val="006600"/>
                </a:solidFill>
                <a:latin typeface="黑体" panose="02010609060101010101" pitchFamily="49" charset="-122"/>
                <a:ea typeface="黑体" panose="02010609060101010101" pitchFamily="49" charset="-122"/>
              </a:rPr>
              <a:t>0—</a:t>
            </a:r>
            <a:r>
              <a:rPr lang="zh-CN" altLang="en-US" sz="2400" dirty="0" smtClean="0">
                <a:solidFill>
                  <a:srgbClr val="006600"/>
                </a:solidFill>
                <a:latin typeface="黑体" panose="02010609060101010101" pitchFamily="49" charset="-122"/>
                <a:ea typeface="黑体" panose="02010609060101010101" pitchFamily="49" charset="-122"/>
              </a:rPr>
              <a:t>正数、</a:t>
            </a:r>
            <a:r>
              <a:rPr lang="en-US" altLang="zh-CN" sz="2400" dirty="0" smtClean="0">
                <a:solidFill>
                  <a:srgbClr val="006600"/>
                </a:solidFill>
                <a:latin typeface="黑体" panose="02010609060101010101" pitchFamily="49" charset="-122"/>
                <a:ea typeface="黑体" panose="02010609060101010101" pitchFamily="49" charset="-122"/>
              </a:rPr>
              <a:t>1—</a:t>
            </a:r>
            <a:r>
              <a:rPr lang="zh-CN" altLang="en-US" sz="2400" dirty="0" smtClean="0">
                <a:solidFill>
                  <a:srgbClr val="006600"/>
                </a:solidFill>
                <a:latin typeface="黑体" panose="02010609060101010101" pitchFamily="49" charset="-122"/>
                <a:ea typeface="黑体" panose="02010609060101010101" pitchFamily="49" charset="-122"/>
              </a:rPr>
              <a:t>负数；</a:t>
            </a:r>
          </a:p>
          <a:p>
            <a:pPr marL="0" indent="0" eaLnBrk="1" hangingPunct="1">
              <a:lnSpc>
                <a:spcPct val="130000"/>
              </a:lnSpc>
              <a:spcAft>
                <a:spcPct val="20000"/>
              </a:spcAft>
            </a:pPr>
            <a:r>
              <a:rPr lang="zh-CN" altLang="en-US" sz="2400" dirty="0" smtClean="0">
                <a:latin typeface="黑体" panose="02010609060101010101" pitchFamily="49" charset="-122"/>
                <a:ea typeface="黑体" panose="02010609060101010101" pitchFamily="49" charset="-122"/>
              </a:rPr>
              <a:t>尾数</a:t>
            </a:r>
            <a:r>
              <a:rPr lang="en-US" altLang="zh-CN" sz="2400" dirty="0" smtClean="0">
                <a:latin typeface="黑体" panose="02010609060101010101" pitchFamily="49" charset="-122"/>
                <a:ea typeface="黑体" panose="02010609060101010101" pitchFamily="49" charset="-122"/>
              </a:rPr>
              <a:t>M</a:t>
            </a:r>
            <a:r>
              <a:rPr lang="zh-CN" altLang="en-US" sz="2400" dirty="0" smtClean="0">
                <a:latin typeface="黑体" panose="02010609060101010101" pitchFamily="49" charset="-122"/>
                <a:ea typeface="黑体" panose="02010609060101010101" pitchFamily="49" charset="-122"/>
              </a:rPr>
              <a:t>：</a:t>
            </a:r>
            <a:r>
              <a:rPr lang="en-US" altLang="zh-CN" sz="2400" dirty="0" smtClean="0">
                <a:solidFill>
                  <a:srgbClr val="006600"/>
                </a:solidFill>
                <a:latin typeface="黑体" panose="02010609060101010101" pitchFamily="49" charset="-122"/>
                <a:ea typeface="黑体" panose="02010609060101010101" pitchFamily="49" charset="-122"/>
              </a:rPr>
              <a:t>23</a:t>
            </a:r>
            <a:r>
              <a:rPr lang="zh-CN" altLang="en-US" sz="2400" dirty="0" smtClean="0">
                <a:solidFill>
                  <a:srgbClr val="006600"/>
                </a:solidFill>
                <a:latin typeface="黑体" panose="02010609060101010101" pitchFamily="49" charset="-122"/>
                <a:ea typeface="黑体" panose="02010609060101010101" pitchFamily="49" charset="-122"/>
              </a:rPr>
              <a:t>位，原码纯小数表示，小数点在尾数域的最前面；</a:t>
            </a:r>
          </a:p>
          <a:p>
            <a:pPr marL="450850" lvl="1" indent="-271463" eaLnBrk="1" hangingPunct="1">
              <a:lnSpc>
                <a:spcPct val="130000"/>
              </a:lnSpc>
              <a:spcAft>
                <a:spcPct val="20000"/>
              </a:spcAft>
            </a:pPr>
            <a:r>
              <a:rPr lang="zh-CN" altLang="en-US" sz="2000" dirty="0" smtClean="0">
                <a:latin typeface="黑体" panose="02010609060101010101" pitchFamily="49" charset="-122"/>
                <a:ea typeface="黑体" panose="02010609060101010101" pitchFamily="49" charset="-122"/>
              </a:rPr>
              <a:t>由于原码表示的规格化浮点数要求，</a:t>
            </a:r>
            <a:r>
              <a:rPr lang="zh-CN" altLang="en-US" sz="2000" dirty="0" smtClean="0">
                <a:solidFill>
                  <a:srgbClr val="CC0000"/>
                </a:solidFill>
                <a:latin typeface="黑体" panose="02010609060101010101" pitchFamily="49" charset="-122"/>
                <a:ea typeface="黑体" panose="02010609060101010101" pitchFamily="49" charset="-122"/>
              </a:rPr>
              <a:t>最高数值位始终为</a:t>
            </a:r>
            <a:r>
              <a:rPr lang="en-US" altLang="zh-CN" sz="2000" dirty="0" smtClean="0">
                <a:solidFill>
                  <a:srgbClr val="CC0000"/>
                </a:solidFill>
                <a:latin typeface="黑体" panose="02010609060101010101" pitchFamily="49" charset="-122"/>
                <a:ea typeface="黑体" panose="02010609060101010101" pitchFamily="49" charset="-122"/>
              </a:rPr>
              <a:t>1</a:t>
            </a:r>
            <a:r>
              <a:rPr lang="zh-CN" altLang="en-US" sz="2000" dirty="0" smtClean="0">
                <a:latin typeface="黑体" panose="02010609060101010101" pitchFamily="49" charset="-122"/>
                <a:ea typeface="黑体" panose="02010609060101010101" pitchFamily="49" charset="-122"/>
              </a:rPr>
              <a:t>，因此该标准中隐藏最高数值位</a:t>
            </a:r>
            <a:r>
              <a:rPr lang="en-US" altLang="zh-CN" sz="2000" dirty="0" smtClean="0">
                <a:latin typeface="黑体" panose="02010609060101010101" pitchFamily="49" charset="-122"/>
                <a:ea typeface="黑体" panose="02010609060101010101" pitchFamily="49" charset="-122"/>
              </a:rPr>
              <a:t>(1)</a:t>
            </a:r>
            <a:r>
              <a:rPr lang="zh-CN" altLang="en-US" sz="2000" dirty="0" smtClean="0">
                <a:latin typeface="黑体" panose="02010609060101010101" pitchFamily="49" charset="-122"/>
                <a:ea typeface="黑体" panose="02010609060101010101" pitchFamily="49" charset="-122"/>
              </a:rPr>
              <a:t>，尾数的实际值为</a:t>
            </a:r>
            <a:r>
              <a:rPr lang="en-US" altLang="zh-CN" sz="2000" dirty="0" err="1" smtClean="0">
                <a:solidFill>
                  <a:srgbClr val="CC0000"/>
                </a:solidFill>
                <a:latin typeface="黑体" panose="02010609060101010101" pitchFamily="49" charset="-122"/>
                <a:ea typeface="黑体" panose="02010609060101010101" pitchFamily="49" charset="-122"/>
              </a:rPr>
              <a:t>1.M</a:t>
            </a:r>
            <a:r>
              <a:rPr lang="zh-CN" altLang="en-US" sz="2000" dirty="0" smtClean="0">
                <a:latin typeface="黑体" panose="02010609060101010101" pitchFamily="49" charset="-122"/>
                <a:ea typeface="黑体" panose="02010609060101010101" pitchFamily="49" charset="-122"/>
              </a:rPr>
              <a:t>；</a:t>
            </a:r>
          </a:p>
          <a:p>
            <a:pPr marL="0" indent="0" eaLnBrk="1" hangingPunct="1">
              <a:lnSpc>
                <a:spcPct val="130000"/>
              </a:lnSpc>
              <a:spcAft>
                <a:spcPct val="20000"/>
              </a:spcAft>
            </a:pPr>
            <a:r>
              <a:rPr lang="zh-CN" altLang="en-US" sz="2400" dirty="0" smtClean="0">
                <a:latin typeface="黑体" panose="02010609060101010101" pitchFamily="49" charset="-122"/>
                <a:ea typeface="黑体" panose="02010609060101010101" pitchFamily="49" charset="-122"/>
              </a:rPr>
              <a:t>阶码</a:t>
            </a:r>
            <a:r>
              <a:rPr lang="en-US" altLang="zh-CN" sz="2400" dirty="0" smtClean="0">
                <a:latin typeface="黑体" panose="02010609060101010101" pitchFamily="49" charset="-122"/>
                <a:ea typeface="黑体" panose="02010609060101010101" pitchFamily="49" charset="-122"/>
              </a:rPr>
              <a:t>E</a:t>
            </a:r>
            <a:r>
              <a:rPr lang="zh-CN" altLang="en-US" sz="2400" dirty="0" smtClean="0">
                <a:latin typeface="黑体" panose="02010609060101010101" pitchFamily="49" charset="-122"/>
                <a:ea typeface="黑体" panose="02010609060101010101" pitchFamily="49" charset="-122"/>
              </a:rPr>
              <a:t>：</a:t>
            </a:r>
            <a:r>
              <a:rPr lang="en-US" altLang="zh-CN" sz="2400" dirty="0" smtClean="0">
                <a:solidFill>
                  <a:srgbClr val="006600"/>
                </a:solidFill>
                <a:latin typeface="黑体" panose="02010609060101010101" pitchFamily="49" charset="-122"/>
                <a:ea typeface="黑体" panose="02010609060101010101" pitchFamily="49" charset="-122"/>
              </a:rPr>
              <a:t>8 </a:t>
            </a:r>
            <a:r>
              <a:rPr lang="zh-CN" altLang="en-US" sz="2400" dirty="0" smtClean="0">
                <a:solidFill>
                  <a:srgbClr val="006600"/>
                </a:solidFill>
                <a:latin typeface="黑体" panose="02010609060101010101" pitchFamily="49" charset="-122"/>
                <a:ea typeface="黑体" panose="02010609060101010101" pitchFamily="49" charset="-122"/>
              </a:rPr>
              <a:t>位，采用有偏移值的移码表示；</a:t>
            </a:r>
          </a:p>
          <a:p>
            <a:pPr marL="450850" lvl="1" indent="-271463" eaLnBrk="1" hangingPunct="1">
              <a:lnSpc>
                <a:spcPct val="130000"/>
              </a:lnSpc>
              <a:spcAft>
                <a:spcPct val="20000"/>
              </a:spcAft>
            </a:pPr>
            <a:r>
              <a:rPr lang="zh-CN" altLang="en-US" sz="2000" dirty="0" smtClean="0">
                <a:latin typeface="黑体" panose="02010609060101010101" pitchFamily="49" charset="-122"/>
                <a:ea typeface="黑体" panose="02010609060101010101" pitchFamily="49" charset="-122"/>
              </a:rPr>
              <a:t>移</a:t>
            </a:r>
            <a:r>
              <a:rPr lang="en-US" altLang="zh-CN" sz="2000" dirty="0" smtClean="0">
                <a:latin typeface="黑体" panose="02010609060101010101" pitchFamily="49" charset="-122"/>
                <a:ea typeface="黑体" panose="02010609060101010101" pitchFamily="49" charset="-122"/>
              </a:rPr>
              <a:t>127</a:t>
            </a:r>
            <a:r>
              <a:rPr lang="zh-CN" altLang="en-US" sz="2000" dirty="0" smtClean="0">
                <a:latin typeface="黑体" panose="02010609060101010101" pitchFamily="49" charset="-122"/>
                <a:ea typeface="黑体" panose="02010609060101010101" pitchFamily="49" charset="-122"/>
              </a:rPr>
              <a:t>码，即</a:t>
            </a:r>
            <a:r>
              <a:rPr lang="en-US" altLang="zh-CN" sz="2000" dirty="0" smtClean="0">
                <a:solidFill>
                  <a:srgbClr val="CC0000"/>
                </a:solidFill>
                <a:latin typeface="黑体" panose="02010609060101010101" pitchFamily="49" charset="-122"/>
                <a:ea typeface="黑体" panose="02010609060101010101" pitchFamily="49" charset="-122"/>
              </a:rPr>
              <a:t>E=</a:t>
            </a:r>
            <a:r>
              <a:rPr lang="en-US" altLang="zh-CN" sz="2000" dirty="0" err="1" smtClean="0">
                <a:solidFill>
                  <a:srgbClr val="CC0000"/>
                </a:solidFill>
                <a:latin typeface="黑体" panose="02010609060101010101" pitchFamily="49" charset="-122"/>
                <a:ea typeface="黑体" panose="02010609060101010101" pitchFamily="49" charset="-122"/>
              </a:rPr>
              <a:t>e+127</a:t>
            </a:r>
            <a:r>
              <a:rPr lang="zh-CN" altLang="en-US" sz="2000" dirty="0" smtClean="0">
                <a:latin typeface="黑体" panose="02010609060101010101" pitchFamily="49" charset="-122"/>
                <a:ea typeface="黑体" panose="02010609060101010101" pitchFamily="49" charset="-122"/>
              </a:rPr>
              <a:t>，</a:t>
            </a:r>
            <a:r>
              <a:rPr lang="en-US" altLang="zh-CN" sz="2000" dirty="0" smtClean="0">
                <a:latin typeface="黑体" panose="02010609060101010101" pitchFamily="49" charset="-122"/>
                <a:ea typeface="黑体" panose="02010609060101010101" pitchFamily="49" charset="-122"/>
              </a:rPr>
              <a:t>E</a:t>
            </a:r>
            <a:r>
              <a:rPr lang="zh-CN" altLang="en-US" sz="2000" dirty="0" smtClean="0">
                <a:latin typeface="黑体" panose="02010609060101010101" pitchFamily="49" charset="-122"/>
                <a:ea typeface="黑体" panose="02010609060101010101" pitchFamily="49" charset="-122"/>
              </a:rPr>
              <a:t>的</a:t>
            </a:r>
            <a:r>
              <a:rPr lang="en-US" altLang="zh-CN" sz="2000" dirty="0" smtClean="0">
                <a:latin typeface="黑体" panose="02010609060101010101" pitchFamily="49" charset="-122"/>
                <a:ea typeface="黑体" panose="02010609060101010101" pitchFamily="49" charset="-122"/>
              </a:rPr>
              <a:t>8</a:t>
            </a:r>
            <a:r>
              <a:rPr lang="zh-CN" altLang="en-US" sz="2000" dirty="0" smtClean="0">
                <a:latin typeface="黑体" panose="02010609060101010101" pitchFamily="49" charset="-122"/>
                <a:ea typeface="黑体" panose="02010609060101010101" pitchFamily="49" charset="-122"/>
              </a:rPr>
              <a:t>位二进制数即为移</a:t>
            </a:r>
            <a:r>
              <a:rPr lang="en-US" altLang="zh-CN" sz="2000" dirty="0" smtClean="0">
                <a:latin typeface="黑体" panose="02010609060101010101" pitchFamily="49" charset="-122"/>
                <a:ea typeface="黑体" panose="02010609060101010101" pitchFamily="49" charset="-122"/>
              </a:rPr>
              <a:t>127</a:t>
            </a:r>
            <a:r>
              <a:rPr lang="zh-CN" altLang="en-US" sz="2000" dirty="0" smtClean="0">
                <a:latin typeface="黑体" panose="02010609060101010101" pitchFamily="49" charset="-122"/>
                <a:ea typeface="黑体" panose="02010609060101010101" pitchFamily="49" charset="-122"/>
              </a:rPr>
              <a:t>码的编码；</a:t>
            </a:r>
          </a:p>
          <a:p>
            <a:pPr marL="0" indent="0" eaLnBrk="1" hangingPunct="1">
              <a:lnSpc>
                <a:spcPct val="130000"/>
              </a:lnSpc>
              <a:spcAft>
                <a:spcPct val="20000"/>
              </a:spcAft>
            </a:pPr>
            <a:r>
              <a:rPr lang="zh-CN" altLang="en-US" sz="2400" dirty="0" smtClean="0">
                <a:latin typeface="黑体" panose="02010609060101010101" pitchFamily="49" charset="-122"/>
                <a:ea typeface="黑体" panose="02010609060101010101" pitchFamily="49" charset="-122"/>
              </a:rPr>
              <a:t>浮点数的真值：</a:t>
            </a:r>
            <a:r>
              <a:rPr lang="en-US" altLang="zh-CN" sz="2400" dirty="0" smtClean="0">
                <a:solidFill>
                  <a:srgbClr val="C00000"/>
                </a:solidFill>
                <a:latin typeface="黑体" panose="02010609060101010101" pitchFamily="49" charset="-122"/>
                <a:ea typeface="黑体" panose="02010609060101010101" pitchFamily="49" charset="-122"/>
              </a:rPr>
              <a:t>N=</a:t>
            </a:r>
            <a:r>
              <a:rPr lang="zh-CN" altLang="en-US" sz="2400" dirty="0" smtClean="0">
                <a:solidFill>
                  <a:srgbClr val="C00000"/>
                </a:solidFill>
                <a:latin typeface="黑体" panose="02010609060101010101" pitchFamily="49" charset="-122"/>
                <a:ea typeface="黑体" panose="02010609060101010101" pitchFamily="49" charset="-122"/>
              </a:rPr>
              <a:t>（</a:t>
            </a:r>
            <a:r>
              <a:rPr lang="en-US" altLang="zh-CN" sz="2400" dirty="0" smtClean="0">
                <a:solidFill>
                  <a:srgbClr val="C00000"/>
                </a:solidFill>
                <a:latin typeface="黑体" panose="02010609060101010101" pitchFamily="49" charset="-122"/>
                <a:ea typeface="黑体" panose="02010609060101010101" pitchFamily="49" charset="-122"/>
              </a:rPr>
              <a:t>-1</a:t>
            </a:r>
            <a:r>
              <a:rPr lang="zh-CN" altLang="en-US" sz="2400" dirty="0" smtClean="0">
                <a:solidFill>
                  <a:srgbClr val="C00000"/>
                </a:solidFill>
                <a:latin typeface="黑体" panose="02010609060101010101" pitchFamily="49" charset="-122"/>
                <a:ea typeface="黑体" panose="02010609060101010101" pitchFamily="49" charset="-122"/>
              </a:rPr>
              <a:t>）</a:t>
            </a:r>
            <a:r>
              <a:rPr lang="en-US" altLang="zh-CN" sz="2400" baseline="30000" dirty="0" smtClean="0">
                <a:solidFill>
                  <a:srgbClr val="C00000"/>
                </a:solidFill>
                <a:latin typeface="黑体" panose="02010609060101010101" pitchFamily="49" charset="-122"/>
                <a:ea typeface="黑体" panose="02010609060101010101" pitchFamily="49" charset="-122"/>
              </a:rPr>
              <a:t>S</a:t>
            </a:r>
            <a:r>
              <a:rPr lang="en-US" altLang="zh-CN" sz="2400" dirty="0" smtClean="0">
                <a:solidFill>
                  <a:srgbClr val="C00000"/>
                </a:solidFill>
                <a:latin typeface="黑体" panose="02010609060101010101" pitchFamily="49" charset="-122"/>
                <a:ea typeface="黑体" panose="02010609060101010101" pitchFamily="49" charset="-122"/>
              </a:rPr>
              <a:t>×</a:t>
            </a:r>
            <a:r>
              <a:rPr lang="zh-CN" altLang="en-US" sz="2400" dirty="0" smtClean="0">
                <a:solidFill>
                  <a:srgbClr val="C00000"/>
                </a:solidFill>
                <a:latin typeface="黑体" panose="02010609060101010101" pitchFamily="49" charset="-122"/>
                <a:ea typeface="黑体" panose="02010609060101010101" pitchFamily="49" charset="-122"/>
              </a:rPr>
              <a:t>（</a:t>
            </a:r>
            <a:r>
              <a:rPr lang="en-US" altLang="zh-CN" sz="2400" dirty="0" err="1" smtClean="0">
                <a:solidFill>
                  <a:srgbClr val="C00000"/>
                </a:solidFill>
                <a:latin typeface="黑体" panose="02010609060101010101" pitchFamily="49" charset="-122"/>
                <a:ea typeface="黑体" panose="02010609060101010101" pitchFamily="49" charset="-122"/>
              </a:rPr>
              <a:t>1.M</a:t>
            </a:r>
            <a:r>
              <a:rPr lang="zh-CN" altLang="en-US" sz="2400" dirty="0" smtClean="0">
                <a:solidFill>
                  <a:srgbClr val="C00000"/>
                </a:solidFill>
                <a:latin typeface="黑体" panose="02010609060101010101" pitchFamily="49" charset="-122"/>
                <a:ea typeface="黑体" panose="02010609060101010101" pitchFamily="49" charset="-122"/>
              </a:rPr>
              <a:t>）</a:t>
            </a:r>
            <a:r>
              <a:rPr lang="en-US" altLang="zh-CN" sz="2400" dirty="0" smtClean="0">
                <a:solidFill>
                  <a:srgbClr val="C00000"/>
                </a:solidFill>
                <a:latin typeface="黑体" panose="02010609060101010101" pitchFamily="49" charset="-122"/>
                <a:ea typeface="黑体" panose="02010609060101010101" pitchFamily="49" charset="-122"/>
              </a:rPr>
              <a:t>×</a:t>
            </a:r>
            <a:r>
              <a:rPr lang="en-US" altLang="zh-CN" sz="2400" dirty="0" err="1" smtClean="0">
                <a:solidFill>
                  <a:srgbClr val="C00000"/>
                </a:solidFill>
                <a:latin typeface="黑体" panose="02010609060101010101" pitchFamily="49" charset="-122"/>
                <a:ea typeface="黑体" panose="02010609060101010101" pitchFamily="49" charset="-122"/>
              </a:rPr>
              <a:t>2</a:t>
            </a:r>
            <a:r>
              <a:rPr lang="en-US" altLang="zh-CN" sz="2400" baseline="30000" dirty="0" err="1" smtClean="0">
                <a:solidFill>
                  <a:srgbClr val="C00000"/>
                </a:solidFill>
                <a:latin typeface="黑体" panose="02010609060101010101" pitchFamily="49" charset="-122"/>
                <a:ea typeface="黑体" panose="02010609060101010101" pitchFamily="49" charset="-122"/>
              </a:rPr>
              <a:t>E</a:t>
            </a:r>
            <a:r>
              <a:rPr lang="en-US" altLang="zh-CN" sz="2400" baseline="30000" dirty="0" smtClean="0">
                <a:solidFill>
                  <a:srgbClr val="C00000"/>
                </a:solidFill>
                <a:latin typeface="黑体" panose="02010609060101010101" pitchFamily="49" charset="-122"/>
                <a:ea typeface="黑体" panose="02010609060101010101" pitchFamily="49" charset="-122"/>
              </a:rPr>
              <a:t>-127</a:t>
            </a:r>
            <a:endParaRPr lang="en-US" altLang="zh-CN" sz="2400" dirty="0" smtClean="0">
              <a:solidFill>
                <a:srgbClr val="C00000"/>
              </a:solidFill>
              <a:latin typeface="黑体" panose="02010609060101010101" pitchFamily="49" charset="-122"/>
              <a:ea typeface="黑体" panose="02010609060101010101" pitchFamily="49" charset="-122"/>
            </a:endParaRPr>
          </a:p>
        </p:txBody>
      </p:sp>
      <p:graphicFrame>
        <p:nvGraphicFramePr>
          <p:cNvPr id="56358" name="Group 38"/>
          <p:cNvGraphicFramePr>
            <a:graphicFrameLocks noGrp="1"/>
          </p:cNvGraphicFramePr>
          <p:nvPr>
            <p:extLst/>
          </p:nvPr>
        </p:nvGraphicFramePr>
        <p:xfrm>
          <a:off x="457200" y="1348580"/>
          <a:ext cx="7772400" cy="708819"/>
        </p:xfrm>
        <a:graphic>
          <a:graphicData uri="http://schemas.openxmlformats.org/drawingml/2006/table">
            <a:tbl>
              <a:tblPr/>
              <a:tblGrid>
                <a:gridCol w="1157160">
                  <a:extLst>
                    <a:ext uri="{9D8B030D-6E8A-4147-A177-3AD203B41FA5}">
                      <a16:colId xmlns:a16="http://schemas.microsoft.com/office/drawing/2014/main" val="20000"/>
                    </a:ext>
                  </a:extLst>
                </a:gridCol>
                <a:gridCol w="3544120">
                  <a:extLst>
                    <a:ext uri="{9D8B030D-6E8A-4147-A177-3AD203B41FA5}">
                      <a16:colId xmlns:a16="http://schemas.microsoft.com/office/drawing/2014/main" val="20001"/>
                    </a:ext>
                  </a:extLst>
                </a:gridCol>
                <a:gridCol w="3071120">
                  <a:extLst>
                    <a:ext uri="{9D8B030D-6E8A-4147-A177-3AD203B41FA5}">
                      <a16:colId xmlns:a16="http://schemas.microsoft.com/office/drawing/2014/main" val="20002"/>
                    </a:ext>
                  </a:extLst>
                </a:gridCol>
              </a:tblGrid>
              <a:tr h="708819">
                <a:tc>
                  <a:txBody>
                    <a:bodyPr/>
                    <a:lstStyle/>
                    <a:p>
                      <a:pPr marL="0" marR="0" lvl="0" indent="0" algn="ctr" defTabSz="914400" rtl="0" eaLnBrk="1" fontAlgn="base" latinLnBrk="0" hangingPunct="1">
                        <a:lnSpc>
                          <a:spcPct val="120000"/>
                        </a:lnSpc>
                        <a:spcBef>
                          <a:spcPct val="10000"/>
                        </a:spcBef>
                        <a:spcAft>
                          <a:spcPct val="10000"/>
                        </a:spcAft>
                        <a:buClr>
                          <a:schemeClr val="bg2"/>
                        </a:buClr>
                        <a:buSzTx/>
                        <a:buFont typeface="Wingdings" pitchFamily="2" charset="2"/>
                        <a:buNone/>
                        <a:tabLst/>
                      </a:pPr>
                      <a:r>
                        <a:rPr kumimoji="0" lang="zh-CN" altLang="en-US" sz="2000" b="1" i="0" u="none" strike="noStrike" cap="none" normalizeH="0" baseline="0" smtClean="0">
                          <a:ln>
                            <a:noFill/>
                          </a:ln>
                          <a:solidFill>
                            <a:srgbClr val="FF0000"/>
                          </a:solidFill>
                          <a:effectLst/>
                          <a:latin typeface="Arial" charset="0"/>
                          <a:ea typeface="宋体" pitchFamily="2" charset="-122"/>
                        </a:rPr>
                        <a:t>数符</a:t>
                      </a:r>
                      <a:r>
                        <a:rPr kumimoji="0" lang="en-US" altLang="zh-CN" sz="2000" b="1" i="0" u="none" strike="noStrike" cap="none" normalizeH="0" baseline="0" smtClean="0">
                          <a:ln>
                            <a:noFill/>
                          </a:ln>
                          <a:solidFill>
                            <a:srgbClr val="FF0000"/>
                          </a:solidFill>
                          <a:effectLst/>
                          <a:latin typeface="Arial" charset="0"/>
                          <a:ea typeface="宋体" pitchFamily="2" charset="-122"/>
                        </a:rPr>
                        <a:t>S</a:t>
                      </a:r>
                    </a:p>
                  </a:txBody>
                  <a:tcPr anchor="ctr" horzOverflow="overflow">
                    <a:lnL w="19050" cap="flat" cmpd="sng" algn="ctr">
                      <a:solidFill>
                        <a:schemeClr val="tx1"/>
                      </a:solidFill>
                      <a:prstDash val="solid"/>
                      <a:miter lim="800000"/>
                      <a:headEnd type="none" w="med" len="med"/>
                      <a:tailEnd type="none" w="med" len="med"/>
                    </a:lnL>
                    <a:lnR w="19050" cap="flat" cmpd="sng" algn="ctr">
                      <a:solidFill>
                        <a:schemeClr val="tx1"/>
                      </a:solidFill>
                      <a:prstDash val="solid"/>
                      <a:miter lim="800000"/>
                      <a:headEnd type="none" w="med" len="med"/>
                      <a:tailEnd type="none" w="med" len="med"/>
                    </a:lnR>
                    <a:lnT w="19050" cap="flat" cmpd="sng" algn="ctr">
                      <a:solidFill>
                        <a:schemeClr val="tx1"/>
                      </a:solidFill>
                      <a:prstDash val="solid"/>
                      <a:miter lim="800000"/>
                      <a:headEnd type="none" w="med" len="med"/>
                      <a:tailEnd type="none" w="med" len="med"/>
                    </a:lnT>
                    <a:lnB w="1905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10000"/>
                        </a:spcBef>
                        <a:spcAft>
                          <a:spcPct val="10000"/>
                        </a:spcAft>
                        <a:buClr>
                          <a:schemeClr val="bg2"/>
                        </a:buClr>
                        <a:buSzTx/>
                        <a:buFont typeface="Wingdings" pitchFamily="2" charset="2"/>
                        <a:buNone/>
                        <a:tabLst/>
                      </a:pPr>
                      <a:r>
                        <a:rPr kumimoji="0" lang="zh-CN" altLang="en-US" sz="2000" b="1" i="0" u="none" strike="noStrike" cap="none" normalizeH="0" baseline="0" dirty="0" smtClean="0">
                          <a:ln>
                            <a:noFill/>
                          </a:ln>
                          <a:solidFill>
                            <a:srgbClr val="FF0000"/>
                          </a:solidFill>
                          <a:effectLst/>
                          <a:latin typeface="Arial" charset="0"/>
                          <a:ea typeface="宋体" pitchFamily="2" charset="-122"/>
                        </a:rPr>
                        <a:t>阶码</a:t>
                      </a:r>
                      <a:r>
                        <a:rPr kumimoji="0" lang="en-US" altLang="zh-CN" sz="2000" b="1" i="0" u="none" strike="noStrike" cap="none" normalizeH="0" baseline="0" dirty="0" smtClean="0">
                          <a:ln>
                            <a:noFill/>
                          </a:ln>
                          <a:solidFill>
                            <a:srgbClr val="FF0000"/>
                          </a:solidFill>
                          <a:effectLst/>
                          <a:latin typeface="Arial" charset="0"/>
                          <a:ea typeface="宋体" pitchFamily="2" charset="-122"/>
                        </a:rPr>
                        <a:t>E</a:t>
                      </a:r>
                    </a:p>
                  </a:txBody>
                  <a:tcPr anchor="ctr" horzOverflow="overflow">
                    <a:lnL w="19050" cap="flat" cmpd="sng" algn="ctr">
                      <a:solidFill>
                        <a:schemeClr val="tx1"/>
                      </a:solidFill>
                      <a:prstDash val="solid"/>
                      <a:miter lim="800000"/>
                      <a:headEnd type="none" w="med" len="med"/>
                      <a:tailEnd type="none" w="med" len="med"/>
                    </a:lnL>
                    <a:lnR w="19050" cap="flat" cmpd="sng" algn="ctr">
                      <a:solidFill>
                        <a:schemeClr val="tx1"/>
                      </a:solidFill>
                      <a:prstDash val="solid"/>
                      <a:miter lim="800000"/>
                      <a:headEnd type="none" w="med" len="med"/>
                      <a:tailEnd type="none" w="med" len="med"/>
                    </a:lnR>
                    <a:lnT w="19050" cap="flat" cmpd="sng" algn="ctr">
                      <a:solidFill>
                        <a:schemeClr val="tx1"/>
                      </a:solidFill>
                      <a:prstDash val="solid"/>
                      <a:miter lim="800000"/>
                      <a:headEnd type="none" w="med" len="med"/>
                      <a:tailEnd type="none" w="med" len="med"/>
                    </a:lnT>
                    <a:lnB w="1905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10000"/>
                        </a:spcBef>
                        <a:spcAft>
                          <a:spcPct val="10000"/>
                        </a:spcAft>
                        <a:buClr>
                          <a:schemeClr val="bg2"/>
                        </a:buClr>
                        <a:buSzTx/>
                        <a:buFont typeface="Wingdings" pitchFamily="2" charset="2"/>
                        <a:buNone/>
                        <a:tabLst/>
                      </a:pPr>
                      <a:r>
                        <a:rPr kumimoji="0" lang="zh-CN" altLang="en-US" sz="2000" b="1" i="0" u="none" strike="noStrike" cap="none" normalizeH="0" baseline="0" dirty="0" smtClean="0">
                          <a:ln>
                            <a:noFill/>
                          </a:ln>
                          <a:solidFill>
                            <a:srgbClr val="FF0000"/>
                          </a:solidFill>
                          <a:effectLst/>
                          <a:latin typeface="Arial" charset="0"/>
                          <a:ea typeface="宋体" pitchFamily="2" charset="-122"/>
                        </a:rPr>
                        <a:t>尾数</a:t>
                      </a:r>
                      <a:r>
                        <a:rPr kumimoji="0" lang="en-US" altLang="zh-CN" sz="2000" b="1" i="0" u="none" strike="noStrike" cap="none" normalizeH="0" baseline="0" dirty="0" smtClean="0">
                          <a:ln>
                            <a:noFill/>
                          </a:ln>
                          <a:solidFill>
                            <a:srgbClr val="FF0000"/>
                          </a:solidFill>
                          <a:effectLst/>
                          <a:latin typeface="Arial" charset="0"/>
                          <a:ea typeface="宋体" pitchFamily="2" charset="-122"/>
                        </a:rPr>
                        <a:t>M</a:t>
                      </a:r>
                    </a:p>
                  </a:txBody>
                  <a:tcPr anchor="ctr" horzOverflow="overflow">
                    <a:lnL w="19050" cap="flat" cmpd="sng" algn="ctr">
                      <a:solidFill>
                        <a:schemeClr val="tx1"/>
                      </a:solidFill>
                      <a:prstDash val="solid"/>
                      <a:miter lim="800000"/>
                      <a:headEnd type="none" w="med" len="med"/>
                      <a:tailEnd type="none" w="med" len="med"/>
                    </a:lnL>
                    <a:lnR w="19050" cap="flat" cmpd="sng" algn="ctr">
                      <a:solidFill>
                        <a:schemeClr val="tx1"/>
                      </a:solidFill>
                      <a:prstDash val="solid"/>
                      <a:miter lim="800000"/>
                      <a:headEnd type="none" w="med" len="med"/>
                      <a:tailEnd type="none" w="med" len="med"/>
                    </a:lnR>
                    <a:lnT w="19050" cap="flat" cmpd="sng" algn="ctr">
                      <a:solidFill>
                        <a:schemeClr val="tx1"/>
                      </a:solidFill>
                      <a:prstDash val="solid"/>
                      <a:miter lim="800000"/>
                      <a:headEnd type="none" w="med" len="med"/>
                      <a:tailEnd type="none" w="med" len="med"/>
                    </a:lnT>
                    <a:lnB w="19050"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6803076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习题解答</a:t>
            </a:r>
            <a:endParaRPr lang="zh-CN" altLang="en-US" dirty="0"/>
          </a:p>
        </p:txBody>
      </p:sp>
      <p:sp>
        <p:nvSpPr>
          <p:cNvPr id="3" name="内容占位符 2"/>
          <p:cNvSpPr>
            <a:spLocks noGrp="1"/>
          </p:cNvSpPr>
          <p:nvPr>
            <p:ph idx="1"/>
          </p:nvPr>
        </p:nvSpPr>
        <p:spPr>
          <a:xfrm>
            <a:off x="228600" y="1362075"/>
            <a:ext cx="8665993" cy="4972050"/>
          </a:xfrm>
        </p:spPr>
        <p:txBody>
          <a:bodyPr/>
          <a:lstStyle/>
          <a:p>
            <a:r>
              <a:rPr lang="en-US" altLang="zh-CN" sz="2800" b="0" dirty="0">
                <a:latin typeface="黑体" panose="02010609060101010101" pitchFamily="49" charset="-122"/>
                <a:ea typeface="黑体" panose="02010609060101010101" pitchFamily="49" charset="-122"/>
              </a:rPr>
              <a:t>C640 0000H</a:t>
            </a:r>
            <a:endParaRPr lang="en-US" altLang="zh-CN" sz="2800" b="0" dirty="0" smtClean="0">
              <a:latin typeface="黑体" panose="02010609060101010101" pitchFamily="49" charset="-122"/>
              <a:ea typeface="黑体" panose="02010609060101010101" pitchFamily="49" charset="-122"/>
            </a:endParaRPr>
          </a:p>
          <a:p>
            <a:pPr marL="0" indent="0">
              <a:buNone/>
            </a:pPr>
            <a:r>
              <a:rPr lang="en-US" altLang="zh-CN" sz="2800" b="0" dirty="0" smtClean="0">
                <a:latin typeface="黑体" panose="02010609060101010101" pitchFamily="49" charset="-122"/>
                <a:ea typeface="黑体" panose="02010609060101010101" pitchFamily="49" charset="-122"/>
              </a:rPr>
              <a:t>=&gt; </a:t>
            </a:r>
            <a:r>
              <a:rPr lang="zh-CN" altLang="en-US" sz="2800" b="0" dirty="0" smtClean="0">
                <a:latin typeface="黑体" panose="02010609060101010101" pitchFamily="49" charset="-122"/>
                <a:ea typeface="黑体" panose="02010609060101010101" pitchFamily="49" charset="-122"/>
              </a:rPr>
              <a:t>二进制  </a:t>
            </a:r>
            <a:r>
              <a:rPr lang="en-US" altLang="zh-CN" sz="2800" b="0" dirty="0" smtClean="0">
                <a:latin typeface="黑体" panose="02010609060101010101" pitchFamily="49" charset="-122"/>
                <a:ea typeface="黑体" panose="02010609060101010101" pitchFamily="49" charset="-122"/>
              </a:rPr>
              <a:t>1100 </a:t>
            </a:r>
            <a:r>
              <a:rPr lang="en-US" altLang="zh-CN" sz="2800" b="0" dirty="0">
                <a:latin typeface="黑体" panose="02010609060101010101" pitchFamily="49" charset="-122"/>
                <a:ea typeface="黑体" panose="02010609060101010101" pitchFamily="49" charset="-122"/>
              </a:rPr>
              <a:t>0110 0100  0000 0000 0000 0000 0000</a:t>
            </a:r>
            <a:r>
              <a:rPr lang="zh-CN" altLang="en-US" sz="2800" b="0" dirty="0">
                <a:latin typeface="黑体" panose="02010609060101010101" pitchFamily="49" charset="-122"/>
                <a:ea typeface="黑体" panose="02010609060101010101" pitchFamily="49" charset="-122"/>
              </a:rPr>
              <a:t>，转换为标准的格式为：</a:t>
            </a:r>
          </a:p>
          <a:p>
            <a:pPr marL="0" indent="0">
              <a:buNone/>
            </a:pPr>
            <a:endParaRPr lang="en-US" altLang="zh-CN" sz="2800" b="0" dirty="0">
              <a:latin typeface="黑体" panose="02010609060101010101" pitchFamily="49" charset="-122"/>
              <a:ea typeface="黑体" panose="02010609060101010101" pitchFamily="49" charset="-122"/>
            </a:endParaRPr>
          </a:p>
          <a:p>
            <a:pPr marL="0" indent="0">
              <a:buNone/>
            </a:pPr>
            <a:r>
              <a:rPr lang="zh-CN" altLang="en-US" sz="2800" b="0" dirty="0" smtClean="0">
                <a:latin typeface="黑体" panose="02010609060101010101" pitchFamily="49" charset="-122"/>
                <a:ea typeface="黑体" panose="02010609060101010101" pitchFamily="49" charset="-122"/>
              </a:rPr>
              <a:t>数符   阶码            尾数</a:t>
            </a:r>
            <a:endParaRPr lang="en-US" altLang="zh-CN" sz="2800" b="0" dirty="0" smtClean="0">
              <a:latin typeface="黑体" panose="02010609060101010101" pitchFamily="49" charset="-122"/>
              <a:ea typeface="黑体" panose="02010609060101010101" pitchFamily="49" charset="-122"/>
            </a:endParaRPr>
          </a:p>
          <a:p>
            <a:pPr marL="0" indent="0">
              <a:buNone/>
            </a:pPr>
            <a:r>
              <a:rPr lang="en-US" altLang="zh-CN" sz="2800" b="0" dirty="0" smtClean="0">
                <a:latin typeface="黑体" panose="02010609060101010101" pitchFamily="49" charset="-122"/>
                <a:ea typeface="黑体" panose="02010609060101010101" pitchFamily="49" charset="-122"/>
              </a:rPr>
              <a:t>1    100 </a:t>
            </a:r>
            <a:r>
              <a:rPr lang="en-US" altLang="zh-CN" sz="2800" b="0" dirty="0">
                <a:latin typeface="黑体" panose="02010609060101010101" pitchFamily="49" charset="-122"/>
                <a:ea typeface="黑体" panose="02010609060101010101" pitchFamily="49" charset="-122"/>
              </a:rPr>
              <a:t>0110 </a:t>
            </a:r>
            <a:r>
              <a:rPr lang="en-US" altLang="zh-CN" sz="2800" b="0" dirty="0" smtClean="0">
                <a:latin typeface="黑体" panose="02010609060101010101" pitchFamily="49" charset="-122"/>
                <a:ea typeface="黑体" panose="02010609060101010101" pitchFamily="49" charset="-122"/>
              </a:rPr>
              <a:t>0    100 0000 </a:t>
            </a:r>
            <a:r>
              <a:rPr lang="en-US" altLang="zh-CN" sz="2800" b="0" dirty="0">
                <a:latin typeface="黑体" panose="02010609060101010101" pitchFamily="49" charset="-122"/>
                <a:ea typeface="黑体" panose="02010609060101010101" pitchFamily="49" charset="-122"/>
              </a:rPr>
              <a:t>0000 0000 0000 0000</a:t>
            </a:r>
          </a:p>
          <a:p>
            <a:pPr marL="0" indent="0">
              <a:buNone/>
            </a:pPr>
            <a:endParaRPr lang="zh-CN" altLang="en-US" sz="2800" b="0" dirty="0">
              <a:latin typeface="黑体" panose="02010609060101010101" pitchFamily="49" charset="-122"/>
              <a:ea typeface="黑体" panose="02010609060101010101" pitchFamily="49" charset="-122"/>
            </a:endParaRPr>
          </a:p>
          <a:p>
            <a:pPr marL="0" indent="0">
              <a:buNone/>
            </a:pPr>
            <a:r>
              <a:rPr lang="zh-CN" altLang="en-US" sz="2800" b="0" dirty="0" smtClean="0">
                <a:latin typeface="黑体" panose="02010609060101010101" pitchFamily="49" charset="-122"/>
                <a:ea typeface="黑体" panose="02010609060101010101" pitchFamily="49" charset="-122"/>
              </a:rPr>
              <a:t>因此</a:t>
            </a:r>
            <a:r>
              <a:rPr lang="zh-CN" altLang="en-US" sz="2800" b="0" dirty="0">
                <a:latin typeface="黑体" panose="02010609060101010101" pitchFamily="49" charset="-122"/>
                <a:ea typeface="黑体" panose="02010609060101010101" pitchFamily="49" charset="-122"/>
              </a:rPr>
              <a:t>，浮点数的值为</a:t>
            </a:r>
            <a:r>
              <a:rPr lang="en-US" altLang="zh-CN" sz="2800" b="0" dirty="0">
                <a:latin typeface="黑体" panose="02010609060101010101" pitchFamily="49" charset="-122"/>
                <a:ea typeface="黑体" panose="02010609060101010101" pitchFamily="49" charset="-122"/>
              </a:rPr>
              <a:t>-1.5×2</a:t>
            </a:r>
            <a:r>
              <a:rPr lang="en-US" altLang="zh-CN" sz="2800" b="0" baseline="30000" dirty="0">
                <a:latin typeface="黑体" panose="02010609060101010101" pitchFamily="49" charset="-122"/>
                <a:ea typeface="黑体" panose="02010609060101010101" pitchFamily="49" charset="-122"/>
              </a:rPr>
              <a:t>13</a:t>
            </a:r>
          </a:p>
          <a:p>
            <a:endParaRPr lang="zh-CN" altLang="en-US" sz="2800" b="0" dirty="0">
              <a:latin typeface="+mn-ea"/>
            </a:endParaRPr>
          </a:p>
        </p:txBody>
      </p:sp>
    </p:spTree>
    <p:extLst>
      <p:ext uri="{BB962C8B-B14F-4D97-AF65-F5344CB8AC3E}">
        <p14:creationId xmlns:p14="http://schemas.microsoft.com/office/powerpoint/2010/main" val="396409022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6875" y="457200"/>
            <a:ext cx="7896225" cy="5876925"/>
          </a:xfrm>
        </p:spPr>
        <p:txBody>
          <a:bodyPr/>
          <a:lstStyle/>
          <a:p>
            <a:r>
              <a:rPr lang="en-US" altLang="zh-CN" sz="2800" b="0" dirty="0" smtClean="0">
                <a:latin typeface="黑体" panose="02010609060101010101" pitchFamily="49" charset="-122"/>
                <a:ea typeface="黑体" panose="02010609060101010101" pitchFamily="49" charset="-122"/>
              </a:rPr>
              <a:t>[2014</a:t>
            </a:r>
            <a:r>
              <a:rPr lang="zh-CN" altLang="en-US" sz="2800" b="0" dirty="0" smtClean="0">
                <a:latin typeface="黑体" panose="02010609060101010101" pitchFamily="49" charset="-122"/>
                <a:ea typeface="黑体" panose="02010609060101010101" pitchFamily="49" charset="-122"/>
              </a:rPr>
              <a:t>年考研题</a:t>
            </a:r>
            <a:r>
              <a:rPr lang="en-US" altLang="zh-CN" sz="2800" b="0" dirty="0" smtClean="0">
                <a:latin typeface="黑体" panose="02010609060101010101" pitchFamily="49" charset="-122"/>
                <a:ea typeface="黑体" panose="02010609060101010101" pitchFamily="49" charset="-122"/>
              </a:rPr>
              <a:t>] </a:t>
            </a:r>
            <a:r>
              <a:rPr lang="en-US" altLang="zh-CN" sz="2800" b="0" dirty="0" smtClean="0">
                <a:latin typeface="+mn-ea"/>
              </a:rPr>
              <a:t>float </a:t>
            </a:r>
            <a:r>
              <a:rPr lang="zh-CN" altLang="zh-CN" sz="2800" b="0" dirty="0">
                <a:latin typeface="黑体" panose="02010609060101010101" pitchFamily="49" charset="-122"/>
                <a:ea typeface="黑体" panose="02010609060101010101" pitchFamily="49" charset="-122"/>
              </a:rPr>
              <a:t>型数据据</a:t>
            </a:r>
            <a:r>
              <a:rPr lang="zh-CN" altLang="zh-CN" sz="2800" b="0" dirty="0" smtClean="0">
                <a:latin typeface="黑体" panose="02010609060101010101" pitchFamily="49" charset="-122"/>
                <a:ea typeface="黑体" panose="02010609060101010101" pitchFamily="49" charset="-122"/>
              </a:rPr>
              <a:t>常用</a:t>
            </a:r>
            <a:r>
              <a:rPr lang="en-US" altLang="zh-CN" sz="2800" b="0" dirty="0" smtClean="0">
                <a:latin typeface="黑体" panose="02010609060101010101" pitchFamily="49" charset="-122"/>
                <a:ea typeface="黑体" panose="02010609060101010101" pitchFamily="49" charset="-122"/>
              </a:rPr>
              <a:t>IEEE754</a:t>
            </a:r>
            <a:r>
              <a:rPr lang="zh-CN" altLang="zh-CN" sz="2800" b="0" dirty="0" smtClean="0">
                <a:latin typeface="黑体" panose="02010609060101010101" pitchFamily="49" charset="-122"/>
                <a:ea typeface="黑体" panose="02010609060101010101" pitchFamily="49" charset="-122"/>
              </a:rPr>
              <a:t>单精度</a:t>
            </a:r>
            <a:r>
              <a:rPr lang="zh-CN" altLang="zh-CN" sz="2800" b="0" dirty="0">
                <a:latin typeface="黑体" panose="02010609060101010101" pitchFamily="49" charset="-122"/>
                <a:ea typeface="黑体" panose="02010609060101010101" pitchFamily="49" charset="-122"/>
              </a:rPr>
              <a:t>浮点格式表示。假设两</a:t>
            </a:r>
            <a:r>
              <a:rPr lang="zh-CN" altLang="zh-CN" sz="2800" b="0" dirty="0" smtClean="0">
                <a:latin typeface="黑体" panose="02010609060101010101" pitchFamily="49" charset="-122"/>
                <a:ea typeface="黑体" panose="02010609060101010101" pitchFamily="49" charset="-122"/>
              </a:rPr>
              <a:t>个</a:t>
            </a:r>
            <a:r>
              <a:rPr lang="en-US" altLang="zh-CN" sz="2800" b="0" dirty="0" smtClean="0">
                <a:latin typeface="黑体" panose="02010609060101010101" pitchFamily="49" charset="-122"/>
                <a:ea typeface="黑体" panose="02010609060101010101" pitchFamily="49" charset="-122"/>
              </a:rPr>
              <a:t>float</a:t>
            </a:r>
            <a:r>
              <a:rPr lang="zh-CN" altLang="zh-CN" sz="2800" b="0" dirty="0" smtClean="0">
                <a:latin typeface="黑体" panose="02010609060101010101" pitchFamily="49" charset="-122"/>
                <a:ea typeface="黑体" panose="02010609060101010101" pitchFamily="49" charset="-122"/>
              </a:rPr>
              <a:t>型</a:t>
            </a:r>
            <a:r>
              <a:rPr lang="zh-CN" altLang="zh-CN" sz="2800" b="0" dirty="0">
                <a:latin typeface="黑体" panose="02010609060101010101" pitchFamily="49" charset="-122"/>
                <a:ea typeface="黑体" panose="02010609060101010101" pitchFamily="49" charset="-122"/>
              </a:rPr>
              <a:t>变量 </a:t>
            </a:r>
            <a:r>
              <a:rPr lang="en-US" altLang="zh-CN" sz="2800" b="0" dirty="0">
                <a:latin typeface="黑体" panose="02010609060101010101" pitchFamily="49" charset="-122"/>
                <a:ea typeface="黑体" panose="02010609060101010101" pitchFamily="49" charset="-122"/>
              </a:rPr>
              <a:t>x </a:t>
            </a:r>
            <a:r>
              <a:rPr lang="zh-CN" altLang="zh-CN" sz="2800" b="0" dirty="0">
                <a:latin typeface="黑体" panose="02010609060101010101" pitchFamily="49" charset="-122"/>
                <a:ea typeface="黑体" panose="02010609060101010101" pitchFamily="49" charset="-122"/>
              </a:rPr>
              <a:t>和 </a:t>
            </a:r>
            <a:r>
              <a:rPr lang="en-US" altLang="zh-CN" sz="2800" b="0" dirty="0">
                <a:latin typeface="黑体" panose="02010609060101010101" pitchFamily="49" charset="-122"/>
                <a:ea typeface="黑体" panose="02010609060101010101" pitchFamily="49" charset="-122"/>
              </a:rPr>
              <a:t>y </a:t>
            </a:r>
            <a:r>
              <a:rPr lang="zh-CN" altLang="zh-CN" sz="2800" b="0" dirty="0">
                <a:latin typeface="黑体" panose="02010609060101010101" pitchFamily="49" charset="-122"/>
                <a:ea typeface="黑体" panose="02010609060101010101" pitchFamily="49" charset="-122"/>
              </a:rPr>
              <a:t>分 别存放在 </a:t>
            </a:r>
            <a:r>
              <a:rPr lang="en-US" altLang="zh-CN" sz="2800" b="0" dirty="0">
                <a:latin typeface="黑体" panose="02010609060101010101" pitchFamily="49" charset="-122"/>
                <a:ea typeface="黑体" panose="02010609060101010101" pitchFamily="49" charset="-122"/>
              </a:rPr>
              <a:t>32 </a:t>
            </a:r>
            <a:r>
              <a:rPr lang="zh-CN" altLang="zh-CN" sz="2800" b="0" dirty="0">
                <a:latin typeface="黑体" panose="02010609060101010101" pitchFamily="49" charset="-122"/>
                <a:ea typeface="黑体" panose="02010609060101010101" pitchFamily="49" charset="-122"/>
              </a:rPr>
              <a:t>位寄存器 </a:t>
            </a:r>
            <a:r>
              <a:rPr lang="en-US" altLang="zh-CN" sz="2800" b="0" dirty="0">
                <a:latin typeface="黑体" panose="02010609060101010101" pitchFamily="49" charset="-122"/>
                <a:ea typeface="黑体" panose="02010609060101010101" pitchFamily="49" charset="-122"/>
              </a:rPr>
              <a:t>f1 </a:t>
            </a:r>
            <a:r>
              <a:rPr lang="zh-CN" altLang="zh-CN" sz="2800" b="0" dirty="0">
                <a:latin typeface="黑体" panose="02010609060101010101" pitchFamily="49" charset="-122"/>
                <a:ea typeface="黑体" panose="02010609060101010101" pitchFamily="49" charset="-122"/>
              </a:rPr>
              <a:t>和 </a:t>
            </a:r>
            <a:r>
              <a:rPr lang="en-US" altLang="zh-CN" sz="2800" b="0" dirty="0">
                <a:latin typeface="黑体" panose="02010609060101010101" pitchFamily="49" charset="-122"/>
                <a:ea typeface="黑体" panose="02010609060101010101" pitchFamily="49" charset="-122"/>
              </a:rPr>
              <a:t>f2 </a:t>
            </a:r>
            <a:r>
              <a:rPr lang="zh-CN" altLang="zh-CN" sz="2800" b="0" dirty="0">
                <a:latin typeface="黑体" panose="02010609060101010101" pitchFamily="49" charset="-122"/>
                <a:ea typeface="黑体" panose="02010609060101010101" pitchFamily="49" charset="-122"/>
              </a:rPr>
              <a:t>中，若</a:t>
            </a:r>
            <a:r>
              <a:rPr lang="en-US" altLang="zh-CN" sz="2800" b="0" dirty="0">
                <a:latin typeface="黑体" panose="02010609060101010101" pitchFamily="49" charset="-122"/>
                <a:ea typeface="黑体" panose="02010609060101010101" pitchFamily="49" charset="-122"/>
              </a:rPr>
              <a:t>(f1)=CC90 0000H</a:t>
            </a:r>
            <a:r>
              <a:rPr lang="zh-CN" altLang="zh-CN" sz="2800" b="0" dirty="0">
                <a:latin typeface="黑体" panose="02010609060101010101" pitchFamily="49" charset="-122"/>
                <a:ea typeface="黑体" panose="02010609060101010101" pitchFamily="49" charset="-122"/>
              </a:rPr>
              <a:t>，</a:t>
            </a:r>
            <a:r>
              <a:rPr lang="en-US" altLang="zh-CN" sz="2800" b="0" dirty="0">
                <a:latin typeface="黑体" panose="02010609060101010101" pitchFamily="49" charset="-122"/>
                <a:ea typeface="黑体" panose="02010609060101010101" pitchFamily="49" charset="-122"/>
              </a:rPr>
              <a:t>(f2)=B0C0 0000H</a:t>
            </a:r>
            <a:r>
              <a:rPr lang="zh-CN" altLang="zh-CN" sz="2800" b="0" dirty="0">
                <a:latin typeface="黑体" panose="02010609060101010101" pitchFamily="49" charset="-122"/>
                <a:ea typeface="黑体" panose="02010609060101010101" pitchFamily="49" charset="-122"/>
              </a:rPr>
              <a:t>，则 </a:t>
            </a:r>
            <a:r>
              <a:rPr lang="en-US" altLang="zh-CN" sz="2800" b="0" dirty="0">
                <a:latin typeface="黑体" panose="02010609060101010101" pitchFamily="49" charset="-122"/>
                <a:ea typeface="黑体" panose="02010609060101010101" pitchFamily="49" charset="-122"/>
              </a:rPr>
              <a:t>x </a:t>
            </a:r>
            <a:r>
              <a:rPr lang="zh-CN" altLang="zh-CN" sz="2800" b="0" dirty="0">
                <a:latin typeface="黑体" panose="02010609060101010101" pitchFamily="49" charset="-122"/>
                <a:ea typeface="黑体" panose="02010609060101010101" pitchFamily="49" charset="-122"/>
              </a:rPr>
              <a:t>和 </a:t>
            </a:r>
            <a:r>
              <a:rPr lang="en-US" altLang="zh-CN" sz="2800" b="0" dirty="0">
                <a:latin typeface="黑体" panose="02010609060101010101" pitchFamily="49" charset="-122"/>
                <a:ea typeface="黑体" panose="02010609060101010101" pitchFamily="49" charset="-122"/>
              </a:rPr>
              <a:t>y </a:t>
            </a:r>
            <a:r>
              <a:rPr lang="zh-CN" altLang="zh-CN" sz="2800" b="0" dirty="0">
                <a:latin typeface="黑体" panose="02010609060101010101" pitchFamily="49" charset="-122"/>
                <a:ea typeface="黑体" panose="02010609060101010101" pitchFamily="49" charset="-122"/>
              </a:rPr>
              <a:t>之间的 关系</a:t>
            </a:r>
            <a:r>
              <a:rPr lang="zh-CN" altLang="zh-CN" sz="2800" b="0" dirty="0" smtClean="0">
                <a:latin typeface="黑体" panose="02010609060101010101" pitchFamily="49" charset="-122"/>
                <a:ea typeface="黑体" panose="02010609060101010101" pitchFamily="49" charset="-122"/>
              </a:rPr>
              <a:t>为</a:t>
            </a:r>
            <a:endParaRPr lang="en-US" altLang="zh-CN" sz="2800" b="0" u="sng" dirty="0">
              <a:latin typeface="黑体" panose="02010609060101010101" pitchFamily="49" charset="-122"/>
              <a:ea typeface="黑体" panose="02010609060101010101" pitchFamily="49" charset="-122"/>
            </a:endParaRPr>
          </a:p>
          <a:p>
            <a:pPr marL="0" indent="0">
              <a:buNone/>
            </a:pPr>
            <a:r>
              <a:rPr lang="en-US" altLang="zh-CN" sz="2800" b="0" dirty="0" smtClean="0">
                <a:latin typeface="黑体" panose="02010609060101010101" pitchFamily="49" charset="-122"/>
                <a:ea typeface="黑体" panose="02010609060101010101" pitchFamily="49" charset="-122"/>
              </a:rPr>
              <a:t>	A</a:t>
            </a:r>
            <a:r>
              <a:rPr lang="zh-CN" altLang="zh-CN" sz="2800" b="0" dirty="0">
                <a:latin typeface="黑体" panose="02010609060101010101" pitchFamily="49" charset="-122"/>
                <a:ea typeface="黑体" panose="02010609060101010101" pitchFamily="49" charset="-122"/>
              </a:rPr>
              <a:t>．</a:t>
            </a:r>
            <a:r>
              <a:rPr lang="en-US" altLang="zh-CN" sz="2800" b="0" dirty="0">
                <a:latin typeface="黑体" panose="02010609060101010101" pitchFamily="49" charset="-122"/>
                <a:ea typeface="黑体" panose="02010609060101010101" pitchFamily="49" charset="-122"/>
              </a:rPr>
              <a:t>x&lt;y </a:t>
            </a:r>
            <a:r>
              <a:rPr lang="zh-CN" altLang="zh-CN" sz="2800" b="0" dirty="0">
                <a:latin typeface="黑体" panose="02010609060101010101" pitchFamily="49" charset="-122"/>
                <a:ea typeface="黑体" panose="02010609060101010101" pitchFamily="49" charset="-122"/>
              </a:rPr>
              <a:t>且符号相同</a:t>
            </a:r>
            <a:r>
              <a:rPr lang="en-US" altLang="zh-CN" sz="2800" b="0" dirty="0">
                <a:latin typeface="黑体" panose="02010609060101010101" pitchFamily="49" charset="-122"/>
                <a:ea typeface="黑体" panose="02010609060101010101" pitchFamily="49" charset="-122"/>
              </a:rPr>
              <a:t>	B</a:t>
            </a:r>
            <a:r>
              <a:rPr lang="zh-CN" altLang="zh-CN" sz="2800" b="0" dirty="0">
                <a:latin typeface="黑体" panose="02010609060101010101" pitchFamily="49" charset="-122"/>
                <a:ea typeface="黑体" panose="02010609060101010101" pitchFamily="49" charset="-122"/>
              </a:rPr>
              <a:t>．</a:t>
            </a:r>
            <a:r>
              <a:rPr lang="en-US" altLang="zh-CN" sz="2800" b="0" dirty="0">
                <a:latin typeface="黑体" panose="02010609060101010101" pitchFamily="49" charset="-122"/>
                <a:ea typeface="黑体" panose="02010609060101010101" pitchFamily="49" charset="-122"/>
              </a:rPr>
              <a:t>x&lt;y </a:t>
            </a:r>
            <a:r>
              <a:rPr lang="zh-CN" altLang="zh-CN" sz="2800" b="0" dirty="0">
                <a:latin typeface="黑体" panose="02010609060101010101" pitchFamily="49" charset="-122"/>
                <a:ea typeface="黑体" panose="02010609060101010101" pitchFamily="49" charset="-122"/>
              </a:rPr>
              <a:t>且符号不同</a:t>
            </a:r>
          </a:p>
          <a:p>
            <a:pPr marL="0" indent="0">
              <a:buNone/>
            </a:pPr>
            <a:r>
              <a:rPr lang="en-US" altLang="zh-CN" sz="2800" b="0" dirty="0" smtClean="0">
                <a:latin typeface="黑体" panose="02010609060101010101" pitchFamily="49" charset="-122"/>
                <a:ea typeface="黑体" panose="02010609060101010101" pitchFamily="49" charset="-122"/>
              </a:rPr>
              <a:t>	C</a:t>
            </a:r>
            <a:r>
              <a:rPr lang="zh-CN" altLang="zh-CN" sz="2800" b="0" dirty="0">
                <a:latin typeface="黑体" panose="02010609060101010101" pitchFamily="49" charset="-122"/>
                <a:ea typeface="黑体" panose="02010609060101010101" pitchFamily="49" charset="-122"/>
              </a:rPr>
              <a:t>．</a:t>
            </a:r>
            <a:r>
              <a:rPr lang="en-US" altLang="zh-CN" sz="2800" b="0" dirty="0">
                <a:latin typeface="黑体" panose="02010609060101010101" pitchFamily="49" charset="-122"/>
                <a:ea typeface="黑体" panose="02010609060101010101" pitchFamily="49" charset="-122"/>
              </a:rPr>
              <a:t>x&gt;y </a:t>
            </a:r>
            <a:r>
              <a:rPr lang="zh-CN" altLang="zh-CN" sz="2800" b="0" dirty="0">
                <a:latin typeface="黑体" panose="02010609060101010101" pitchFamily="49" charset="-122"/>
                <a:ea typeface="黑体" panose="02010609060101010101" pitchFamily="49" charset="-122"/>
              </a:rPr>
              <a:t>且符号相同</a:t>
            </a:r>
            <a:r>
              <a:rPr lang="en-US" altLang="zh-CN" sz="2800" b="0" dirty="0">
                <a:latin typeface="黑体" panose="02010609060101010101" pitchFamily="49" charset="-122"/>
                <a:ea typeface="黑体" panose="02010609060101010101" pitchFamily="49" charset="-122"/>
              </a:rPr>
              <a:t>	D</a:t>
            </a:r>
            <a:r>
              <a:rPr lang="zh-CN" altLang="zh-CN" sz="2800" b="0" dirty="0">
                <a:latin typeface="黑体" panose="02010609060101010101" pitchFamily="49" charset="-122"/>
                <a:ea typeface="黑体" panose="02010609060101010101" pitchFamily="49" charset="-122"/>
              </a:rPr>
              <a:t>．</a:t>
            </a:r>
            <a:r>
              <a:rPr lang="en-US" altLang="zh-CN" sz="2800" b="0" dirty="0">
                <a:latin typeface="黑体" panose="02010609060101010101" pitchFamily="49" charset="-122"/>
                <a:ea typeface="黑体" panose="02010609060101010101" pitchFamily="49" charset="-122"/>
              </a:rPr>
              <a:t>x&gt;y </a:t>
            </a:r>
            <a:r>
              <a:rPr lang="zh-CN" altLang="zh-CN" sz="2800" b="0" dirty="0">
                <a:latin typeface="黑体" panose="02010609060101010101" pitchFamily="49" charset="-122"/>
                <a:ea typeface="黑体" panose="02010609060101010101" pitchFamily="49" charset="-122"/>
              </a:rPr>
              <a:t>且符号不同</a:t>
            </a:r>
          </a:p>
          <a:p>
            <a:endParaRPr lang="zh-CN" altLang="en-US" sz="2800" b="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1517209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习题解答</a:t>
            </a:r>
            <a:endParaRPr lang="zh-CN" altLang="en-US" dirty="0"/>
          </a:p>
        </p:txBody>
      </p:sp>
      <p:sp>
        <p:nvSpPr>
          <p:cNvPr id="4" name="内容占位符 2"/>
          <p:cNvSpPr>
            <a:spLocks noGrp="1"/>
          </p:cNvSpPr>
          <p:nvPr>
            <p:ph idx="1"/>
          </p:nvPr>
        </p:nvSpPr>
        <p:spPr>
          <a:xfrm>
            <a:off x="396875" y="1197678"/>
            <a:ext cx="7896225" cy="5136447"/>
          </a:xfrm>
        </p:spPr>
        <p:txBody>
          <a:bodyPr/>
          <a:lstStyle/>
          <a:p>
            <a:r>
              <a:rPr lang="en-US" altLang="zh-CN" sz="2800" b="0" dirty="0" smtClean="0">
                <a:latin typeface="黑体" panose="02010609060101010101" pitchFamily="49" charset="-122"/>
                <a:ea typeface="黑体" panose="02010609060101010101" pitchFamily="49" charset="-122"/>
              </a:rPr>
              <a:t>[2014</a:t>
            </a:r>
            <a:r>
              <a:rPr lang="zh-CN" altLang="en-US" sz="2800" b="0" dirty="0" smtClean="0">
                <a:latin typeface="黑体" panose="02010609060101010101" pitchFamily="49" charset="-122"/>
                <a:ea typeface="黑体" panose="02010609060101010101" pitchFamily="49" charset="-122"/>
              </a:rPr>
              <a:t>年考研题</a:t>
            </a:r>
            <a:r>
              <a:rPr lang="en-US" altLang="zh-CN" sz="2800" b="0" dirty="0" smtClean="0">
                <a:latin typeface="黑体" panose="02010609060101010101" pitchFamily="49" charset="-122"/>
                <a:ea typeface="黑体" panose="02010609060101010101" pitchFamily="49" charset="-122"/>
              </a:rPr>
              <a:t>] </a:t>
            </a:r>
            <a:r>
              <a:rPr lang="en-US" altLang="zh-CN" sz="2800" b="0" dirty="0" smtClean="0">
                <a:latin typeface="+mn-ea"/>
              </a:rPr>
              <a:t>float </a:t>
            </a:r>
            <a:r>
              <a:rPr lang="zh-CN" altLang="zh-CN" sz="2800" b="0" dirty="0">
                <a:latin typeface="黑体" panose="02010609060101010101" pitchFamily="49" charset="-122"/>
                <a:ea typeface="黑体" panose="02010609060101010101" pitchFamily="49" charset="-122"/>
              </a:rPr>
              <a:t>型数据据</a:t>
            </a:r>
            <a:r>
              <a:rPr lang="zh-CN" altLang="zh-CN" sz="2800" b="0" dirty="0" smtClean="0">
                <a:latin typeface="黑体" panose="02010609060101010101" pitchFamily="49" charset="-122"/>
                <a:ea typeface="黑体" panose="02010609060101010101" pitchFamily="49" charset="-122"/>
              </a:rPr>
              <a:t>常用</a:t>
            </a:r>
            <a:r>
              <a:rPr lang="en-US" altLang="zh-CN" sz="2800" b="0" dirty="0" smtClean="0">
                <a:latin typeface="黑体" panose="02010609060101010101" pitchFamily="49" charset="-122"/>
                <a:ea typeface="黑体" panose="02010609060101010101" pitchFamily="49" charset="-122"/>
              </a:rPr>
              <a:t>IEEE754</a:t>
            </a:r>
            <a:r>
              <a:rPr lang="zh-CN" altLang="zh-CN" sz="2800" b="0" dirty="0" smtClean="0">
                <a:latin typeface="黑体" panose="02010609060101010101" pitchFamily="49" charset="-122"/>
                <a:ea typeface="黑体" panose="02010609060101010101" pitchFamily="49" charset="-122"/>
              </a:rPr>
              <a:t>单精度</a:t>
            </a:r>
            <a:r>
              <a:rPr lang="zh-CN" altLang="zh-CN" sz="2800" b="0" dirty="0">
                <a:latin typeface="黑体" panose="02010609060101010101" pitchFamily="49" charset="-122"/>
                <a:ea typeface="黑体" panose="02010609060101010101" pitchFamily="49" charset="-122"/>
              </a:rPr>
              <a:t>浮点格式表示。假设两</a:t>
            </a:r>
            <a:r>
              <a:rPr lang="zh-CN" altLang="zh-CN" sz="2800" b="0" dirty="0" smtClean="0">
                <a:latin typeface="黑体" panose="02010609060101010101" pitchFamily="49" charset="-122"/>
                <a:ea typeface="黑体" panose="02010609060101010101" pitchFamily="49" charset="-122"/>
              </a:rPr>
              <a:t>个</a:t>
            </a:r>
            <a:r>
              <a:rPr lang="en-US" altLang="zh-CN" sz="2800" b="0" dirty="0" smtClean="0">
                <a:latin typeface="黑体" panose="02010609060101010101" pitchFamily="49" charset="-122"/>
                <a:ea typeface="黑体" panose="02010609060101010101" pitchFamily="49" charset="-122"/>
              </a:rPr>
              <a:t>float</a:t>
            </a:r>
            <a:r>
              <a:rPr lang="zh-CN" altLang="zh-CN" sz="2800" b="0" dirty="0" smtClean="0">
                <a:latin typeface="黑体" panose="02010609060101010101" pitchFamily="49" charset="-122"/>
                <a:ea typeface="黑体" panose="02010609060101010101" pitchFamily="49" charset="-122"/>
              </a:rPr>
              <a:t>型</a:t>
            </a:r>
            <a:r>
              <a:rPr lang="zh-CN" altLang="zh-CN" sz="2800" b="0" dirty="0">
                <a:latin typeface="黑体" panose="02010609060101010101" pitchFamily="49" charset="-122"/>
                <a:ea typeface="黑体" panose="02010609060101010101" pitchFamily="49" charset="-122"/>
              </a:rPr>
              <a:t>变量 </a:t>
            </a:r>
            <a:r>
              <a:rPr lang="en-US" altLang="zh-CN" sz="2800" b="0" dirty="0">
                <a:latin typeface="黑体" panose="02010609060101010101" pitchFamily="49" charset="-122"/>
                <a:ea typeface="黑体" panose="02010609060101010101" pitchFamily="49" charset="-122"/>
              </a:rPr>
              <a:t>x </a:t>
            </a:r>
            <a:r>
              <a:rPr lang="zh-CN" altLang="zh-CN" sz="2800" b="0" dirty="0">
                <a:latin typeface="黑体" panose="02010609060101010101" pitchFamily="49" charset="-122"/>
                <a:ea typeface="黑体" panose="02010609060101010101" pitchFamily="49" charset="-122"/>
              </a:rPr>
              <a:t>和 </a:t>
            </a:r>
            <a:r>
              <a:rPr lang="en-US" altLang="zh-CN" sz="2800" b="0" dirty="0">
                <a:latin typeface="黑体" panose="02010609060101010101" pitchFamily="49" charset="-122"/>
                <a:ea typeface="黑体" panose="02010609060101010101" pitchFamily="49" charset="-122"/>
              </a:rPr>
              <a:t>y </a:t>
            </a:r>
            <a:r>
              <a:rPr lang="zh-CN" altLang="zh-CN" sz="2800" b="0" dirty="0">
                <a:latin typeface="黑体" panose="02010609060101010101" pitchFamily="49" charset="-122"/>
                <a:ea typeface="黑体" panose="02010609060101010101" pitchFamily="49" charset="-122"/>
              </a:rPr>
              <a:t>分 别存放在 </a:t>
            </a:r>
            <a:r>
              <a:rPr lang="en-US" altLang="zh-CN" sz="2800" b="0" dirty="0">
                <a:latin typeface="黑体" panose="02010609060101010101" pitchFamily="49" charset="-122"/>
                <a:ea typeface="黑体" panose="02010609060101010101" pitchFamily="49" charset="-122"/>
              </a:rPr>
              <a:t>32 </a:t>
            </a:r>
            <a:r>
              <a:rPr lang="zh-CN" altLang="zh-CN" sz="2800" b="0" dirty="0">
                <a:latin typeface="黑体" panose="02010609060101010101" pitchFamily="49" charset="-122"/>
                <a:ea typeface="黑体" panose="02010609060101010101" pitchFamily="49" charset="-122"/>
              </a:rPr>
              <a:t>位寄存器 </a:t>
            </a:r>
            <a:r>
              <a:rPr lang="en-US" altLang="zh-CN" sz="2800" b="0" dirty="0">
                <a:latin typeface="黑体" panose="02010609060101010101" pitchFamily="49" charset="-122"/>
                <a:ea typeface="黑体" panose="02010609060101010101" pitchFamily="49" charset="-122"/>
              </a:rPr>
              <a:t>f1 </a:t>
            </a:r>
            <a:r>
              <a:rPr lang="zh-CN" altLang="zh-CN" sz="2800" b="0" dirty="0">
                <a:latin typeface="黑体" panose="02010609060101010101" pitchFamily="49" charset="-122"/>
                <a:ea typeface="黑体" panose="02010609060101010101" pitchFamily="49" charset="-122"/>
              </a:rPr>
              <a:t>和 </a:t>
            </a:r>
            <a:r>
              <a:rPr lang="en-US" altLang="zh-CN" sz="2800" b="0" dirty="0">
                <a:latin typeface="黑体" panose="02010609060101010101" pitchFamily="49" charset="-122"/>
                <a:ea typeface="黑体" panose="02010609060101010101" pitchFamily="49" charset="-122"/>
              </a:rPr>
              <a:t>f2 </a:t>
            </a:r>
            <a:r>
              <a:rPr lang="zh-CN" altLang="zh-CN" sz="2800" b="0" dirty="0">
                <a:latin typeface="黑体" panose="02010609060101010101" pitchFamily="49" charset="-122"/>
                <a:ea typeface="黑体" panose="02010609060101010101" pitchFamily="49" charset="-122"/>
              </a:rPr>
              <a:t>中，若</a:t>
            </a:r>
            <a:r>
              <a:rPr lang="en-US" altLang="zh-CN" sz="2800" b="0" dirty="0">
                <a:latin typeface="黑体" panose="02010609060101010101" pitchFamily="49" charset="-122"/>
                <a:ea typeface="黑体" panose="02010609060101010101" pitchFamily="49" charset="-122"/>
              </a:rPr>
              <a:t>(f1)=CC90 0000H</a:t>
            </a:r>
            <a:r>
              <a:rPr lang="zh-CN" altLang="zh-CN" sz="2800" b="0" dirty="0">
                <a:latin typeface="黑体" panose="02010609060101010101" pitchFamily="49" charset="-122"/>
                <a:ea typeface="黑体" panose="02010609060101010101" pitchFamily="49" charset="-122"/>
              </a:rPr>
              <a:t>，</a:t>
            </a:r>
            <a:r>
              <a:rPr lang="en-US" altLang="zh-CN" sz="2800" b="0" dirty="0">
                <a:latin typeface="黑体" panose="02010609060101010101" pitchFamily="49" charset="-122"/>
                <a:ea typeface="黑体" panose="02010609060101010101" pitchFamily="49" charset="-122"/>
              </a:rPr>
              <a:t>(f2)=B0C0 0000H</a:t>
            </a:r>
            <a:r>
              <a:rPr lang="zh-CN" altLang="zh-CN" sz="2800" b="0" dirty="0">
                <a:latin typeface="黑体" panose="02010609060101010101" pitchFamily="49" charset="-122"/>
                <a:ea typeface="黑体" panose="02010609060101010101" pitchFamily="49" charset="-122"/>
              </a:rPr>
              <a:t>，则 </a:t>
            </a:r>
            <a:r>
              <a:rPr lang="en-US" altLang="zh-CN" sz="2800" b="0" dirty="0">
                <a:latin typeface="黑体" panose="02010609060101010101" pitchFamily="49" charset="-122"/>
                <a:ea typeface="黑体" panose="02010609060101010101" pitchFamily="49" charset="-122"/>
              </a:rPr>
              <a:t>x </a:t>
            </a:r>
            <a:r>
              <a:rPr lang="zh-CN" altLang="zh-CN" sz="2800" b="0" dirty="0">
                <a:latin typeface="黑体" panose="02010609060101010101" pitchFamily="49" charset="-122"/>
                <a:ea typeface="黑体" panose="02010609060101010101" pitchFamily="49" charset="-122"/>
              </a:rPr>
              <a:t>和 </a:t>
            </a:r>
            <a:r>
              <a:rPr lang="en-US" altLang="zh-CN" sz="2800" b="0" dirty="0">
                <a:latin typeface="黑体" panose="02010609060101010101" pitchFamily="49" charset="-122"/>
                <a:ea typeface="黑体" panose="02010609060101010101" pitchFamily="49" charset="-122"/>
              </a:rPr>
              <a:t>y </a:t>
            </a:r>
            <a:r>
              <a:rPr lang="zh-CN" altLang="zh-CN" sz="2800" b="0" dirty="0">
                <a:latin typeface="黑体" panose="02010609060101010101" pitchFamily="49" charset="-122"/>
                <a:ea typeface="黑体" panose="02010609060101010101" pitchFamily="49" charset="-122"/>
              </a:rPr>
              <a:t>之间的 关系</a:t>
            </a:r>
            <a:r>
              <a:rPr lang="zh-CN" altLang="zh-CN" sz="2800" b="0" dirty="0" smtClean="0">
                <a:latin typeface="黑体" panose="02010609060101010101" pitchFamily="49" charset="-122"/>
                <a:ea typeface="黑体" panose="02010609060101010101" pitchFamily="49" charset="-122"/>
              </a:rPr>
              <a:t>为</a:t>
            </a:r>
            <a:endParaRPr lang="en-US" altLang="zh-CN" sz="2800" b="0" u="sng" dirty="0">
              <a:latin typeface="黑体" panose="02010609060101010101" pitchFamily="49" charset="-122"/>
              <a:ea typeface="黑体" panose="02010609060101010101" pitchFamily="49" charset="-122"/>
            </a:endParaRPr>
          </a:p>
          <a:p>
            <a:pPr marL="0" indent="0">
              <a:buNone/>
            </a:pPr>
            <a:r>
              <a:rPr lang="en-US" altLang="zh-CN" sz="2800" b="0" dirty="0" smtClean="0">
                <a:latin typeface="黑体" panose="02010609060101010101" pitchFamily="49" charset="-122"/>
                <a:ea typeface="黑体" panose="02010609060101010101" pitchFamily="49" charset="-122"/>
              </a:rPr>
              <a:t>	A</a:t>
            </a:r>
            <a:r>
              <a:rPr lang="zh-CN" altLang="zh-CN" sz="2800" b="0" dirty="0">
                <a:latin typeface="黑体" panose="02010609060101010101" pitchFamily="49" charset="-122"/>
                <a:ea typeface="黑体" panose="02010609060101010101" pitchFamily="49" charset="-122"/>
              </a:rPr>
              <a:t>．</a:t>
            </a:r>
            <a:r>
              <a:rPr lang="en-US" altLang="zh-CN" sz="2800" b="0" dirty="0">
                <a:latin typeface="黑体" panose="02010609060101010101" pitchFamily="49" charset="-122"/>
                <a:ea typeface="黑体" panose="02010609060101010101" pitchFamily="49" charset="-122"/>
              </a:rPr>
              <a:t>x&lt;y </a:t>
            </a:r>
            <a:r>
              <a:rPr lang="zh-CN" altLang="zh-CN" sz="2800" b="0" dirty="0">
                <a:latin typeface="黑体" panose="02010609060101010101" pitchFamily="49" charset="-122"/>
                <a:ea typeface="黑体" panose="02010609060101010101" pitchFamily="49" charset="-122"/>
              </a:rPr>
              <a:t>且符号相同</a:t>
            </a:r>
            <a:r>
              <a:rPr lang="en-US" altLang="zh-CN" sz="2800" b="0" dirty="0">
                <a:latin typeface="黑体" panose="02010609060101010101" pitchFamily="49" charset="-122"/>
                <a:ea typeface="黑体" panose="02010609060101010101" pitchFamily="49" charset="-122"/>
              </a:rPr>
              <a:t>	B</a:t>
            </a:r>
            <a:r>
              <a:rPr lang="zh-CN" altLang="zh-CN" sz="2800" b="0" dirty="0">
                <a:latin typeface="黑体" panose="02010609060101010101" pitchFamily="49" charset="-122"/>
                <a:ea typeface="黑体" panose="02010609060101010101" pitchFamily="49" charset="-122"/>
              </a:rPr>
              <a:t>．</a:t>
            </a:r>
            <a:r>
              <a:rPr lang="en-US" altLang="zh-CN" sz="2800" b="0" dirty="0">
                <a:latin typeface="黑体" panose="02010609060101010101" pitchFamily="49" charset="-122"/>
                <a:ea typeface="黑体" panose="02010609060101010101" pitchFamily="49" charset="-122"/>
              </a:rPr>
              <a:t>x&lt;y </a:t>
            </a:r>
            <a:r>
              <a:rPr lang="zh-CN" altLang="zh-CN" sz="2800" b="0" dirty="0">
                <a:latin typeface="黑体" panose="02010609060101010101" pitchFamily="49" charset="-122"/>
                <a:ea typeface="黑体" panose="02010609060101010101" pitchFamily="49" charset="-122"/>
              </a:rPr>
              <a:t>且符号不同</a:t>
            </a:r>
          </a:p>
          <a:p>
            <a:pPr marL="0" indent="0">
              <a:buNone/>
            </a:pPr>
            <a:r>
              <a:rPr lang="en-US" altLang="zh-CN" sz="2800" b="0" dirty="0" smtClean="0">
                <a:latin typeface="黑体" panose="02010609060101010101" pitchFamily="49" charset="-122"/>
                <a:ea typeface="黑体" panose="02010609060101010101" pitchFamily="49" charset="-122"/>
              </a:rPr>
              <a:t>	C</a:t>
            </a:r>
            <a:r>
              <a:rPr lang="zh-CN" altLang="zh-CN" sz="2800" b="0" dirty="0">
                <a:latin typeface="黑体" panose="02010609060101010101" pitchFamily="49" charset="-122"/>
                <a:ea typeface="黑体" panose="02010609060101010101" pitchFamily="49" charset="-122"/>
              </a:rPr>
              <a:t>．</a:t>
            </a:r>
            <a:r>
              <a:rPr lang="en-US" altLang="zh-CN" sz="2800" b="0" dirty="0">
                <a:latin typeface="黑体" panose="02010609060101010101" pitchFamily="49" charset="-122"/>
                <a:ea typeface="黑体" panose="02010609060101010101" pitchFamily="49" charset="-122"/>
              </a:rPr>
              <a:t>x&gt;y </a:t>
            </a:r>
            <a:r>
              <a:rPr lang="zh-CN" altLang="zh-CN" sz="2800" b="0" dirty="0">
                <a:latin typeface="黑体" panose="02010609060101010101" pitchFamily="49" charset="-122"/>
                <a:ea typeface="黑体" panose="02010609060101010101" pitchFamily="49" charset="-122"/>
              </a:rPr>
              <a:t>且符号相同</a:t>
            </a:r>
            <a:r>
              <a:rPr lang="en-US" altLang="zh-CN" sz="2800" b="0" dirty="0">
                <a:latin typeface="黑体" panose="02010609060101010101" pitchFamily="49" charset="-122"/>
                <a:ea typeface="黑体" panose="02010609060101010101" pitchFamily="49" charset="-122"/>
              </a:rPr>
              <a:t>	D</a:t>
            </a:r>
            <a:r>
              <a:rPr lang="zh-CN" altLang="zh-CN" sz="2800" b="0" dirty="0">
                <a:latin typeface="黑体" panose="02010609060101010101" pitchFamily="49" charset="-122"/>
                <a:ea typeface="黑体" panose="02010609060101010101" pitchFamily="49" charset="-122"/>
              </a:rPr>
              <a:t>．</a:t>
            </a:r>
            <a:r>
              <a:rPr lang="en-US" altLang="zh-CN" sz="2800" b="0" dirty="0">
                <a:latin typeface="黑体" panose="02010609060101010101" pitchFamily="49" charset="-122"/>
                <a:ea typeface="黑体" panose="02010609060101010101" pitchFamily="49" charset="-122"/>
              </a:rPr>
              <a:t>x&gt;y </a:t>
            </a:r>
            <a:r>
              <a:rPr lang="zh-CN" altLang="zh-CN" sz="2800" b="0" dirty="0">
                <a:latin typeface="黑体" panose="02010609060101010101" pitchFamily="49" charset="-122"/>
                <a:ea typeface="黑体" panose="02010609060101010101" pitchFamily="49" charset="-122"/>
              </a:rPr>
              <a:t>且符号不同</a:t>
            </a:r>
          </a:p>
          <a:p>
            <a:endParaRPr lang="en-US" altLang="zh-CN" sz="2800" kern="1200" dirty="0" smtClean="0">
              <a:latin typeface="Times New Roman" pitchFamily="18" charset="0"/>
            </a:endParaRPr>
          </a:p>
          <a:p>
            <a:r>
              <a:rPr lang="en-US" altLang="zh-CN" sz="2800" kern="1200" dirty="0" smtClean="0">
                <a:latin typeface="黑体" panose="02010609060101010101" pitchFamily="49" charset="-122"/>
                <a:ea typeface="黑体" panose="02010609060101010101" pitchFamily="49" charset="-122"/>
              </a:rPr>
              <a:t>(</a:t>
            </a:r>
            <a:r>
              <a:rPr lang="en-US" altLang="zh-CN" sz="2800" kern="1200" dirty="0">
                <a:latin typeface="黑体" panose="02010609060101010101" pitchFamily="49" charset="-122"/>
                <a:ea typeface="黑体" panose="02010609060101010101" pitchFamily="49" charset="-122"/>
              </a:rPr>
              <a:t>f1)</a:t>
            </a:r>
            <a:r>
              <a:rPr lang="zh-CN" altLang="zh-CN" sz="2800" kern="1200" dirty="0">
                <a:latin typeface="黑体" panose="02010609060101010101" pitchFamily="49" charset="-122"/>
                <a:ea typeface="黑体" panose="02010609060101010101" pitchFamily="49" charset="-122"/>
              </a:rPr>
              <a:t>与</a:t>
            </a:r>
            <a:r>
              <a:rPr lang="en-US" altLang="zh-CN" sz="2800" kern="1200" dirty="0">
                <a:latin typeface="黑体" panose="02010609060101010101" pitchFamily="49" charset="-122"/>
                <a:ea typeface="黑体" panose="02010609060101010101" pitchFamily="49" charset="-122"/>
              </a:rPr>
              <a:t>(f2)</a:t>
            </a:r>
            <a:r>
              <a:rPr lang="zh-CN" altLang="zh-CN" sz="2800" kern="1200" dirty="0">
                <a:latin typeface="黑体" panose="02010609060101010101" pitchFamily="49" charset="-122"/>
                <a:ea typeface="黑体" panose="02010609060101010101" pitchFamily="49" charset="-122"/>
              </a:rPr>
              <a:t>的前 </a:t>
            </a:r>
            <a:r>
              <a:rPr lang="en-US" altLang="zh-CN" sz="2800" kern="1200" dirty="0">
                <a:latin typeface="黑体" panose="02010609060101010101" pitchFamily="49" charset="-122"/>
                <a:ea typeface="黑体" panose="02010609060101010101" pitchFamily="49" charset="-122"/>
              </a:rPr>
              <a:t>4 </a:t>
            </a:r>
            <a:r>
              <a:rPr lang="zh-CN" altLang="zh-CN" sz="2800" kern="1200" dirty="0">
                <a:latin typeface="黑体" panose="02010609060101010101" pitchFamily="49" charset="-122"/>
                <a:ea typeface="黑体" panose="02010609060101010101" pitchFamily="49" charset="-122"/>
              </a:rPr>
              <a:t>位为 </a:t>
            </a:r>
            <a:r>
              <a:rPr lang="en-US" altLang="zh-CN" sz="2800" kern="1200" dirty="0">
                <a:latin typeface="黑体" panose="02010609060101010101" pitchFamily="49" charset="-122"/>
                <a:ea typeface="黑体" panose="02010609060101010101" pitchFamily="49" charset="-122"/>
              </a:rPr>
              <a:t>1100 </a:t>
            </a:r>
            <a:r>
              <a:rPr lang="zh-CN" altLang="zh-CN" sz="2800" kern="1200" dirty="0">
                <a:latin typeface="黑体" panose="02010609060101010101" pitchFamily="49" charset="-122"/>
                <a:ea typeface="黑体" panose="02010609060101010101" pitchFamily="49" charset="-122"/>
              </a:rPr>
              <a:t>与 </a:t>
            </a:r>
            <a:r>
              <a:rPr lang="en-US" altLang="zh-CN" sz="2800" kern="1200" dirty="0" smtClean="0">
                <a:latin typeface="黑体" panose="02010609060101010101" pitchFamily="49" charset="-122"/>
                <a:ea typeface="黑体" panose="02010609060101010101" pitchFamily="49" charset="-122"/>
              </a:rPr>
              <a:t>1011</a:t>
            </a:r>
          </a:p>
          <a:p>
            <a:pPr marL="0" indent="0">
              <a:buNone/>
            </a:pPr>
            <a:r>
              <a:rPr lang="en-US" altLang="zh-CN" sz="2800" b="0" kern="1200" dirty="0" smtClean="0">
                <a:latin typeface="黑体" panose="02010609060101010101" pitchFamily="49" charset="-122"/>
                <a:ea typeface="黑体" panose="02010609060101010101" pitchFamily="49" charset="-122"/>
              </a:rPr>
              <a:t>=&gt;</a:t>
            </a:r>
            <a:r>
              <a:rPr lang="zh-CN" altLang="en-US" sz="2800" b="0" kern="1200" dirty="0">
                <a:latin typeface="黑体" panose="02010609060101010101" pitchFamily="49" charset="-122"/>
                <a:ea typeface="黑体" panose="02010609060101010101" pitchFamily="49" charset="-122"/>
              </a:rPr>
              <a:t>两数均为</a:t>
            </a:r>
            <a:r>
              <a:rPr lang="zh-CN" altLang="en-US" sz="2800" b="0" kern="1200" dirty="0" smtClean="0">
                <a:latin typeface="黑体" panose="02010609060101010101" pitchFamily="49" charset="-122"/>
                <a:ea typeface="黑体" panose="02010609060101010101" pitchFamily="49" charset="-122"/>
              </a:rPr>
              <a:t>负数</a:t>
            </a:r>
            <a:r>
              <a:rPr lang="en-US" altLang="zh-CN" sz="2800" b="0" kern="1200" dirty="0" smtClean="0">
                <a:latin typeface="黑体" panose="02010609060101010101" pitchFamily="49" charset="-122"/>
                <a:ea typeface="黑体" panose="02010609060101010101" pitchFamily="49" charset="-122"/>
              </a:rPr>
              <a:t>,(</a:t>
            </a:r>
            <a:r>
              <a:rPr lang="en-US" altLang="zh-CN" sz="2800" b="0" kern="1200" dirty="0">
                <a:latin typeface="黑体" panose="02010609060101010101" pitchFamily="49" charset="-122"/>
                <a:ea typeface="黑体" panose="02010609060101010101" pitchFamily="49" charset="-122"/>
              </a:rPr>
              <a:t>f1)</a:t>
            </a:r>
            <a:r>
              <a:rPr lang="zh-CN" altLang="en-US" sz="2800" b="0" kern="1200" dirty="0">
                <a:latin typeface="黑体" panose="02010609060101010101" pitchFamily="49" charset="-122"/>
                <a:ea typeface="黑体" panose="02010609060101010101" pitchFamily="49" charset="-122"/>
              </a:rPr>
              <a:t>的阶码大于</a:t>
            </a:r>
            <a:r>
              <a:rPr lang="en-US" altLang="zh-CN" sz="2800" b="0" kern="1200" dirty="0">
                <a:latin typeface="黑体" panose="02010609060101010101" pitchFamily="49" charset="-122"/>
                <a:ea typeface="黑体" panose="02010609060101010101" pitchFamily="49" charset="-122"/>
              </a:rPr>
              <a:t>(f2)</a:t>
            </a:r>
            <a:r>
              <a:rPr lang="zh-CN" altLang="en-US" sz="2800" b="0" kern="1200" dirty="0">
                <a:latin typeface="黑体" panose="02010609060101010101" pitchFamily="49" charset="-122"/>
                <a:ea typeface="黑体" panose="02010609060101010101" pitchFamily="49" charset="-122"/>
              </a:rPr>
              <a:t>的阶码</a:t>
            </a:r>
            <a:endParaRPr lang="zh-CN" altLang="en-US" sz="2800" b="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87478866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6875" y="533400"/>
            <a:ext cx="8137525" cy="5800725"/>
          </a:xfrm>
        </p:spPr>
        <p:txBody>
          <a:bodyPr/>
          <a:lstStyle/>
          <a:p>
            <a:r>
              <a:rPr lang="en-US" altLang="zh-CN" sz="2800" b="0" dirty="0" smtClean="0">
                <a:latin typeface="黑体" panose="02010609060101010101" pitchFamily="49" charset="-122"/>
                <a:ea typeface="黑体" panose="02010609060101010101" pitchFamily="49" charset="-122"/>
              </a:rPr>
              <a:t>[2013</a:t>
            </a:r>
            <a:r>
              <a:rPr lang="zh-CN" altLang="en-US" sz="2800" b="0" dirty="0" smtClean="0">
                <a:latin typeface="黑体" panose="02010609060101010101" pitchFamily="49" charset="-122"/>
                <a:ea typeface="黑体" panose="02010609060101010101" pitchFamily="49" charset="-122"/>
              </a:rPr>
              <a:t>年考研题</a:t>
            </a:r>
            <a:r>
              <a:rPr lang="en-US" altLang="zh-CN" sz="2800" b="0" dirty="0" smtClean="0">
                <a:latin typeface="黑体" panose="02010609060101010101" pitchFamily="49" charset="-122"/>
                <a:ea typeface="黑体" panose="02010609060101010101" pitchFamily="49" charset="-122"/>
              </a:rPr>
              <a:t>] </a:t>
            </a:r>
            <a:r>
              <a:rPr lang="zh-CN" altLang="en-US" sz="2800" b="0" dirty="0" smtClean="0">
                <a:latin typeface="黑体" panose="02010609060101010101" pitchFamily="49" charset="-122"/>
                <a:ea typeface="黑体" panose="02010609060101010101" pitchFamily="49" charset="-122"/>
              </a:rPr>
              <a:t>某</a:t>
            </a:r>
            <a:r>
              <a:rPr lang="zh-CN" altLang="en-US" sz="2800" b="0" dirty="0">
                <a:latin typeface="黑体" panose="02010609060101010101" pitchFamily="49" charset="-122"/>
                <a:ea typeface="黑体" panose="02010609060101010101" pitchFamily="49" charset="-122"/>
              </a:rPr>
              <a:t>字长为</a:t>
            </a:r>
            <a:r>
              <a:rPr lang="en-US" altLang="zh-CN" sz="2800" b="0" dirty="0">
                <a:latin typeface="黑体" panose="02010609060101010101" pitchFamily="49" charset="-122"/>
                <a:ea typeface="黑体" panose="02010609060101010101" pitchFamily="49" charset="-122"/>
              </a:rPr>
              <a:t>8 </a:t>
            </a:r>
            <a:r>
              <a:rPr lang="zh-CN" altLang="en-US" sz="2800" b="0" dirty="0">
                <a:latin typeface="黑体" panose="02010609060101010101" pitchFamily="49" charset="-122"/>
                <a:ea typeface="黑体" panose="02010609060101010101" pitchFamily="49" charset="-122"/>
              </a:rPr>
              <a:t>位的计算机中，已知整型变量</a:t>
            </a:r>
            <a:r>
              <a:rPr lang="en-US" altLang="zh-CN" sz="2800" b="0" dirty="0">
                <a:latin typeface="黑体" panose="02010609060101010101" pitchFamily="49" charset="-122"/>
                <a:ea typeface="黑体" panose="02010609060101010101" pitchFamily="49" charset="-122"/>
              </a:rPr>
              <a:t>x</a:t>
            </a:r>
            <a:r>
              <a:rPr lang="zh-CN" altLang="en-US" sz="2800" b="0" dirty="0">
                <a:latin typeface="黑体" panose="02010609060101010101" pitchFamily="49" charset="-122"/>
                <a:ea typeface="黑体" panose="02010609060101010101" pitchFamily="49" charset="-122"/>
              </a:rPr>
              <a:t>、</a:t>
            </a:r>
            <a:r>
              <a:rPr lang="en-US" altLang="zh-CN" sz="2800" b="0" dirty="0">
                <a:latin typeface="黑体" panose="02010609060101010101" pitchFamily="49" charset="-122"/>
                <a:ea typeface="黑体" panose="02010609060101010101" pitchFamily="49" charset="-122"/>
              </a:rPr>
              <a:t>y </a:t>
            </a:r>
            <a:r>
              <a:rPr lang="zh-CN" altLang="en-US" sz="2800" b="0" dirty="0">
                <a:latin typeface="黑体" panose="02010609060101010101" pitchFamily="49" charset="-122"/>
                <a:ea typeface="黑体" panose="02010609060101010101" pitchFamily="49" charset="-122"/>
              </a:rPr>
              <a:t>的机器数分别为</a:t>
            </a:r>
            <a:r>
              <a:rPr lang="en-US" altLang="zh-CN" sz="2800" b="0" dirty="0">
                <a:latin typeface="黑体" panose="02010609060101010101" pitchFamily="49" charset="-122"/>
                <a:ea typeface="黑体" panose="02010609060101010101" pitchFamily="49" charset="-122"/>
              </a:rPr>
              <a:t>[x]</a:t>
            </a:r>
            <a:r>
              <a:rPr lang="zh-CN" altLang="en-US" sz="2800" b="0" dirty="0">
                <a:latin typeface="黑体" panose="02010609060101010101" pitchFamily="49" charset="-122"/>
                <a:ea typeface="黑体" panose="02010609060101010101" pitchFamily="49" charset="-122"/>
              </a:rPr>
              <a:t>补</a:t>
            </a:r>
            <a:r>
              <a:rPr lang="en-US" altLang="zh-CN" sz="2800" b="0" dirty="0">
                <a:latin typeface="黑体" panose="02010609060101010101" pitchFamily="49" charset="-122"/>
                <a:ea typeface="黑体" panose="02010609060101010101" pitchFamily="49" charset="-122"/>
              </a:rPr>
              <a:t>=11110100</a:t>
            </a:r>
            <a:r>
              <a:rPr lang="zh-CN" altLang="en-US" sz="2800" b="0" dirty="0">
                <a:latin typeface="黑体" panose="02010609060101010101" pitchFamily="49" charset="-122"/>
                <a:ea typeface="黑体" panose="02010609060101010101" pitchFamily="49" charset="-122"/>
              </a:rPr>
              <a:t>，</a:t>
            </a:r>
            <a:r>
              <a:rPr lang="en-US" altLang="zh-CN" sz="2800" b="0" dirty="0">
                <a:latin typeface="黑体" panose="02010609060101010101" pitchFamily="49" charset="-122"/>
                <a:ea typeface="黑体" panose="02010609060101010101" pitchFamily="49" charset="-122"/>
              </a:rPr>
              <a:t>[y]</a:t>
            </a:r>
            <a:r>
              <a:rPr lang="zh-CN" altLang="en-US" sz="2800" b="0" dirty="0">
                <a:latin typeface="黑体" panose="02010609060101010101" pitchFamily="49" charset="-122"/>
                <a:ea typeface="黑体" panose="02010609060101010101" pitchFamily="49" charset="-122"/>
              </a:rPr>
              <a:t>补</a:t>
            </a:r>
            <a:r>
              <a:rPr lang="en-US" altLang="zh-CN" sz="2800" b="0" dirty="0">
                <a:latin typeface="黑体" panose="02010609060101010101" pitchFamily="49" charset="-122"/>
                <a:ea typeface="黑体" panose="02010609060101010101" pitchFamily="49" charset="-122"/>
              </a:rPr>
              <a:t>=10110000</a:t>
            </a:r>
            <a:r>
              <a:rPr lang="zh-CN" altLang="en-US" sz="2800" b="0" dirty="0" smtClean="0">
                <a:latin typeface="黑体" panose="02010609060101010101" pitchFamily="49" charset="-122"/>
                <a:ea typeface="黑体" panose="02010609060101010101" pitchFamily="49" charset="-122"/>
              </a:rPr>
              <a:t>。</a:t>
            </a:r>
            <a:endParaRPr lang="en-US" altLang="zh-CN" sz="2800" b="0" dirty="0" smtClean="0">
              <a:latin typeface="黑体" panose="02010609060101010101" pitchFamily="49" charset="-122"/>
              <a:ea typeface="黑体" panose="02010609060101010101" pitchFamily="49" charset="-122"/>
            </a:endParaRPr>
          </a:p>
          <a:p>
            <a:pPr marL="0" indent="0">
              <a:buNone/>
            </a:pPr>
            <a:r>
              <a:rPr lang="en-US" altLang="zh-CN" sz="2800" b="0" dirty="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 </a:t>
            </a:r>
            <a:r>
              <a:rPr lang="zh-CN" altLang="en-US" sz="2800" b="0" dirty="0" smtClean="0">
                <a:latin typeface="黑体" panose="02010609060101010101" pitchFamily="49" charset="-122"/>
                <a:ea typeface="黑体" panose="02010609060101010101" pitchFamily="49" charset="-122"/>
              </a:rPr>
              <a:t>若整型</a:t>
            </a:r>
            <a:r>
              <a:rPr lang="zh-CN" altLang="en-US" sz="2800" b="0" dirty="0">
                <a:latin typeface="黑体" panose="02010609060101010101" pitchFamily="49" charset="-122"/>
                <a:ea typeface="黑体" panose="02010609060101010101" pitchFamily="49" charset="-122"/>
              </a:rPr>
              <a:t>变量</a:t>
            </a:r>
            <a:r>
              <a:rPr lang="en-US" altLang="zh-CN" sz="2800" b="0" dirty="0">
                <a:latin typeface="黑体" panose="02010609060101010101" pitchFamily="49" charset="-122"/>
                <a:ea typeface="黑体" panose="02010609060101010101" pitchFamily="49" charset="-122"/>
              </a:rPr>
              <a:t>z=2*</a:t>
            </a:r>
            <a:r>
              <a:rPr lang="en-US" altLang="zh-CN" sz="2800" b="0" dirty="0" err="1">
                <a:latin typeface="黑体" panose="02010609060101010101" pitchFamily="49" charset="-122"/>
                <a:ea typeface="黑体" panose="02010609060101010101" pitchFamily="49" charset="-122"/>
              </a:rPr>
              <a:t>x+y</a:t>
            </a:r>
            <a:r>
              <a:rPr lang="en-US" altLang="zh-CN" sz="2800" b="0" dirty="0">
                <a:latin typeface="黑体" panose="02010609060101010101" pitchFamily="49" charset="-122"/>
                <a:ea typeface="黑体" panose="02010609060101010101" pitchFamily="49" charset="-122"/>
              </a:rPr>
              <a:t>/2</a:t>
            </a:r>
            <a:r>
              <a:rPr lang="zh-CN" altLang="en-US" sz="2800" b="0" dirty="0">
                <a:latin typeface="黑体" panose="02010609060101010101" pitchFamily="49" charset="-122"/>
                <a:ea typeface="黑体" panose="02010609060101010101" pitchFamily="49" charset="-122"/>
              </a:rPr>
              <a:t>，则</a:t>
            </a:r>
            <a:r>
              <a:rPr lang="en-US" altLang="zh-CN" sz="2800" b="0" dirty="0">
                <a:latin typeface="黑体" panose="02010609060101010101" pitchFamily="49" charset="-122"/>
                <a:ea typeface="黑体" panose="02010609060101010101" pitchFamily="49" charset="-122"/>
              </a:rPr>
              <a:t>z</a:t>
            </a:r>
            <a:r>
              <a:rPr lang="zh-CN" altLang="en-US" sz="2800" b="0" dirty="0">
                <a:latin typeface="黑体" panose="02010609060101010101" pitchFamily="49" charset="-122"/>
                <a:ea typeface="黑体" panose="02010609060101010101" pitchFamily="49" charset="-122"/>
              </a:rPr>
              <a:t>的机器数为 </a:t>
            </a:r>
            <a:endParaRPr lang="en-US" altLang="zh-CN" sz="2800" b="0" dirty="0" smtClean="0">
              <a:latin typeface="黑体" panose="02010609060101010101" pitchFamily="49" charset="-122"/>
              <a:ea typeface="黑体" panose="02010609060101010101" pitchFamily="49" charset="-122"/>
            </a:endParaRPr>
          </a:p>
          <a:p>
            <a:endParaRPr lang="zh-CN" altLang="en-US" sz="2800" b="0" dirty="0">
              <a:latin typeface="黑体" panose="02010609060101010101" pitchFamily="49" charset="-122"/>
              <a:ea typeface="黑体" panose="02010609060101010101" pitchFamily="49" charset="-122"/>
            </a:endParaRPr>
          </a:p>
          <a:p>
            <a:pPr marL="0" indent="0">
              <a:buNone/>
            </a:pPr>
            <a:r>
              <a:rPr lang="en-US" altLang="zh-CN" sz="2800" b="0" dirty="0" smtClean="0">
                <a:latin typeface="黑体" panose="02010609060101010101" pitchFamily="49" charset="-122"/>
                <a:ea typeface="黑体" panose="02010609060101010101" pitchFamily="49" charset="-122"/>
              </a:rPr>
              <a:t>  	A</a:t>
            </a:r>
            <a:r>
              <a:rPr lang="en-US" altLang="zh-CN" sz="2800" b="0" dirty="0">
                <a:latin typeface="黑体" panose="02010609060101010101" pitchFamily="49" charset="-122"/>
                <a:ea typeface="黑体" panose="02010609060101010101" pitchFamily="49" charset="-122"/>
              </a:rPr>
              <a:t>. 11000000      B. 00100100       </a:t>
            </a:r>
            <a:r>
              <a:rPr lang="en-US" altLang="zh-CN" sz="2800" b="0" dirty="0" smtClean="0">
                <a:latin typeface="黑体" panose="02010609060101010101" pitchFamily="49" charset="-122"/>
                <a:ea typeface="黑体" panose="02010609060101010101" pitchFamily="49" charset="-122"/>
              </a:rPr>
              <a:t>   	C</a:t>
            </a:r>
            <a:r>
              <a:rPr lang="en-US" altLang="zh-CN" sz="2800" b="0" dirty="0">
                <a:latin typeface="黑体" panose="02010609060101010101" pitchFamily="49" charset="-122"/>
                <a:ea typeface="黑体" panose="02010609060101010101" pitchFamily="49" charset="-122"/>
              </a:rPr>
              <a:t>. 10101010      </a:t>
            </a:r>
            <a:r>
              <a:rPr lang="en-US" altLang="zh-CN" sz="2800" b="0" dirty="0" smtClean="0">
                <a:latin typeface="黑体" panose="02010609060101010101" pitchFamily="49" charset="-122"/>
                <a:ea typeface="黑体" panose="02010609060101010101" pitchFamily="49" charset="-122"/>
              </a:rPr>
              <a:t>D</a:t>
            </a:r>
            <a:r>
              <a:rPr lang="en-US" altLang="zh-CN" sz="2800" b="0" dirty="0">
                <a:latin typeface="黑体" panose="02010609060101010101" pitchFamily="49" charset="-122"/>
                <a:ea typeface="黑体" panose="02010609060101010101" pitchFamily="49" charset="-122"/>
              </a:rPr>
              <a:t>. </a:t>
            </a:r>
            <a:r>
              <a:rPr lang="zh-CN" altLang="en-US" sz="2800" b="0" dirty="0">
                <a:latin typeface="黑体" panose="02010609060101010101" pitchFamily="49" charset="-122"/>
                <a:ea typeface="黑体" panose="02010609060101010101" pitchFamily="49" charset="-122"/>
              </a:rPr>
              <a:t>溢出 </a:t>
            </a:r>
            <a:endParaRPr lang="en-US" altLang="zh-CN" sz="2800" b="0" dirty="0" smtClean="0">
              <a:latin typeface="黑体" panose="02010609060101010101" pitchFamily="49" charset="-122"/>
              <a:ea typeface="黑体" panose="02010609060101010101" pitchFamily="49" charset="-122"/>
            </a:endParaRPr>
          </a:p>
          <a:p>
            <a:pPr marL="0" indent="0">
              <a:buNone/>
            </a:pPr>
            <a:endParaRPr lang="en-US" altLang="zh-CN" sz="2800" b="0" dirty="0">
              <a:latin typeface="黑体" panose="02010609060101010101" pitchFamily="49" charset="-122"/>
              <a:ea typeface="黑体" panose="02010609060101010101" pitchFamily="49" charset="-122"/>
            </a:endParaRPr>
          </a:p>
          <a:p>
            <a:pPr marL="0" indent="0">
              <a:buNone/>
            </a:pPr>
            <a:endParaRPr lang="zh-CN" altLang="en-US" sz="2800" b="0" dirty="0">
              <a:latin typeface="黑体" panose="02010609060101010101" pitchFamily="49" charset="-122"/>
              <a:ea typeface="黑体" panose="02010609060101010101" pitchFamily="49" charset="-122"/>
            </a:endParaRPr>
          </a:p>
          <a:p>
            <a:r>
              <a:rPr lang="zh-CN" altLang="zh-CN" sz="2800" b="0" kern="1200" dirty="0">
                <a:latin typeface="黑体" panose="02010609060101010101" pitchFamily="49" charset="-122"/>
                <a:ea typeface="黑体" panose="02010609060101010101" pitchFamily="49" charset="-122"/>
              </a:rPr>
              <a:t>将</a:t>
            </a:r>
            <a:r>
              <a:rPr lang="en-US" altLang="zh-CN" sz="2800" b="0" kern="1200" dirty="0">
                <a:latin typeface="黑体" panose="02010609060101010101" pitchFamily="49" charset="-122"/>
                <a:ea typeface="黑体" panose="02010609060101010101" pitchFamily="49" charset="-122"/>
              </a:rPr>
              <a:t>x </a:t>
            </a:r>
            <a:r>
              <a:rPr lang="zh-CN" altLang="zh-CN" sz="2800" b="0" kern="1200" dirty="0">
                <a:latin typeface="黑体" panose="02010609060101010101" pitchFamily="49" charset="-122"/>
                <a:ea typeface="黑体" panose="02010609060101010101" pitchFamily="49" charset="-122"/>
              </a:rPr>
              <a:t>左移一位，</a:t>
            </a:r>
            <a:r>
              <a:rPr lang="en-US" altLang="zh-CN" sz="2800" b="0" kern="1200" dirty="0">
                <a:latin typeface="黑体" panose="02010609060101010101" pitchFamily="49" charset="-122"/>
                <a:ea typeface="黑体" panose="02010609060101010101" pitchFamily="49" charset="-122"/>
              </a:rPr>
              <a:t>y </a:t>
            </a:r>
            <a:r>
              <a:rPr lang="zh-CN" altLang="zh-CN" sz="2800" b="0" kern="1200" dirty="0">
                <a:latin typeface="黑体" panose="02010609060101010101" pitchFamily="49" charset="-122"/>
                <a:ea typeface="黑体" panose="02010609060101010101" pitchFamily="49" charset="-122"/>
              </a:rPr>
              <a:t>右移一位，两个数的补码相加</a:t>
            </a:r>
            <a:endParaRPr lang="zh-CN" altLang="en-US" sz="2800" b="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462804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6875" y="609600"/>
            <a:ext cx="8289925" cy="5724525"/>
          </a:xfrm>
        </p:spPr>
        <p:txBody>
          <a:bodyPr/>
          <a:lstStyle/>
          <a:p>
            <a:r>
              <a:rPr lang="en-US" altLang="zh-CN" sz="2800" b="0" dirty="0" smtClean="0">
                <a:latin typeface="黑体" panose="02010609060101010101" pitchFamily="49" charset="-122"/>
                <a:ea typeface="黑体" panose="02010609060101010101" pitchFamily="49" charset="-122"/>
              </a:rPr>
              <a:t>[2014</a:t>
            </a:r>
            <a:r>
              <a:rPr lang="zh-CN" altLang="en-US" sz="2800" b="0" dirty="0" smtClean="0">
                <a:latin typeface="黑体" panose="02010609060101010101" pitchFamily="49" charset="-122"/>
                <a:ea typeface="黑体" panose="02010609060101010101" pitchFamily="49" charset="-122"/>
              </a:rPr>
              <a:t>年考研题</a:t>
            </a:r>
            <a:r>
              <a:rPr lang="en-US" altLang="zh-CN" sz="2800" b="0" dirty="0" smtClean="0">
                <a:latin typeface="黑体" panose="02010609060101010101" pitchFamily="49" charset="-122"/>
                <a:ea typeface="黑体" panose="02010609060101010101" pitchFamily="49" charset="-122"/>
              </a:rPr>
              <a:t>] </a:t>
            </a:r>
            <a:r>
              <a:rPr lang="zh-CN" altLang="zh-CN" sz="2800" b="0" dirty="0" smtClean="0">
                <a:latin typeface="黑体" panose="02010609060101010101" pitchFamily="49" charset="-122"/>
                <a:ea typeface="黑体" panose="02010609060101010101" pitchFamily="49" charset="-122"/>
              </a:rPr>
              <a:t>若 </a:t>
            </a:r>
            <a:r>
              <a:rPr lang="en-US" altLang="zh-CN" sz="2800" b="0" dirty="0">
                <a:latin typeface="黑体" panose="02010609060101010101" pitchFamily="49" charset="-122"/>
                <a:ea typeface="黑体" panose="02010609060101010101" pitchFamily="49" charset="-122"/>
              </a:rPr>
              <a:t>x=103</a:t>
            </a:r>
            <a:r>
              <a:rPr lang="zh-CN" altLang="zh-CN" sz="2800" b="0" dirty="0">
                <a:latin typeface="黑体" panose="02010609060101010101" pitchFamily="49" charset="-122"/>
                <a:ea typeface="黑体" panose="02010609060101010101" pitchFamily="49" charset="-122"/>
              </a:rPr>
              <a:t>，</a:t>
            </a:r>
            <a:r>
              <a:rPr lang="en-US" altLang="zh-CN" sz="2800" b="0" dirty="0">
                <a:latin typeface="黑体" panose="02010609060101010101" pitchFamily="49" charset="-122"/>
                <a:ea typeface="黑体" panose="02010609060101010101" pitchFamily="49" charset="-122"/>
              </a:rPr>
              <a:t>y=-25</a:t>
            </a:r>
            <a:r>
              <a:rPr lang="zh-CN" altLang="zh-CN" sz="2800" b="0" dirty="0">
                <a:latin typeface="黑体" panose="02010609060101010101" pitchFamily="49" charset="-122"/>
                <a:ea typeface="黑体" panose="02010609060101010101" pitchFamily="49" charset="-122"/>
              </a:rPr>
              <a:t>，则下列表达式</a:t>
            </a:r>
            <a:r>
              <a:rPr lang="zh-CN" altLang="zh-CN" sz="2800" b="0" dirty="0" smtClean="0">
                <a:latin typeface="黑体" panose="02010609060101010101" pitchFamily="49" charset="-122"/>
                <a:ea typeface="黑体" panose="02010609060101010101" pitchFamily="49" charset="-122"/>
              </a:rPr>
              <a:t>采用</a:t>
            </a:r>
            <a:r>
              <a:rPr lang="en-US" altLang="zh-CN" sz="2800" b="0" dirty="0" smtClean="0">
                <a:latin typeface="黑体" panose="02010609060101010101" pitchFamily="49" charset="-122"/>
                <a:ea typeface="黑体" panose="02010609060101010101" pitchFamily="49" charset="-122"/>
              </a:rPr>
              <a:t>8</a:t>
            </a:r>
            <a:r>
              <a:rPr lang="zh-CN" altLang="zh-CN" sz="2800" b="0" dirty="0" smtClean="0">
                <a:latin typeface="黑体" panose="02010609060101010101" pitchFamily="49" charset="-122"/>
                <a:ea typeface="黑体" panose="02010609060101010101" pitchFamily="49" charset="-122"/>
              </a:rPr>
              <a:t>位</a:t>
            </a:r>
            <a:r>
              <a:rPr lang="zh-CN" altLang="zh-CN" sz="2800" b="0" dirty="0">
                <a:latin typeface="黑体" panose="02010609060101010101" pitchFamily="49" charset="-122"/>
                <a:ea typeface="黑体" panose="02010609060101010101" pitchFamily="49" charset="-122"/>
              </a:rPr>
              <a:t>定点补码运算实现时，会发生溢出</a:t>
            </a:r>
            <a:r>
              <a:rPr lang="zh-CN" altLang="zh-CN" sz="2800" b="0" dirty="0" smtClean="0">
                <a:latin typeface="黑体" panose="02010609060101010101" pitchFamily="49" charset="-122"/>
                <a:ea typeface="黑体" panose="02010609060101010101" pitchFamily="49" charset="-122"/>
              </a:rPr>
              <a:t>的是</a:t>
            </a:r>
            <a:endParaRPr lang="zh-CN" altLang="zh-CN" sz="2800" b="0" dirty="0">
              <a:latin typeface="黑体" panose="02010609060101010101" pitchFamily="49" charset="-122"/>
              <a:ea typeface="黑体" panose="02010609060101010101" pitchFamily="49" charset="-122"/>
            </a:endParaRPr>
          </a:p>
          <a:p>
            <a:pPr marL="0" indent="0">
              <a:buNone/>
            </a:pPr>
            <a:r>
              <a:rPr lang="en-US" altLang="zh-CN" sz="2800" b="0" dirty="0" smtClean="0">
                <a:latin typeface="黑体" panose="02010609060101010101" pitchFamily="49" charset="-122"/>
                <a:ea typeface="黑体" panose="02010609060101010101" pitchFamily="49" charset="-122"/>
              </a:rPr>
              <a:t>	A</a:t>
            </a:r>
            <a:r>
              <a:rPr lang="zh-CN" altLang="zh-CN" sz="2800" b="0" dirty="0">
                <a:latin typeface="黑体" panose="02010609060101010101" pitchFamily="49" charset="-122"/>
                <a:ea typeface="黑体" panose="02010609060101010101" pitchFamily="49" charset="-122"/>
              </a:rPr>
              <a:t>．</a:t>
            </a:r>
            <a:r>
              <a:rPr lang="en-US" altLang="zh-CN" sz="2800" b="0" dirty="0" err="1">
                <a:latin typeface="黑体" panose="02010609060101010101" pitchFamily="49" charset="-122"/>
                <a:ea typeface="黑体" panose="02010609060101010101" pitchFamily="49" charset="-122"/>
              </a:rPr>
              <a:t>x+y</a:t>
            </a:r>
            <a:r>
              <a:rPr lang="en-US" altLang="zh-CN" sz="2800" b="0" dirty="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	B</a:t>
            </a:r>
            <a:r>
              <a:rPr lang="zh-CN" altLang="zh-CN" sz="2800" b="0" dirty="0">
                <a:latin typeface="黑体" panose="02010609060101010101" pitchFamily="49" charset="-122"/>
                <a:ea typeface="黑体" panose="02010609060101010101" pitchFamily="49" charset="-122"/>
              </a:rPr>
              <a:t>．</a:t>
            </a:r>
            <a:r>
              <a:rPr lang="en-US" altLang="zh-CN" sz="2800" b="0" dirty="0">
                <a:latin typeface="黑体" panose="02010609060101010101" pitchFamily="49" charset="-122"/>
                <a:ea typeface="黑体" panose="02010609060101010101" pitchFamily="49" charset="-122"/>
              </a:rPr>
              <a:t>-</a:t>
            </a:r>
            <a:r>
              <a:rPr lang="en-US" altLang="zh-CN" sz="2800" b="0" dirty="0" err="1">
                <a:latin typeface="黑体" panose="02010609060101010101" pitchFamily="49" charset="-122"/>
                <a:ea typeface="黑体" panose="02010609060101010101" pitchFamily="49" charset="-122"/>
              </a:rPr>
              <a:t>x+y</a:t>
            </a:r>
            <a:r>
              <a:rPr lang="en-US" altLang="zh-CN" sz="2800" b="0" dirty="0">
                <a:latin typeface="黑体" panose="02010609060101010101" pitchFamily="49" charset="-122"/>
                <a:ea typeface="黑体" panose="02010609060101010101" pitchFamily="49" charset="-122"/>
              </a:rPr>
              <a:t>	</a:t>
            </a:r>
            <a:endParaRPr lang="en-US" altLang="zh-CN" sz="2800" b="0" dirty="0" smtClean="0">
              <a:latin typeface="黑体" panose="02010609060101010101" pitchFamily="49" charset="-122"/>
              <a:ea typeface="黑体" panose="02010609060101010101" pitchFamily="49" charset="-122"/>
            </a:endParaRPr>
          </a:p>
          <a:p>
            <a:pPr marL="0" indent="0">
              <a:buNone/>
            </a:pPr>
            <a:r>
              <a:rPr lang="en-US" altLang="zh-CN" sz="2800" b="0" dirty="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C</a:t>
            </a:r>
            <a:r>
              <a:rPr lang="zh-CN" altLang="zh-CN" sz="2800" b="0" dirty="0">
                <a:latin typeface="黑体" panose="02010609060101010101" pitchFamily="49" charset="-122"/>
                <a:ea typeface="黑体" panose="02010609060101010101" pitchFamily="49" charset="-122"/>
              </a:rPr>
              <a:t>．</a:t>
            </a:r>
            <a:r>
              <a:rPr lang="en-US" altLang="zh-CN" sz="2800" b="0" dirty="0">
                <a:latin typeface="黑体" panose="02010609060101010101" pitchFamily="49" charset="-122"/>
                <a:ea typeface="黑体" panose="02010609060101010101" pitchFamily="49" charset="-122"/>
              </a:rPr>
              <a:t>x-y	</a:t>
            </a:r>
            <a:r>
              <a:rPr lang="en-US" altLang="zh-CN" sz="2800" b="0" dirty="0" smtClean="0">
                <a:latin typeface="黑体" panose="02010609060101010101" pitchFamily="49" charset="-122"/>
                <a:ea typeface="黑体" panose="02010609060101010101" pitchFamily="49" charset="-122"/>
              </a:rPr>
              <a:t>	D</a:t>
            </a:r>
            <a:r>
              <a:rPr lang="zh-CN" altLang="zh-CN" sz="2800" b="0" dirty="0">
                <a:latin typeface="黑体" panose="02010609060101010101" pitchFamily="49" charset="-122"/>
                <a:ea typeface="黑体" panose="02010609060101010101" pitchFamily="49" charset="-122"/>
              </a:rPr>
              <a:t>．</a:t>
            </a:r>
            <a:r>
              <a:rPr lang="en-US" altLang="zh-CN" sz="2800" b="0" dirty="0">
                <a:latin typeface="黑体" panose="02010609060101010101" pitchFamily="49" charset="-122"/>
                <a:ea typeface="黑体" panose="02010609060101010101" pitchFamily="49" charset="-122"/>
              </a:rPr>
              <a:t>-x-y</a:t>
            </a:r>
            <a:endParaRPr lang="zh-CN" altLang="zh-CN" sz="2800" b="0" dirty="0">
              <a:latin typeface="黑体" panose="02010609060101010101" pitchFamily="49" charset="-122"/>
              <a:ea typeface="黑体" panose="02010609060101010101" pitchFamily="49" charset="-122"/>
            </a:endParaRPr>
          </a:p>
          <a:p>
            <a:endParaRPr lang="zh-CN" altLang="en-US" sz="2800" b="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06779174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Rectangle 10"/>
          <p:cNvSpPr>
            <a:spLocks noGrp="1" noChangeArrowheads="1"/>
          </p:cNvSpPr>
          <p:nvPr>
            <p:ph type="title"/>
          </p:nvPr>
        </p:nvSpPr>
        <p:spPr>
          <a:xfrm>
            <a:off x="61965" y="151563"/>
            <a:ext cx="8915400" cy="1143000"/>
          </a:xfrm>
        </p:spPr>
        <p:txBody>
          <a:bodyPr/>
          <a:lstStyle/>
          <a:p>
            <a:pPr marL="355600" indent="-355600" eaLnBrk="1" hangingPunct="1">
              <a:defRPr/>
            </a:pPr>
            <a:r>
              <a:rPr lang="zh-CN" altLang="en-US" sz="2800" dirty="0" smtClean="0">
                <a:latin typeface="黑体" panose="02010609060101010101" pitchFamily="49" charset="-122"/>
                <a:ea typeface="黑体" panose="02010609060101010101" pitchFamily="49" charset="-122"/>
              </a:rPr>
              <a:t>  知识点：以定点整数为例</a:t>
            </a:r>
            <a:r>
              <a:rPr lang="en-US" altLang="zh-CN" sz="2800" dirty="0" smtClean="0">
                <a:latin typeface="黑体" panose="02010609060101010101" pitchFamily="49" charset="-122"/>
                <a:ea typeface="黑体" panose="02010609060101010101" pitchFamily="49" charset="-122"/>
              </a:rPr>
              <a:t>,</a:t>
            </a:r>
            <a:r>
              <a:rPr lang="zh-CN" altLang="en-US" sz="2800" dirty="0" smtClean="0">
                <a:latin typeface="黑体" panose="02010609060101010101" pitchFamily="49" charset="-122"/>
                <a:ea typeface="黑体" panose="02010609060101010101" pitchFamily="49" charset="-122"/>
              </a:rPr>
              <a:t>用数轴形式说明原码、反码、补码、移码表示范围和可能的数码组合情况</a:t>
            </a:r>
          </a:p>
        </p:txBody>
      </p:sp>
      <p:sp>
        <p:nvSpPr>
          <p:cNvPr id="28676" name="Line 2"/>
          <p:cNvSpPr>
            <a:spLocks noChangeShapeType="1"/>
          </p:cNvSpPr>
          <p:nvPr/>
        </p:nvSpPr>
        <p:spPr bwMode="auto">
          <a:xfrm flipV="1">
            <a:off x="0" y="1185863"/>
            <a:ext cx="4724400" cy="14287"/>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vert="eaVert" anchor="ctr">
            <a:spAutoFit/>
          </a:bodyPr>
          <a:lstStyle/>
          <a:p>
            <a:endParaRPr lang="zh-CN" altLang="en-US"/>
          </a:p>
        </p:txBody>
      </p:sp>
      <p:pic>
        <p:nvPicPr>
          <p:cNvPr id="2"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600200"/>
            <a:ext cx="8472488" cy="491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53913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a:xfrm>
            <a:off x="296863" y="493713"/>
            <a:ext cx="8077200" cy="384175"/>
          </a:xfrm>
        </p:spPr>
        <p:txBody>
          <a:bodyPr/>
          <a:lstStyle/>
          <a:p>
            <a:pPr eaLnBrk="1" hangingPunct="1">
              <a:defRPr/>
            </a:pPr>
            <a:r>
              <a:rPr lang="zh-CN" altLang="en-US" sz="3400" dirty="0" smtClean="0">
                <a:latin typeface="黑体" panose="02010609060101010101" pitchFamily="49" charset="-122"/>
                <a:ea typeface="黑体" panose="02010609060101010101" pitchFamily="49" charset="-122"/>
              </a:rPr>
              <a:t>浮点数的数据表示范围</a:t>
            </a:r>
          </a:p>
        </p:txBody>
      </p:sp>
      <p:sp>
        <p:nvSpPr>
          <p:cNvPr id="146485" name="Rectangle 53"/>
          <p:cNvSpPr>
            <a:spLocks noGrp="1" noChangeArrowheads="1"/>
          </p:cNvSpPr>
          <p:nvPr>
            <p:ph idx="1"/>
          </p:nvPr>
        </p:nvSpPr>
        <p:spPr>
          <a:xfrm>
            <a:off x="1058863" y="3581400"/>
            <a:ext cx="7315200" cy="3048000"/>
          </a:xfrm>
        </p:spPr>
        <p:txBody>
          <a:bodyPr/>
          <a:lstStyle/>
          <a:p>
            <a:pPr eaLnBrk="1" hangingPunct="1"/>
            <a:r>
              <a:rPr lang="zh-CN" altLang="en-US" smtClean="0">
                <a:latin typeface="黑体" panose="02010609060101010101" pitchFamily="49" charset="-122"/>
                <a:ea typeface="黑体" panose="02010609060101010101" pitchFamily="49" charset="-122"/>
              </a:rPr>
              <a:t>浮点数的溢出：阶码溢出</a:t>
            </a:r>
          </a:p>
          <a:p>
            <a:pPr lvl="1" eaLnBrk="1" hangingPunct="1"/>
            <a:r>
              <a:rPr lang="zh-CN" altLang="en-US" smtClean="0">
                <a:latin typeface="黑体" panose="02010609060101010101" pitchFamily="49" charset="-122"/>
                <a:ea typeface="黑体" panose="02010609060101010101" pitchFamily="49" charset="-122"/>
              </a:rPr>
              <a:t>上溢：阶码大于所能表示的最大值；</a:t>
            </a:r>
          </a:p>
          <a:p>
            <a:pPr lvl="1" eaLnBrk="1" hangingPunct="1"/>
            <a:r>
              <a:rPr lang="zh-CN" altLang="en-US" smtClean="0">
                <a:latin typeface="黑体" panose="02010609060101010101" pitchFamily="49" charset="-122"/>
                <a:ea typeface="黑体" panose="02010609060101010101" pitchFamily="49" charset="-122"/>
              </a:rPr>
              <a:t>下溢：阶码小于所能表示的最小值；</a:t>
            </a:r>
          </a:p>
          <a:p>
            <a:pPr eaLnBrk="1" hangingPunct="1"/>
            <a:r>
              <a:rPr lang="zh-CN" altLang="en-US" smtClean="0">
                <a:latin typeface="黑体" panose="02010609060101010101" pitchFamily="49" charset="-122"/>
                <a:ea typeface="黑体" panose="02010609060101010101" pitchFamily="49" charset="-122"/>
              </a:rPr>
              <a:t>机器零：</a:t>
            </a:r>
          </a:p>
          <a:p>
            <a:pPr lvl="1" eaLnBrk="1" hangingPunct="1"/>
            <a:r>
              <a:rPr lang="zh-CN" altLang="en-US" smtClean="0">
                <a:latin typeface="黑体" panose="02010609060101010101" pitchFamily="49" charset="-122"/>
                <a:ea typeface="黑体" panose="02010609060101010101" pitchFamily="49" charset="-122"/>
              </a:rPr>
              <a:t>尾数为 </a:t>
            </a:r>
            <a:r>
              <a:rPr lang="en-US" altLang="zh-CN" smtClean="0">
                <a:latin typeface="黑体" panose="02010609060101010101" pitchFamily="49" charset="-122"/>
                <a:ea typeface="黑体" panose="02010609060101010101" pitchFamily="49" charset="-122"/>
              </a:rPr>
              <a:t>0</a:t>
            </a:r>
            <a:r>
              <a:rPr lang="zh-CN" altLang="en-US" smtClean="0">
                <a:latin typeface="黑体" panose="02010609060101010101" pitchFamily="49" charset="-122"/>
                <a:ea typeface="黑体" panose="02010609060101010101" pitchFamily="49" charset="-122"/>
              </a:rPr>
              <a:t>，或阶码小于所能表示的最小值；</a:t>
            </a:r>
          </a:p>
        </p:txBody>
      </p:sp>
      <p:sp>
        <p:nvSpPr>
          <p:cNvPr id="146435" name="Line 3"/>
          <p:cNvSpPr>
            <a:spLocks noChangeShapeType="1"/>
          </p:cNvSpPr>
          <p:nvPr/>
        </p:nvSpPr>
        <p:spPr bwMode="auto">
          <a:xfrm>
            <a:off x="590551" y="1576388"/>
            <a:ext cx="7935912" cy="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latin typeface="黑体" panose="02010609060101010101" pitchFamily="49" charset="-122"/>
              <a:ea typeface="黑体" panose="02010609060101010101" pitchFamily="49" charset="-122"/>
            </a:endParaRPr>
          </a:p>
        </p:txBody>
      </p:sp>
      <p:sp>
        <p:nvSpPr>
          <p:cNvPr id="146436" name="Oval 4"/>
          <p:cNvSpPr>
            <a:spLocks noChangeArrowheads="1"/>
          </p:cNvSpPr>
          <p:nvPr/>
        </p:nvSpPr>
        <p:spPr bwMode="auto">
          <a:xfrm>
            <a:off x="4765676" y="1503363"/>
            <a:ext cx="133350" cy="144462"/>
          </a:xfrm>
          <a:prstGeom prst="ellipse">
            <a:avLst/>
          </a:prstGeom>
          <a:solidFill>
            <a:srgbClr val="FF0000"/>
          </a:solidFill>
          <a:ln w="9525" algn="ctr">
            <a:solidFill>
              <a:srgbClr val="FF0000"/>
            </a:solidFill>
            <a:round/>
            <a:headEnd/>
            <a:tailEnd/>
          </a:ln>
        </p:spPr>
        <p:txBody>
          <a:bodyPr wrap="none" lIns="92075" tIns="46038" rIns="92075" bIns="46038"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黑体" panose="02010609060101010101" pitchFamily="49" charset="-122"/>
              <a:ea typeface="黑体" panose="02010609060101010101" pitchFamily="49" charset="-122"/>
            </a:endParaRPr>
          </a:p>
        </p:txBody>
      </p:sp>
      <p:sp>
        <p:nvSpPr>
          <p:cNvPr id="146437" name="Text Box 5"/>
          <p:cNvSpPr txBox="1">
            <a:spLocks noChangeArrowheads="1"/>
          </p:cNvSpPr>
          <p:nvPr/>
        </p:nvSpPr>
        <p:spPr bwMode="auto">
          <a:xfrm>
            <a:off x="4632326" y="1671638"/>
            <a:ext cx="4651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2075" tIns="46038" rIns="92075" bIns="46038">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50000"/>
              </a:spcBef>
            </a:pPr>
            <a:r>
              <a:rPr kumimoji="1" lang="en-US" altLang="zh-CN" sz="2000" b="1">
                <a:latin typeface="黑体" panose="02010609060101010101" pitchFamily="49" charset="-122"/>
                <a:ea typeface="黑体" panose="02010609060101010101" pitchFamily="49" charset="-122"/>
              </a:rPr>
              <a:t>0</a:t>
            </a:r>
          </a:p>
        </p:txBody>
      </p:sp>
      <p:sp>
        <p:nvSpPr>
          <p:cNvPr id="146438" name="Line 6"/>
          <p:cNvSpPr>
            <a:spLocks noChangeShapeType="1"/>
          </p:cNvSpPr>
          <p:nvPr/>
        </p:nvSpPr>
        <p:spPr bwMode="auto">
          <a:xfrm>
            <a:off x="4394201" y="1360488"/>
            <a:ext cx="0" cy="2159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lIns="92075" tIns="46038" rIns="92075" bIns="46038"/>
          <a:lstStyle/>
          <a:p>
            <a:endParaRPr lang="zh-CN" altLang="en-US">
              <a:latin typeface="黑体" panose="02010609060101010101" pitchFamily="49" charset="-122"/>
              <a:ea typeface="黑体" panose="02010609060101010101" pitchFamily="49" charset="-122"/>
            </a:endParaRPr>
          </a:p>
        </p:txBody>
      </p:sp>
      <p:sp>
        <p:nvSpPr>
          <p:cNvPr id="146439" name="Line 7"/>
          <p:cNvSpPr>
            <a:spLocks noChangeShapeType="1"/>
          </p:cNvSpPr>
          <p:nvPr/>
        </p:nvSpPr>
        <p:spPr bwMode="auto">
          <a:xfrm>
            <a:off x="5318126" y="1360488"/>
            <a:ext cx="0" cy="2159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lIns="92075" tIns="46038" rIns="92075" bIns="46038"/>
          <a:lstStyle/>
          <a:p>
            <a:endParaRPr lang="zh-CN" altLang="en-US">
              <a:latin typeface="黑体" panose="02010609060101010101" pitchFamily="49" charset="-122"/>
              <a:ea typeface="黑体" panose="02010609060101010101" pitchFamily="49" charset="-122"/>
            </a:endParaRPr>
          </a:p>
        </p:txBody>
      </p:sp>
      <p:sp>
        <p:nvSpPr>
          <p:cNvPr id="146440" name="Line 8"/>
          <p:cNvSpPr>
            <a:spLocks noChangeShapeType="1"/>
          </p:cNvSpPr>
          <p:nvPr/>
        </p:nvSpPr>
        <p:spPr bwMode="auto">
          <a:xfrm>
            <a:off x="2389188" y="1360488"/>
            <a:ext cx="0" cy="2159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lIns="92075" tIns="46038" rIns="92075" bIns="46038"/>
          <a:lstStyle/>
          <a:p>
            <a:endParaRPr lang="zh-CN" altLang="en-US">
              <a:latin typeface="黑体" panose="02010609060101010101" pitchFamily="49" charset="-122"/>
              <a:ea typeface="黑体" panose="02010609060101010101" pitchFamily="49" charset="-122"/>
            </a:endParaRPr>
          </a:p>
        </p:txBody>
      </p:sp>
      <p:sp>
        <p:nvSpPr>
          <p:cNvPr id="146441" name="Line 9"/>
          <p:cNvSpPr>
            <a:spLocks noChangeShapeType="1"/>
          </p:cNvSpPr>
          <p:nvPr/>
        </p:nvSpPr>
        <p:spPr bwMode="auto">
          <a:xfrm>
            <a:off x="7146926" y="1360488"/>
            <a:ext cx="0" cy="2159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lIns="92075" tIns="46038" rIns="92075" bIns="46038"/>
          <a:lstStyle/>
          <a:p>
            <a:endParaRPr lang="zh-CN" altLang="en-US">
              <a:latin typeface="黑体" panose="02010609060101010101" pitchFamily="49" charset="-122"/>
              <a:ea typeface="黑体" panose="02010609060101010101" pitchFamily="49" charset="-122"/>
            </a:endParaRPr>
          </a:p>
        </p:txBody>
      </p:sp>
      <p:sp>
        <p:nvSpPr>
          <p:cNvPr id="146442" name="Text Box 10"/>
          <p:cNvSpPr txBox="1">
            <a:spLocks noChangeArrowheads="1"/>
          </p:cNvSpPr>
          <p:nvPr/>
        </p:nvSpPr>
        <p:spPr bwMode="auto">
          <a:xfrm>
            <a:off x="3995738" y="1647825"/>
            <a:ext cx="79692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50000"/>
              </a:spcBef>
            </a:pPr>
            <a:r>
              <a:rPr kumimoji="1" lang="zh-CN" altLang="en-US" sz="2000" b="1">
                <a:solidFill>
                  <a:srgbClr val="000099"/>
                </a:solidFill>
                <a:latin typeface="黑体" panose="02010609060101010101" pitchFamily="49" charset="-122"/>
                <a:ea typeface="黑体" panose="02010609060101010101" pitchFamily="49" charset="-122"/>
              </a:rPr>
              <a:t>最大负数</a:t>
            </a:r>
          </a:p>
        </p:txBody>
      </p:sp>
      <p:sp>
        <p:nvSpPr>
          <p:cNvPr id="146443" name="Text Box 11"/>
          <p:cNvSpPr txBox="1">
            <a:spLocks noChangeArrowheads="1"/>
          </p:cNvSpPr>
          <p:nvPr/>
        </p:nvSpPr>
        <p:spPr bwMode="auto">
          <a:xfrm>
            <a:off x="4918076" y="1647825"/>
            <a:ext cx="86518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50000"/>
              </a:spcBef>
            </a:pPr>
            <a:r>
              <a:rPr kumimoji="1" lang="zh-CN" altLang="en-US" sz="2000" b="1">
                <a:solidFill>
                  <a:srgbClr val="996600"/>
                </a:solidFill>
                <a:latin typeface="黑体" panose="02010609060101010101" pitchFamily="49" charset="-122"/>
                <a:ea typeface="黑体" panose="02010609060101010101" pitchFamily="49" charset="-122"/>
              </a:rPr>
              <a:t>最小正数</a:t>
            </a:r>
          </a:p>
        </p:txBody>
      </p:sp>
      <p:sp>
        <p:nvSpPr>
          <p:cNvPr id="146444" name="Text Box 12"/>
          <p:cNvSpPr txBox="1">
            <a:spLocks noChangeArrowheads="1"/>
          </p:cNvSpPr>
          <p:nvPr/>
        </p:nvSpPr>
        <p:spPr bwMode="auto">
          <a:xfrm>
            <a:off x="2058988" y="1647825"/>
            <a:ext cx="7524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50000"/>
              </a:spcBef>
            </a:pPr>
            <a:r>
              <a:rPr kumimoji="1" lang="zh-CN" altLang="en-US" sz="2000" b="1">
                <a:solidFill>
                  <a:srgbClr val="006666"/>
                </a:solidFill>
                <a:latin typeface="黑体" panose="02010609060101010101" pitchFamily="49" charset="-122"/>
                <a:ea typeface="黑体" panose="02010609060101010101" pitchFamily="49" charset="-122"/>
              </a:rPr>
              <a:t>最小负数</a:t>
            </a:r>
          </a:p>
        </p:txBody>
      </p:sp>
      <p:sp>
        <p:nvSpPr>
          <p:cNvPr id="146445" name="Text Box 13"/>
          <p:cNvSpPr txBox="1">
            <a:spLocks noChangeArrowheads="1"/>
          </p:cNvSpPr>
          <p:nvPr/>
        </p:nvSpPr>
        <p:spPr bwMode="auto">
          <a:xfrm>
            <a:off x="6813551" y="1647825"/>
            <a:ext cx="73183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50000"/>
              </a:spcBef>
            </a:pPr>
            <a:r>
              <a:rPr kumimoji="1" lang="zh-CN" altLang="en-US" sz="2000" b="1">
                <a:solidFill>
                  <a:srgbClr val="FF0000"/>
                </a:solidFill>
                <a:latin typeface="黑体" panose="02010609060101010101" pitchFamily="49" charset="-122"/>
                <a:ea typeface="黑体" panose="02010609060101010101" pitchFamily="49" charset="-122"/>
              </a:rPr>
              <a:t>最大正数</a:t>
            </a:r>
          </a:p>
        </p:txBody>
      </p:sp>
      <p:sp>
        <p:nvSpPr>
          <p:cNvPr id="146446" name="Rectangle 14"/>
          <p:cNvSpPr>
            <a:spLocks noChangeArrowheads="1"/>
          </p:cNvSpPr>
          <p:nvPr/>
        </p:nvSpPr>
        <p:spPr bwMode="auto">
          <a:xfrm>
            <a:off x="4405313" y="1143000"/>
            <a:ext cx="844550" cy="361950"/>
          </a:xfrm>
          <a:prstGeom prst="rect">
            <a:avLst/>
          </a:prstGeom>
          <a:solidFill>
            <a:srgbClr val="33CC33"/>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92075" tIns="46038" rIns="92075" bIns="46038"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r>
              <a:rPr kumimoji="1" lang="zh-CN" altLang="en-US" sz="2000" b="1">
                <a:latin typeface="黑体" panose="02010609060101010101" pitchFamily="49" charset="-122"/>
                <a:ea typeface="黑体" panose="02010609060101010101" pitchFamily="49" charset="-122"/>
              </a:rPr>
              <a:t>下溢区</a:t>
            </a:r>
          </a:p>
        </p:txBody>
      </p:sp>
      <p:sp>
        <p:nvSpPr>
          <p:cNvPr id="146447" name="Rectangle 15"/>
          <p:cNvSpPr>
            <a:spLocks noChangeArrowheads="1"/>
          </p:cNvSpPr>
          <p:nvPr/>
        </p:nvSpPr>
        <p:spPr bwMode="auto">
          <a:xfrm>
            <a:off x="1239838" y="1141413"/>
            <a:ext cx="996950" cy="361950"/>
          </a:xfrm>
          <a:prstGeom prst="rect">
            <a:avLst/>
          </a:prstGeom>
          <a:solidFill>
            <a:srgbClr val="33CC33"/>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92075" tIns="46038" rIns="92075" bIns="46038"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r>
              <a:rPr kumimoji="1" lang="zh-CN" altLang="en-US" sz="2000" b="1">
                <a:latin typeface="黑体" panose="02010609060101010101" pitchFamily="49" charset="-122"/>
                <a:ea typeface="黑体" panose="02010609060101010101" pitchFamily="49" charset="-122"/>
              </a:rPr>
              <a:t>上溢区</a:t>
            </a:r>
          </a:p>
        </p:txBody>
      </p:sp>
      <p:sp>
        <p:nvSpPr>
          <p:cNvPr id="146448" name="Rectangle 16"/>
          <p:cNvSpPr>
            <a:spLocks noChangeArrowheads="1"/>
          </p:cNvSpPr>
          <p:nvPr/>
        </p:nvSpPr>
        <p:spPr bwMode="auto">
          <a:xfrm>
            <a:off x="7213601" y="1143000"/>
            <a:ext cx="996950" cy="361950"/>
          </a:xfrm>
          <a:prstGeom prst="rect">
            <a:avLst/>
          </a:prstGeom>
          <a:solidFill>
            <a:srgbClr val="33CC33"/>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92075" tIns="46038" rIns="92075" bIns="46038"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r>
              <a:rPr kumimoji="1" lang="zh-CN" altLang="en-US" sz="2000" b="1">
                <a:latin typeface="黑体" panose="02010609060101010101" pitchFamily="49" charset="-122"/>
                <a:ea typeface="黑体" panose="02010609060101010101" pitchFamily="49" charset="-122"/>
              </a:rPr>
              <a:t>上溢区</a:t>
            </a:r>
          </a:p>
        </p:txBody>
      </p:sp>
      <p:sp>
        <p:nvSpPr>
          <p:cNvPr id="146449" name="Rectangle 17"/>
          <p:cNvSpPr>
            <a:spLocks noChangeArrowheads="1"/>
          </p:cNvSpPr>
          <p:nvPr/>
        </p:nvSpPr>
        <p:spPr bwMode="auto">
          <a:xfrm>
            <a:off x="2713038" y="1143000"/>
            <a:ext cx="1393825" cy="361950"/>
          </a:xfrm>
          <a:prstGeom prst="rect">
            <a:avLst/>
          </a:prstGeom>
          <a:solidFill>
            <a:srgbClr val="CC00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92075" tIns="46038" rIns="92075" bIns="46038"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r>
              <a:rPr kumimoji="1" lang="zh-CN" altLang="en-US" sz="2000" b="1">
                <a:latin typeface="黑体" panose="02010609060101010101" pitchFamily="49" charset="-122"/>
                <a:ea typeface="黑体" panose="02010609060101010101" pitchFamily="49" charset="-122"/>
              </a:rPr>
              <a:t>负数区</a:t>
            </a:r>
          </a:p>
        </p:txBody>
      </p:sp>
      <p:sp>
        <p:nvSpPr>
          <p:cNvPr id="146450" name="Rectangle 18"/>
          <p:cNvSpPr>
            <a:spLocks noChangeArrowheads="1"/>
          </p:cNvSpPr>
          <p:nvPr/>
        </p:nvSpPr>
        <p:spPr bwMode="auto">
          <a:xfrm>
            <a:off x="5521326" y="1143000"/>
            <a:ext cx="1328737" cy="361950"/>
          </a:xfrm>
          <a:prstGeom prst="rect">
            <a:avLst/>
          </a:prstGeom>
          <a:solidFill>
            <a:srgbClr val="CC00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92075" tIns="46038" rIns="92075" bIns="46038"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r>
              <a:rPr kumimoji="1" lang="zh-CN" altLang="en-US" sz="2000" b="1">
                <a:latin typeface="黑体" panose="02010609060101010101" pitchFamily="49" charset="-122"/>
                <a:ea typeface="黑体" panose="02010609060101010101" pitchFamily="49" charset="-122"/>
              </a:rPr>
              <a:t>正数区</a:t>
            </a:r>
          </a:p>
        </p:txBody>
      </p:sp>
      <p:graphicFrame>
        <p:nvGraphicFramePr>
          <p:cNvPr id="31787" name="Group 43"/>
          <p:cNvGraphicFramePr>
            <a:graphicFrameLocks noGrp="1"/>
          </p:cNvGraphicFramePr>
          <p:nvPr>
            <p:extLst/>
          </p:nvPr>
        </p:nvGraphicFramePr>
        <p:xfrm>
          <a:off x="555626" y="2362200"/>
          <a:ext cx="8153400" cy="1062038"/>
        </p:xfrm>
        <a:graphic>
          <a:graphicData uri="http://schemas.openxmlformats.org/drawingml/2006/table">
            <a:tbl>
              <a:tblPr/>
              <a:tblGrid>
                <a:gridCol w="1066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gridCol w="1752600">
                  <a:extLst>
                    <a:ext uri="{9D8B030D-6E8A-4147-A177-3AD203B41FA5}">
                      <a16:colId xmlns:a16="http://schemas.microsoft.com/office/drawing/2014/main" val="20004"/>
                    </a:ext>
                  </a:extLst>
                </a:gridCol>
              </a:tblGrid>
              <a:tr h="531019">
                <a:tc>
                  <a:txBody>
                    <a:bodyPr/>
                    <a:lstStyle/>
                    <a:p>
                      <a:pPr marL="0" marR="0" lvl="0" indent="0" algn="ctr" defTabSz="914400" rtl="0" eaLnBrk="1" fontAlgn="base" latinLnBrk="0" hangingPunct="1">
                        <a:lnSpc>
                          <a:spcPct val="120000"/>
                        </a:lnSpc>
                        <a:spcBef>
                          <a:spcPct val="10000"/>
                        </a:spcBef>
                        <a:spcAft>
                          <a:spcPct val="10000"/>
                        </a:spcAft>
                        <a:buClr>
                          <a:schemeClr val="bg2"/>
                        </a:buClr>
                        <a:buSzTx/>
                        <a:buFont typeface="Wingdings" pitchFamily="2" charset="2"/>
                        <a:buNone/>
                        <a:tabLst/>
                      </a:pPr>
                      <a:r>
                        <a:rPr kumimoji="0" lang="zh-CN" altLang="en-US" sz="2400" b="1" i="0" u="none" strike="noStrike" cap="none" normalizeH="0" baseline="0" smtClean="0">
                          <a:ln>
                            <a:noFill/>
                          </a:ln>
                          <a:solidFill>
                            <a:srgbClr val="0000FF"/>
                          </a:solidFill>
                          <a:effectLst/>
                          <a:latin typeface="Arial" charset="0"/>
                          <a:ea typeface="宋体" pitchFamily="2" charset="-122"/>
                        </a:rPr>
                        <a:t>尾数</a:t>
                      </a:r>
                    </a:p>
                  </a:txBody>
                  <a:tcPr marL="92075" marR="92075" marT="46041" marB="4604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0000"/>
                        </a:spcBef>
                        <a:spcAft>
                          <a:spcPct val="10000"/>
                        </a:spcAft>
                        <a:buClr>
                          <a:schemeClr val="bg2"/>
                        </a:buClr>
                        <a:buSzTx/>
                        <a:buFont typeface="Wingdings" pitchFamily="2" charset="2"/>
                        <a:buNone/>
                        <a:tabLst/>
                      </a:pPr>
                      <a:r>
                        <a:rPr kumimoji="0" lang="zh-CN" altLang="en-US" sz="2400" b="1" i="0" u="none" strike="noStrike" cap="none" normalizeH="0" baseline="0" smtClean="0">
                          <a:ln>
                            <a:noFill/>
                          </a:ln>
                          <a:solidFill>
                            <a:srgbClr val="006666"/>
                          </a:solidFill>
                          <a:effectLst/>
                          <a:latin typeface="Arial" charset="0"/>
                          <a:ea typeface="楷体_GB2312" pitchFamily="49" charset="-122"/>
                        </a:rPr>
                        <a:t>负的最小值</a:t>
                      </a:r>
                    </a:p>
                  </a:txBody>
                  <a:tcPr marL="92075" marR="92075" marT="46041" marB="460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0000"/>
                        </a:spcBef>
                        <a:spcAft>
                          <a:spcPct val="10000"/>
                        </a:spcAft>
                        <a:buClr>
                          <a:schemeClr val="bg2"/>
                        </a:buClr>
                        <a:buSzTx/>
                        <a:buFont typeface="Wingdings" pitchFamily="2" charset="2"/>
                        <a:buNone/>
                        <a:tabLst/>
                      </a:pPr>
                      <a:r>
                        <a:rPr kumimoji="0" lang="zh-CN" altLang="en-US" sz="2400" b="1" i="0" u="none" strike="noStrike" cap="none" normalizeH="0" baseline="0" smtClean="0">
                          <a:ln>
                            <a:noFill/>
                          </a:ln>
                          <a:solidFill>
                            <a:srgbClr val="000099"/>
                          </a:solidFill>
                          <a:effectLst/>
                          <a:latin typeface="Arial" charset="0"/>
                          <a:ea typeface="楷体_GB2312" pitchFamily="49" charset="-122"/>
                        </a:rPr>
                        <a:t>负的最大值</a:t>
                      </a:r>
                    </a:p>
                  </a:txBody>
                  <a:tcPr marL="92075" marR="92075" marT="46041" marB="460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0000"/>
                        </a:spcBef>
                        <a:spcAft>
                          <a:spcPct val="10000"/>
                        </a:spcAft>
                        <a:buClr>
                          <a:schemeClr val="bg2"/>
                        </a:buClr>
                        <a:buSzTx/>
                        <a:buFont typeface="Wingdings" pitchFamily="2" charset="2"/>
                        <a:buNone/>
                        <a:tabLst/>
                      </a:pPr>
                      <a:r>
                        <a:rPr kumimoji="0" lang="zh-CN" altLang="en-US" sz="2400" b="1" i="0" u="none" strike="noStrike" cap="none" normalizeH="0" baseline="0" smtClean="0">
                          <a:ln>
                            <a:noFill/>
                          </a:ln>
                          <a:solidFill>
                            <a:srgbClr val="996600"/>
                          </a:solidFill>
                          <a:effectLst/>
                          <a:latin typeface="Arial" charset="0"/>
                          <a:ea typeface="楷体_GB2312" pitchFamily="49" charset="-122"/>
                        </a:rPr>
                        <a:t>正的最小值</a:t>
                      </a:r>
                    </a:p>
                  </a:txBody>
                  <a:tcPr marL="92075" marR="92075" marT="46041" marB="460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0000"/>
                        </a:spcBef>
                        <a:spcAft>
                          <a:spcPct val="10000"/>
                        </a:spcAft>
                        <a:buClr>
                          <a:schemeClr val="bg2"/>
                        </a:buClr>
                        <a:buSzTx/>
                        <a:buFont typeface="Wingdings" pitchFamily="2" charset="2"/>
                        <a:buNone/>
                        <a:tabLst/>
                      </a:pPr>
                      <a:r>
                        <a:rPr kumimoji="0" lang="zh-CN" altLang="en-US" sz="2400" b="1" i="0" u="none" strike="noStrike" cap="none" normalizeH="0" baseline="0" smtClean="0">
                          <a:ln>
                            <a:noFill/>
                          </a:ln>
                          <a:solidFill>
                            <a:srgbClr val="FF0000"/>
                          </a:solidFill>
                          <a:effectLst/>
                          <a:latin typeface="Arial" charset="0"/>
                          <a:ea typeface="楷体_GB2312" pitchFamily="49" charset="-122"/>
                        </a:rPr>
                        <a:t>正的最大值</a:t>
                      </a:r>
                    </a:p>
                  </a:txBody>
                  <a:tcPr marL="92075" marR="92075" marT="46041" marB="4604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1019">
                <a:tc>
                  <a:txBody>
                    <a:bodyPr/>
                    <a:lstStyle/>
                    <a:p>
                      <a:pPr marL="0" marR="0" lvl="0" indent="0" algn="ctr" defTabSz="914400" rtl="0" eaLnBrk="1" fontAlgn="base" latinLnBrk="0" hangingPunct="1">
                        <a:lnSpc>
                          <a:spcPct val="120000"/>
                        </a:lnSpc>
                        <a:spcBef>
                          <a:spcPct val="10000"/>
                        </a:spcBef>
                        <a:spcAft>
                          <a:spcPct val="10000"/>
                        </a:spcAft>
                        <a:buClr>
                          <a:schemeClr val="bg2"/>
                        </a:buClr>
                        <a:buSzTx/>
                        <a:buFont typeface="Wingdings" pitchFamily="2" charset="2"/>
                        <a:buNone/>
                        <a:tabLst/>
                      </a:pPr>
                      <a:r>
                        <a:rPr kumimoji="0" lang="zh-CN" altLang="en-US" sz="2400" b="1" i="0" u="none" strike="noStrike" cap="none" normalizeH="0" baseline="0" smtClean="0">
                          <a:ln>
                            <a:noFill/>
                          </a:ln>
                          <a:solidFill>
                            <a:srgbClr val="0000FF"/>
                          </a:solidFill>
                          <a:effectLst/>
                          <a:latin typeface="Arial" charset="0"/>
                          <a:ea typeface="宋体" pitchFamily="2" charset="-122"/>
                        </a:rPr>
                        <a:t>阶码</a:t>
                      </a:r>
                    </a:p>
                  </a:txBody>
                  <a:tcPr marL="92075" marR="92075" marT="46041" marB="4604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0000"/>
                        </a:spcBef>
                        <a:spcAft>
                          <a:spcPct val="10000"/>
                        </a:spcAft>
                        <a:buClr>
                          <a:schemeClr val="bg2"/>
                        </a:buClr>
                        <a:buSzTx/>
                        <a:buFont typeface="Wingdings" pitchFamily="2" charset="2"/>
                        <a:buNone/>
                        <a:tabLst/>
                      </a:pPr>
                      <a:r>
                        <a:rPr kumimoji="0" lang="zh-CN" altLang="en-US" sz="2400" b="1" i="0" u="none" strike="noStrike" cap="none" normalizeH="0" baseline="0" smtClean="0">
                          <a:ln>
                            <a:noFill/>
                          </a:ln>
                          <a:solidFill>
                            <a:srgbClr val="006666"/>
                          </a:solidFill>
                          <a:effectLst/>
                          <a:latin typeface="Arial" charset="0"/>
                          <a:ea typeface="楷体_GB2312" pitchFamily="49" charset="-122"/>
                        </a:rPr>
                        <a:t>正的最大值</a:t>
                      </a:r>
                    </a:p>
                  </a:txBody>
                  <a:tcPr marL="92075" marR="92075" marT="46041" marB="460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0000"/>
                        </a:spcBef>
                        <a:spcAft>
                          <a:spcPct val="10000"/>
                        </a:spcAft>
                        <a:buClr>
                          <a:schemeClr val="bg2"/>
                        </a:buClr>
                        <a:buSzTx/>
                        <a:buFont typeface="Wingdings" pitchFamily="2" charset="2"/>
                        <a:buNone/>
                        <a:tabLst/>
                      </a:pPr>
                      <a:r>
                        <a:rPr kumimoji="0" lang="zh-CN" altLang="en-US" sz="2400" b="1" i="0" u="none" strike="noStrike" cap="none" normalizeH="0" baseline="0" smtClean="0">
                          <a:ln>
                            <a:noFill/>
                          </a:ln>
                          <a:solidFill>
                            <a:srgbClr val="000099"/>
                          </a:solidFill>
                          <a:effectLst/>
                          <a:latin typeface="Arial" charset="0"/>
                          <a:ea typeface="楷体_GB2312" pitchFamily="49" charset="-122"/>
                        </a:rPr>
                        <a:t>负的最小值</a:t>
                      </a:r>
                    </a:p>
                  </a:txBody>
                  <a:tcPr marL="92075" marR="92075" marT="46041" marB="460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0000"/>
                        </a:spcBef>
                        <a:spcAft>
                          <a:spcPct val="10000"/>
                        </a:spcAft>
                        <a:buClr>
                          <a:schemeClr val="bg2"/>
                        </a:buClr>
                        <a:buSzTx/>
                        <a:buFont typeface="Wingdings" pitchFamily="2" charset="2"/>
                        <a:buNone/>
                        <a:tabLst/>
                      </a:pPr>
                      <a:r>
                        <a:rPr kumimoji="0" lang="zh-CN" altLang="en-US" sz="2400" b="1" i="0" u="none" strike="noStrike" cap="none" normalizeH="0" baseline="0" smtClean="0">
                          <a:ln>
                            <a:noFill/>
                          </a:ln>
                          <a:solidFill>
                            <a:srgbClr val="996600"/>
                          </a:solidFill>
                          <a:effectLst/>
                          <a:latin typeface="Arial" charset="0"/>
                          <a:ea typeface="楷体_GB2312" pitchFamily="49" charset="-122"/>
                        </a:rPr>
                        <a:t>负的最小值</a:t>
                      </a:r>
                    </a:p>
                  </a:txBody>
                  <a:tcPr marL="92075" marR="92075" marT="46041" marB="460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0000"/>
                        </a:spcBef>
                        <a:spcAft>
                          <a:spcPct val="10000"/>
                        </a:spcAft>
                        <a:buClr>
                          <a:schemeClr val="bg2"/>
                        </a:buClr>
                        <a:buSzTx/>
                        <a:buFont typeface="Wingdings" pitchFamily="2" charset="2"/>
                        <a:buNone/>
                        <a:tabLst/>
                      </a:pPr>
                      <a:r>
                        <a:rPr kumimoji="0" lang="zh-CN" altLang="en-US" sz="2400" b="1" i="0" u="none" strike="noStrike" cap="none" normalizeH="0" baseline="0" dirty="0" smtClean="0">
                          <a:ln>
                            <a:noFill/>
                          </a:ln>
                          <a:solidFill>
                            <a:srgbClr val="FF0000"/>
                          </a:solidFill>
                          <a:effectLst/>
                          <a:latin typeface="Arial" charset="0"/>
                          <a:ea typeface="楷体_GB2312" pitchFamily="49" charset="-122"/>
                        </a:rPr>
                        <a:t>正的最大值</a:t>
                      </a:r>
                    </a:p>
                  </a:txBody>
                  <a:tcPr marL="92075" marR="92075" marT="46041" marB="4604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4546138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6875" y="685800"/>
            <a:ext cx="7896225" cy="5648325"/>
          </a:xfrm>
        </p:spPr>
        <p:txBody>
          <a:bodyPr/>
          <a:lstStyle/>
          <a:p>
            <a:r>
              <a:rPr lang="en-US" altLang="zh-CN" sz="2800" b="0" dirty="0" smtClean="0">
                <a:latin typeface="黑体" panose="02010609060101010101" pitchFamily="49" charset="-122"/>
                <a:ea typeface="黑体" panose="02010609060101010101" pitchFamily="49" charset="-122"/>
              </a:rPr>
              <a:t>[2013</a:t>
            </a:r>
            <a:r>
              <a:rPr lang="zh-CN" altLang="en-US" sz="2800" b="0" dirty="0" smtClean="0">
                <a:latin typeface="黑体" panose="02010609060101010101" pitchFamily="49" charset="-122"/>
                <a:ea typeface="黑体" panose="02010609060101010101" pitchFamily="49" charset="-122"/>
              </a:rPr>
              <a:t>年考研题</a:t>
            </a:r>
            <a:r>
              <a:rPr lang="en-US" altLang="zh-CN" sz="2800" b="0" dirty="0" smtClean="0">
                <a:latin typeface="黑体" panose="02010609060101010101" pitchFamily="49" charset="-122"/>
                <a:ea typeface="黑体" panose="02010609060101010101" pitchFamily="49" charset="-122"/>
              </a:rPr>
              <a:t>] </a:t>
            </a:r>
            <a:r>
              <a:rPr lang="zh-CN" altLang="zh-CN" sz="2800" b="0" dirty="0" smtClean="0">
                <a:latin typeface="黑体" panose="02010609060101010101" pitchFamily="49" charset="-122"/>
                <a:ea typeface="黑体" panose="02010609060101010101" pitchFamily="49" charset="-122"/>
              </a:rPr>
              <a:t>用</a:t>
            </a:r>
            <a:r>
              <a:rPr lang="zh-CN" altLang="zh-CN" sz="2800" b="0" dirty="0">
                <a:latin typeface="黑体" panose="02010609060101010101" pitchFamily="49" charset="-122"/>
                <a:ea typeface="黑体" panose="02010609060101010101" pitchFamily="49" charset="-122"/>
              </a:rPr>
              <a:t>海明码对长度为</a:t>
            </a:r>
            <a:r>
              <a:rPr lang="en-US" altLang="zh-CN" sz="2800" b="0" dirty="0">
                <a:latin typeface="黑体" panose="02010609060101010101" pitchFamily="49" charset="-122"/>
                <a:ea typeface="黑体" panose="02010609060101010101" pitchFamily="49" charset="-122"/>
              </a:rPr>
              <a:t>8</a:t>
            </a:r>
            <a:r>
              <a:rPr lang="zh-CN" altLang="zh-CN" sz="2800" b="0" dirty="0">
                <a:latin typeface="黑体" panose="02010609060101010101" pitchFamily="49" charset="-122"/>
                <a:ea typeface="黑体" panose="02010609060101010101" pitchFamily="49" charset="-122"/>
              </a:rPr>
              <a:t>位的数据进行检</a:t>
            </a:r>
            <a:r>
              <a:rPr lang="en-US" altLang="zh-CN" sz="2800" b="0" dirty="0">
                <a:latin typeface="黑体" panose="02010609060101010101" pitchFamily="49" charset="-122"/>
                <a:ea typeface="黑体" panose="02010609060101010101" pitchFamily="49" charset="-122"/>
              </a:rPr>
              <a:t>/</a:t>
            </a:r>
            <a:r>
              <a:rPr lang="zh-CN" altLang="zh-CN" sz="2800" b="0" dirty="0">
                <a:latin typeface="黑体" panose="02010609060101010101" pitchFamily="49" charset="-122"/>
                <a:ea typeface="黑体" panose="02010609060101010101" pitchFamily="49" charset="-122"/>
              </a:rPr>
              <a:t>纠错时，若能纠正一位错。则校验位数至少为</a:t>
            </a:r>
          </a:p>
          <a:p>
            <a:pPr marL="0" indent="0">
              <a:buNone/>
            </a:pPr>
            <a:r>
              <a:rPr lang="en-US" altLang="zh-CN" sz="2800" b="0" dirty="0" smtClean="0">
                <a:latin typeface="黑体" panose="02010609060101010101" pitchFamily="49" charset="-122"/>
                <a:ea typeface="黑体" panose="02010609060101010101" pitchFamily="49" charset="-122"/>
              </a:rPr>
              <a:t> 	A</a:t>
            </a:r>
            <a:r>
              <a:rPr lang="en-US" altLang="zh-CN" sz="2800" b="0" dirty="0">
                <a:latin typeface="黑体" panose="02010609060101010101" pitchFamily="49" charset="-122"/>
                <a:ea typeface="黑体" panose="02010609060101010101" pitchFamily="49" charset="-122"/>
              </a:rPr>
              <a:t>. 2          B. 3            </a:t>
            </a:r>
            <a:endParaRPr lang="en-US" altLang="zh-CN" sz="2800" b="0" dirty="0" smtClean="0">
              <a:latin typeface="黑体" panose="02010609060101010101" pitchFamily="49" charset="-122"/>
              <a:ea typeface="黑体" panose="02010609060101010101" pitchFamily="49" charset="-122"/>
            </a:endParaRPr>
          </a:p>
          <a:p>
            <a:pPr marL="0" indent="0">
              <a:buNone/>
            </a:pPr>
            <a:r>
              <a:rPr lang="en-US" altLang="zh-CN" sz="2800" b="0" dirty="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C</a:t>
            </a:r>
            <a:r>
              <a:rPr lang="en-US" altLang="zh-CN" sz="2800" b="0" dirty="0">
                <a:latin typeface="黑体" panose="02010609060101010101" pitchFamily="49" charset="-122"/>
                <a:ea typeface="黑体" panose="02010609060101010101" pitchFamily="49" charset="-122"/>
              </a:rPr>
              <a:t>. 4          </a:t>
            </a:r>
            <a:r>
              <a:rPr lang="en-US" altLang="zh-CN" sz="2800" b="0" dirty="0" smtClean="0">
                <a:latin typeface="黑体" panose="02010609060101010101" pitchFamily="49" charset="-122"/>
                <a:ea typeface="黑体" panose="02010609060101010101" pitchFamily="49" charset="-122"/>
              </a:rPr>
              <a:t>D</a:t>
            </a:r>
            <a:r>
              <a:rPr lang="en-US" altLang="zh-CN" sz="2800" b="0" dirty="0">
                <a:latin typeface="黑体" panose="02010609060101010101" pitchFamily="49" charset="-122"/>
                <a:ea typeface="黑体" panose="02010609060101010101" pitchFamily="49" charset="-122"/>
              </a:rPr>
              <a:t>. 5</a:t>
            </a:r>
            <a:endParaRPr lang="zh-CN" altLang="en-US" sz="2800" b="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07565967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2"/>
          <p:cNvSpPr>
            <a:spLocks noGrp="1" noChangeArrowheads="1"/>
          </p:cNvSpPr>
          <p:nvPr>
            <p:ph type="title"/>
          </p:nvPr>
        </p:nvSpPr>
        <p:spPr>
          <a:xfrm>
            <a:off x="357018" y="435678"/>
            <a:ext cx="8101182" cy="762000"/>
          </a:xfrm>
        </p:spPr>
        <p:txBody>
          <a:bodyPr/>
          <a:lstStyle/>
          <a:p>
            <a:pPr algn="l" eaLnBrk="1" hangingPunct="1">
              <a:defRPr/>
            </a:pPr>
            <a:r>
              <a:rPr lang="zh-CN" altLang="en-US" sz="3200" dirty="0" smtClean="0">
                <a:latin typeface="黑体" panose="02010609060101010101" pitchFamily="49" charset="-122"/>
                <a:ea typeface="黑体" panose="02010609060101010101" pitchFamily="49" charset="-122"/>
              </a:rPr>
              <a:t>知识点复习：海明码</a:t>
            </a:r>
            <a:r>
              <a:rPr lang="en-US" altLang="zh-CN" sz="3200" dirty="0" smtClean="0">
                <a:latin typeface="黑体" panose="02010609060101010101" pitchFamily="49" charset="-122"/>
                <a:ea typeface="黑体" panose="02010609060101010101" pitchFamily="49" charset="-122"/>
              </a:rPr>
              <a:t>——</a:t>
            </a:r>
            <a:r>
              <a:rPr lang="zh-CN" altLang="en-US" sz="3200" dirty="0" smtClean="0">
                <a:latin typeface="黑体" panose="02010609060101010101" pitchFamily="49" charset="-122"/>
                <a:ea typeface="黑体" panose="02010609060101010101" pitchFamily="49" charset="-122"/>
              </a:rPr>
              <a:t>确定校验位的位数</a:t>
            </a:r>
          </a:p>
        </p:txBody>
      </p:sp>
      <p:sp>
        <p:nvSpPr>
          <p:cNvPr id="228355" name="Rectangle 3"/>
          <p:cNvSpPr>
            <a:spLocks noGrp="1" noChangeArrowheads="1"/>
          </p:cNvSpPr>
          <p:nvPr>
            <p:ph idx="1"/>
          </p:nvPr>
        </p:nvSpPr>
        <p:spPr>
          <a:xfrm>
            <a:off x="228600" y="1295400"/>
            <a:ext cx="8763000" cy="5029200"/>
          </a:xfrm>
        </p:spPr>
        <p:txBody>
          <a:bodyPr/>
          <a:lstStyle/>
          <a:p>
            <a:pPr marL="266700" indent="-266700" eaLnBrk="1" hangingPunct="1">
              <a:spcAft>
                <a:spcPct val="20000"/>
              </a:spcAft>
            </a:pPr>
            <a:r>
              <a:rPr lang="zh-CN" altLang="en-US" b="0" dirty="0" smtClean="0"/>
              <a:t>设</a:t>
            </a:r>
            <a:r>
              <a:rPr lang="en-US" altLang="zh-CN" b="0" dirty="0" smtClean="0"/>
              <a:t>K</a:t>
            </a:r>
            <a:r>
              <a:rPr lang="zh-CN" altLang="en-US" b="0" dirty="0" smtClean="0"/>
              <a:t>为有效信息的位数，</a:t>
            </a:r>
            <a:r>
              <a:rPr lang="en-US" altLang="zh-CN" b="0" dirty="0" smtClean="0"/>
              <a:t>r</a:t>
            </a:r>
            <a:r>
              <a:rPr lang="zh-CN" altLang="en-US" b="0" dirty="0" smtClean="0"/>
              <a:t>为校验位的位数，则整个码字的位数</a:t>
            </a:r>
            <a:r>
              <a:rPr lang="en-US" altLang="zh-CN" b="0" dirty="0" smtClean="0"/>
              <a:t>N</a:t>
            </a:r>
            <a:r>
              <a:rPr lang="zh-CN" altLang="en-US" b="0" dirty="0" smtClean="0"/>
              <a:t>应满足不等式：</a:t>
            </a:r>
          </a:p>
          <a:p>
            <a:pPr marL="711200" lvl="1" eaLnBrk="1" hangingPunct="1">
              <a:spcAft>
                <a:spcPct val="20000"/>
              </a:spcAft>
            </a:pPr>
            <a:r>
              <a:rPr lang="en-US" altLang="zh-CN" dirty="0" smtClean="0"/>
              <a:t>N</a:t>
            </a:r>
            <a:r>
              <a:rPr lang="zh-CN" altLang="en-US" dirty="0" smtClean="0"/>
              <a:t>＝</a:t>
            </a:r>
            <a:r>
              <a:rPr lang="en-US" altLang="zh-CN" dirty="0" smtClean="0"/>
              <a:t>K</a:t>
            </a:r>
            <a:r>
              <a:rPr lang="zh-CN" altLang="en-US" dirty="0" smtClean="0"/>
              <a:t>＋</a:t>
            </a:r>
            <a:r>
              <a:rPr lang="en-US" altLang="zh-CN" dirty="0" err="1" smtClean="0"/>
              <a:t>r≦2</a:t>
            </a:r>
            <a:r>
              <a:rPr lang="en-US" altLang="zh-CN" baseline="30000" dirty="0" err="1" smtClean="0"/>
              <a:t>r</a:t>
            </a:r>
            <a:r>
              <a:rPr lang="zh-CN" altLang="en-US" dirty="0" smtClean="0"/>
              <a:t>－</a:t>
            </a:r>
            <a:r>
              <a:rPr lang="en-US" altLang="zh-CN" dirty="0" smtClean="0"/>
              <a:t>1   </a:t>
            </a:r>
            <a:r>
              <a:rPr lang="zh-CN" altLang="en-US" b="1" dirty="0" smtClean="0">
                <a:solidFill>
                  <a:srgbClr val="B20E12"/>
                </a:solidFill>
              </a:rPr>
              <a:t>为什么？</a:t>
            </a:r>
            <a:endParaRPr lang="en-US" altLang="zh-CN" b="1" dirty="0" smtClean="0">
              <a:solidFill>
                <a:srgbClr val="B20E12"/>
              </a:solidFill>
            </a:endParaRPr>
          </a:p>
          <a:p>
            <a:pPr marL="711200" lvl="1" eaLnBrk="1" hangingPunct="1">
              <a:spcAft>
                <a:spcPct val="20000"/>
              </a:spcAft>
            </a:pPr>
            <a:r>
              <a:rPr lang="zh-CN" altLang="en-US" dirty="0" smtClean="0"/>
              <a:t>通常称为（</a:t>
            </a:r>
            <a:r>
              <a:rPr lang="en-US" altLang="zh-CN" dirty="0" smtClean="0"/>
              <a:t>N</a:t>
            </a:r>
            <a:r>
              <a:rPr lang="zh-CN" altLang="en-US" dirty="0" smtClean="0"/>
              <a:t>，</a:t>
            </a:r>
            <a:r>
              <a:rPr lang="en-US" altLang="zh-CN" dirty="0" smtClean="0"/>
              <a:t>K</a:t>
            </a:r>
            <a:r>
              <a:rPr lang="zh-CN" altLang="en-US" dirty="0" smtClean="0"/>
              <a:t>）海明码</a:t>
            </a:r>
            <a:endParaRPr lang="zh-CN" altLang="en-US" dirty="0" smtClean="0">
              <a:solidFill>
                <a:schemeClr val="tx2"/>
              </a:solidFill>
            </a:endParaRPr>
          </a:p>
          <a:p>
            <a:pPr marL="266700" indent="-266700" eaLnBrk="1" hangingPunct="1">
              <a:spcAft>
                <a:spcPct val="20000"/>
              </a:spcAft>
            </a:pPr>
            <a:r>
              <a:rPr lang="zh-CN" altLang="en-US" b="0" dirty="0" smtClean="0"/>
              <a:t>设某</a:t>
            </a:r>
            <a:r>
              <a:rPr lang="en-US" altLang="zh-CN" b="0" dirty="0" smtClean="0">
                <a:sym typeface="Wingdings" panose="05000000000000000000" pitchFamily="2" charset="2"/>
              </a:rPr>
              <a:t>(7,4)</a:t>
            </a:r>
            <a:r>
              <a:rPr lang="zh-CN" altLang="en-US" b="0" dirty="0" smtClean="0"/>
              <a:t>海明码表示的码字长度为</a:t>
            </a:r>
            <a:r>
              <a:rPr lang="zh-CN" altLang="en-US" b="0" u="sng" dirty="0" smtClean="0"/>
              <a:t>      </a:t>
            </a:r>
            <a:r>
              <a:rPr lang="zh-CN" altLang="en-US" b="0" dirty="0" smtClean="0"/>
              <a:t>位，校验位数为</a:t>
            </a:r>
            <a:r>
              <a:rPr lang="zh-CN" altLang="en-US" b="0" u="sng" dirty="0" smtClean="0"/>
              <a:t>      </a:t>
            </a:r>
            <a:r>
              <a:rPr lang="zh-CN" altLang="en-US" b="0" dirty="0" smtClean="0"/>
              <a:t>位。</a:t>
            </a:r>
          </a:p>
          <a:p>
            <a:pPr marL="266700" indent="-266700" eaLnBrk="1" hangingPunct="1">
              <a:spcAft>
                <a:spcPct val="20000"/>
              </a:spcAft>
            </a:pPr>
            <a:r>
              <a:rPr lang="zh-CN" altLang="en-US" b="0" dirty="0" smtClean="0"/>
              <a:t>例如：数据</a:t>
            </a:r>
            <a:r>
              <a:rPr lang="en-US" altLang="zh-CN" b="0" dirty="0" err="1" smtClean="0"/>
              <a:t>D</a:t>
            </a:r>
            <a:r>
              <a:rPr lang="en-US" altLang="zh-CN" b="0" baseline="-25000" dirty="0" err="1" smtClean="0"/>
              <a:t>3</a:t>
            </a:r>
            <a:r>
              <a:rPr lang="en-US" altLang="zh-CN" b="0" dirty="0" err="1" smtClean="0"/>
              <a:t>D</a:t>
            </a:r>
            <a:r>
              <a:rPr lang="en-US" altLang="zh-CN" b="0" baseline="-25000" dirty="0" err="1" smtClean="0"/>
              <a:t>2</a:t>
            </a:r>
            <a:r>
              <a:rPr lang="en-US" altLang="zh-CN" b="0" dirty="0" err="1" smtClean="0"/>
              <a:t>D</a:t>
            </a:r>
            <a:r>
              <a:rPr lang="en-US" altLang="zh-CN" b="0" baseline="-25000" dirty="0" err="1" smtClean="0"/>
              <a:t>1</a:t>
            </a:r>
            <a:r>
              <a:rPr lang="en-US" altLang="zh-CN" b="0" dirty="0" err="1" smtClean="0"/>
              <a:t>D</a:t>
            </a:r>
            <a:r>
              <a:rPr lang="en-US" altLang="zh-CN" b="0" baseline="-25000" dirty="0" err="1" smtClean="0"/>
              <a:t>0</a:t>
            </a:r>
            <a:r>
              <a:rPr lang="en-US" altLang="zh-CN" b="0" baseline="-25000" dirty="0" smtClean="0"/>
              <a:t> </a:t>
            </a:r>
            <a:r>
              <a:rPr lang="en-US" altLang="zh-CN" b="0" dirty="0" smtClean="0"/>
              <a:t>=1001</a:t>
            </a:r>
          </a:p>
          <a:p>
            <a:pPr marL="711200" lvl="1" eaLnBrk="1" hangingPunct="1"/>
            <a:r>
              <a:rPr lang="en-US" altLang="zh-CN" dirty="0" smtClean="0"/>
              <a:t>K=4</a:t>
            </a:r>
            <a:r>
              <a:rPr lang="zh-CN" altLang="en-US" dirty="0" smtClean="0"/>
              <a:t>，</a:t>
            </a:r>
            <a:r>
              <a:rPr lang="en-US" altLang="zh-CN" dirty="0" err="1" smtClean="0"/>
              <a:t>r+5</a:t>
            </a:r>
            <a:r>
              <a:rPr lang="en-US" altLang="zh-CN" dirty="0" smtClean="0"/>
              <a:t> ≦</a:t>
            </a:r>
            <a:r>
              <a:rPr lang="en-US" altLang="zh-CN" dirty="0" err="1" smtClean="0"/>
              <a:t>2</a:t>
            </a:r>
            <a:r>
              <a:rPr lang="en-US" altLang="zh-CN" baseline="30000" dirty="0" err="1" smtClean="0"/>
              <a:t>r</a:t>
            </a:r>
            <a:r>
              <a:rPr lang="en-US" altLang="zh-CN" baseline="-25000" dirty="0" smtClean="0"/>
              <a:t> </a:t>
            </a:r>
            <a:r>
              <a:rPr lang="zh-CN" altLang="en-US" dirty="0" smtClean="0"/>
              <a:t>；</a:t>
            </a:r>
          </a:p>
          <a:p>
            <a:pPr marL="711200" lvl="1" eaLnBrk="1" hangingPunct="1"/>
            <a:r>
              <a:rPr lang="zh-CN" altLang="en-US" dirty="0" smtClean="0"/>
              <a:t>可知，需要校验位</a:t>
            </a:r>
            <a:r>
              <a:rPr lang="en-US" altLang="zh-CN" dirty="0" smtClean="0"/>
              <a:t>3</a:t>
            </a:r>
            <a:r>
              <a:rPr lang="zh-CN" altLang="en-US" dirty="0" smtClean="0"/>
              <a:t>位</a:t>
            </a:r>
            <a:r>
              <a:rPr lang="en-US" altLang="zh-CN" dirty="0" err="1" smtClean="0"/>
              <a:t>P</a:t>
            </a:r>
            <a:r>
              <a:rPr lang="en-US" altLang="zh-CN" baseline="-25000" dirty="0" err="1" smtClean="0"/>
              <a:t>3</a:t>
            </a:r>
            <a:r>
              <a:rPr lang="en-US" altLang="zh-CN" dirty="0" err="1" smtClean="0"/>
              <a:t>P</a:t>
            </a:r>
            <a:r>
              <a:rPr lang="en-US" altLang="zh-CN" baseline="-25000" dirty="0" err="1" smtClean="0"/>
              <a:t>2</a:t>
            </a:r>
            <a:r>
              <a:rPr lang="en-US" altLang="zh-CN" dirty="0" err="1" smtClean="0"/>
              <a:t>P</a:t>
            </a:r>
            <a:r>
              <a:rPr lang="en-US" altLang="zh-CN" baseline="-25000" dirty="0" err="1" smtClean="0"/>
              <a:t>1</a:t>
            </a:r>
            <a:r>
              <a:rPr lang="en-US" altLang="zh-CN" baseline="-25000" dirty="0" smtClean="0"/>
              <a:t> </a:t>
            </a:r>
            <a:r>
              <a:rPr lang="en-US" altLang="zh-CN" dirty="0" smtClean="0"/>
              <a:t>;</a:t>
            </a:r>
          </a:p>
        </p:txBody>
      </p:sp>
      <p:sp>
        <p:nvSpPr>
          <p:cNvPr id="1202186" name="Text Box 10"/>
          <p:cNvSpPr txBox="1">
            <a:spLocks noChangeArrowheads="1"/>
          </p:cNvSpPr>
          <p:nvPr/>
        </p:nvSpPr>
        <p:spPr bwMode="auto">
          <a:xfrm>
            <a:off x="7682411" y="2942492"/>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dirty="0">
                <a:solidFill>
                  <a:srgbClr val="FF3300"/>
                </a:solidFill>
              </a:rPr>
              <a:t>3</a:t>
            </a:r>
            <a:endParaRPr lang="en-US" altLang="zh-CN" sz="2400" b="1" dirty="0">
              <a:solidFill>
                <a:srgbClr val="FF3300"/>
              </a:solidFill>
            </a:endParaRPr>
          </a:p>
        </p:txBody>
      </p:sp>
      <p:sp>
        <p:nvSpPr>
          <p:cNvPr id="1202187" name="Text Box 11"/>
          <p:cNvSpPr txBox="1">
            <a:spLocks noChangeArrowheads="1"/>
          </p:cNvSpPr>
          <p:nvPr/>
        </p:nvSpPr>
        <p:spPr bwMode="auto">
          <a:xfrm>
            <a:off x="5105400" y="2942492"/>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dirty="0" smtClean="0">
                <a:solidFill>
                  <a:srgbClr val="FF3300"/>
                </a:solidFill>
              </a:rPr>
              <a:t>7</a:t>
            </a:r>
            <a:endParaRPr lang="en-US" altLang="zh-CN" sz="2400" b="1" dirty="0">
              <a:solidFill>
                <a:srgbClr val="FF3300"/>
              </a:solidFill>
            </a:endParaRPr>
          </a:p>
        </p:txBody>
      </p:sp>
    </p:spTree>
    <p:extLst>
      <p:ext uri="{BB962C8B-B14F-4D97-AF65-F5344CB8AC3E}">
        <p14:creationId xmlns:p14="http://schemas.microsoft.com/office/powerpoint/2010/main" val="36311999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习题解答</a:t>
            </a:r>
            <a:endParaRPr lang="zh-CN" altLang="en-US" dirty="0"/>
          </a:p>
        </p:txBody>
      </p:sp>
      <p:sp>
        <p:nvSpPr>
          <p:cNvPr id="5" name="内容占位符 2"/>
          <p:cNvSpPr>
            <a:spLocks noGrp="1"/>
          </p:cNvSpPr>
          <p:nvPr>
            <p:ph idx="1"/>
          </p:nvPr>
        </p:nvSpPr>
        <p:spPr>
          <a:xfrm>
            <a:off x="396875" y="1524000"/>
            <a:ext cx="7896225" cy="4810125"/>
          </a:xfrm>
        </p:spPr>
        <p:txBody>
          <a:bodyPr/>
          <a:lstStyle/>
          <a:p>
            <a:r>
              <a:rPr lang="en-US" altLang="zh-CN" sz="2800" b="0" dirty="0" smtClean="0">
                <a:latin typeface="黑体" panose="02010609060101010101" pitchFamily="49" charset="-122"/>
                <a:ea typeface="黑体" panose="02010609060101010101" pitchFamily="49" charset="-122"/>
              </a:rPr>
              <a:t>[2013</a:t>
            </a:r>
            <a:r>
              <a:rPr lang="zh-CN" altLang="en-US" sz="2800" b="0" dirty="0" smtClean="0">
                <a:latin typeface="黑体" panose="02010609060101010101" pitchFamily="49" charset="-122"/>
                <a:ea typeface="黑体" panose="02010609060101010101" pitchFamily="49" charset="-122"/>
              </a:rPr>
              <a:t>年考研题</a:t>
            </a:r>
            <a:r>
              <a:rPr lang="en-US" altLang="zh-CN" sz="2800" b="0" dirty="0" smtClean="0">
                <a:latin typeface="黑体" panose="02010609060101010101" pitchFamily="49" charset="-122"/>
                <a:ea typeface="黑体" panose="02010609060101010101" pitchFamily="49" charset="-122"/>
              </a:rPr>
              <a:t>] </a:t>
            </a:r>
            <a:r>
              <a:rPr lang="zh-CN" altLang="zh-CN" sz="2800" b="0" dirty="0" smtClean="0">
                <a:latin typeface="黑体" panose="02010609060101010101" pitchFamily="49" charset="-122"/>
                <a:ea typeface="黑体" panose="02010609060101010101" pitchFamily="49" charset="-122"/>
              </a:rPr>
              <a:t>用</a:t>
            </a:r>
            <a:r>
              <a:rPr lang="zh-CN" altLang="zh-CN" sz="2800" b="0" dirty="0">
                <a:latin typeface="黑体" panose="02010609060101010101" pitchFamily="49" charset="-122"/>
                <a:ea typeface="黑体" panose="02010609060101010101" pitchFamily="49" charset="-122"/>
              </a:rPr>
              <a:t>海明码对长度为</a:t>
            </a:r>
            <a:r>
              <a:rPr lang="en-US" altLang="zh-CN" sz="2800" b="0" dirty="0">
                <a:latin typeface="黑体" panose="02010609060101010101" pitchFamily="49" charset="-122"/>
                <a:ea typeface="黑体" panose="02010609060101010101" pitchFamily="49" charset="-122"/>
              </a:rPr>
              <a:t>8</a:t>
            </a:r>
            <a:r>
              <a:rPr lang="zh-CN" altLang="zh-CN" sz="2800" b="0" dirty="0">
                <a:latin typeface="黑体" panose="02010609060101010101" pitchFamily="49" charset="-122"/>
                <a:ea typeface="黑体" panose="02010609060101010101" pitchFamily="49" charset="-122"/>
              </a:rPr>
              <a:t>位的数据进行检</a:t>
            </a:r>
            <a:r>
              <a:rPr lang="en-US" altLang="zh-CN" sz="2800" b="0" dirty="0">
                <a:latin typeface="黑体" panose="02010609060101010101" pitchFamily="49" charset="-122"/>
                <a:ea typeface="黑体" panose="02010609060101010101" pitchFamily="49" charset="-122"/>
              </a:rPr>
              <a:t>/</a:t>
            </a:r>
            <a:r>
              <a:rPr lang="zh-CN" altLang="zh-CN" sz="2800" b="0" dirty="0">
                <a:latin typeface="黑体" panose="02010609060101010101" pitchFamily="49" charset="-122"/>
                <a:ea typeface="黑体" panose="02010609060101010101" pitchFamily="49" charset="-122"/>
              </a:rPr>
              <a:t>纠错时，若能纠正一位错。则校验位数至少为</a:t>
            </a:r>
          </a:p>
          <a:p>
            <a:pPr marL="0" indent="0">
              <a:buNone/>
            </a:pPr>
            <a:r>
              <a:rPr lang="en-US" altLang="zh-CN" sz="2800" b="0" dirty="0" smtClean="0">
                <a:latin typeface="黑体" panose="02010609060101010101" pitchFamily="49" charset="-122"/>
                <a:ea typeface="黑体" panose="02010609060101010101" pitchFamily="49" charset="-122"/>
              </a:rPr>
              <a:t> 	A</a:t>
            </a:r>
            <a:r>
              <a:rPr lang="en-US" altLang="zh-CN" sz="2800" b="0" dirty="0">
                <a:latin typeface="黑体" panose="02010609060101010101" pitchFamily="49" charset="-122"/>
                <a:ea typeface="黑体" panose="02010609060101010101" pitchFamily="49" charset="-122"/>
              </a:rPr>
              <a:t>. 2          B. 3            </a:t>
            </a:r>
            <a:endParaRPr lang="en-US" altLang="zh-CN" sz="2800" b="0" dirty="0" smtClean="0">
              <a:latin typeface="黑体" panose="02010609060101010101" pitchFamily="49" charset="-122"/>
              <a:ea typeface="黑体" panose="02010609060101010101" pitchFamily="49" charset="-122"/>
            </a:endParaRPr>
          </a:p>
          <a:p>
            <a:pPr marL="0" indent="0">
              <a:buNone/>
            </a:pPr>
            <a:r>
              <a:rPr lang="en-US" altLang="zh-CN" sz="2800" b="0" dirty="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C</a:t>
            </a:r>
            <a:r>
              <a:rPr lang="en-US" altLang="zh-CN" sz="2800" b="0" dirty="0">
                <a:latin typeface="黑体" panose="02010609060101010101" pitchFamily="49" charset="-122"/>
                <a:ea typeface="黑体" panose="02010609060101010101" pitchFamily="49" charset="-122"/>
              </a:rPr>
              <a:t>. 4          </a:t>
            </a:r>
            <a:r>
              <a:rPr lang="en-US" altLang="zh-CN" sz="2800" b="0" dirty="0" smtClean="0">
                <a:latin typeface="黑体" panose="02010609060101010101" pitchFamily="49" charset="-122"/>
                <a:ea typeface="黑体" panose="02010609060101010101" pitchFamily="49" charset="-122"/>
              </a:rPr>
              <a:t>D</a:t>
            </a:r>
            <a:r>
              <a:rPr lang="en-US" altLang="zh-CN" sz="2800" b="0" dirty="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5</a:t>
            </a:r>
          </a:p>
          <a:p>
            <a:pPr marL="0" indent="0">
              <a:buNone/>
            </a:pPr>
            <a:endParaRPr lang="en-US" altLang="zh-CN" sz="2800" b="0" dirty="0" smtClean="0">
              <a:latin typeface="黑体" panose="02010609060101010101" pitchFamily="49" charset="-122"/>
              <a:ea typeface="黑体" panose="02010609060101010101" pitchFamily="49" charset="-122"/>
            </a:endParaRPr>
          </a:p>
          <a:p>
            <a:pPr marL="0" indent="0">
              <a:buNone/>
            </a:pPr>
            <a:r>
              <a:rPr lang="zh-CN" altLang="en-US" sz="2800" b="0" dirty="0" smtClean="0">
                <a:latin typeface="黑体" panose="02010609060101010101" pitchFamily="49" charset="-122"/>
                <a:ea typeface="黑体" panose="02010609060101010101" pitchFamily="49" charset="-122"/>
              </a:rPr>
              <a:t>满足  </a:t>
            </a:r>
            <a:r>
              <a:rPr lang="en-US" altLang="zh-CN" sz="2800" b="0" dirty="0" smtClean="0">
                <a:latin typeface="黑体" panose="02010609060101010101" pitchFamily="49" charset="-122"/>
                <a:ea typeface="黑体" panose="02010609060101010101" pitchFamily="49" charset="-122"/>
              </a:rPr>
              <a:t>2</a:t>
            </a:r>
            <a:r>
              <a:rPr lang="en-US" altLang="zh-CN" sz="2800" b="0" baseline="30000" dirty="0" smtClean="0">
                <a:latin typeface="黑体" panose="02010609060101010101" pitchFamily="49" charset="-122"/>
                <a:ea typeface="黑体" panose="02010609060101010101" pitchFamily="49" charset="-122"/>
              </a:rPr>
              <a:t>k</a:t>
            </a:r>
            <a:r>
              <a:rPr lang="en-US" altLang="zh-CN" sz="2800" b="0" dirty="0" smtClean="0">
                <a:latin typeface="黑体" panose="02010609060101010101" pitchFamily="49" charset="-122"/>
                <a:ea typeface="黑体" panose="02010609060101010101" pitchFamily="49" charset="-122"/>
              </a:rPr>
              <a:t> &gt;= n+k+1   </a:t>
            </a:r>
            <a:r>
              <a:rPr lang="zh-CN" altLang="en-US" sz="2800" b="0" dirty="0" smtClean="0">
                <a:latin typeface="黑体" panose="02010609060101010101" pitchFamily="49" charset="-122"/>
                <a:ea typeface="黑体" panose="02010609060101010101" pitchFamily="49" charset="-122"/>
              </a:rPr>
              <a:t>当</a:t>
            </a:r>
            <a:r>
              <a:rPr lang="en-US" altLang="zh-CN" sz="2800" b="0" dirty="0" smtClean="0">
                <a:latin typeface="黑体" panose="02010609060101010101" pitchFamily="49" charset="-122"/>
                <a:ea typeface="黑体" panose="02010609060101010101" pitchFamily="49" charset="-122"/>
              </a:rPr>
              <a:t>k=4</a:t>
            </a:r>
            <a:r>
              <a:rPr lang="zh-CN" altLang="en-US" sz="2800" b="0" dirty="0" smtClean="0">
                <a:latin typeface="黑体" panose="02010609060101010101" pitchFamily="49" charset="-122"/>
                <a:ea typeface="黑体" panose="02010609060101010101" pitchFamily="49" charset="-122"/>
              </a:rPr>
              <a:t>时，符合要求</a:t>
            </a:r>
            <a:endParaRPr lang="zh-CN" altLang="en-US" sz="2800" b="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67818715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6875" y="760639"/>
            <a:ext cx="7896225" cy="5572125"/>
          </a:xfrm>
        </p:spPr>
        <p:txBody>
          <a:bodyPr/>
          <a:lstStyle/>
          <a:p>
            <a:r>
              <a:rPr lang="en-US" altLang="zh-CN" b="0" dirty="0" smtClean="0">
                <a:latin typeface="黑体" panose="02010609060101010101" pitchFamily="49" charset="-122"/>
                <a:ea typeface="黑体" panose="02010609060101010101" pitchFamily="49" charset="-122"/>
              </a:rPr>
              <a:t>[2013</a:t>
            </a:r>
            <a:r>
              <a:rPr lang="zh-CN" altLang="en-US" b="0" dirty="0" smtClean="0">
                <a:latin typeface="黑体" panose="02010609060101010101" pitchFamily="49" charset="-122"/>
                <a:ea typeface="黑体" panose="02010609060101010101" pitchFamily="49" charset="-122"/>
              </a:rPr>
              <a:t>年考研题</a:t>
            </a:r>
            <a:r>
              <a:rPr lang="en-US" altLang="zh-CN" b="0" dirty="0" smtClean="0">
                <a:latin typeface="黑体" panose="02010609060101010101" pitchFamily="49" charset="-122"/>
                <a:ea typeface="黑体" panose="02010609060101010101" pitchFamily="49" charset="-122"/>
              </a:rPr>
              <a:t>]</a:t>
            </a:r>
            <a:r>
              <a:rPr lang="zh-CN" altLang="en-US" b="0" dirty="0" smtClean="0">
                <a:latin typeface="黑体" panose="02010609060101010101" pitchFamily="49" charset="-122"/>
                <a:ea typeface="黑体" panose="02010609060101010101" pitchFamily="49" charset="-122"/>
              </a:rPr>
              <a:t>某</a:t>
            </a:r>
            <a:r>
              <a:rPr lang="zh-CN" altLang="en-US" b="0" dirty="0">
                <a:latin typeface="黑体" panose="02010609060101010101" pitchFamily="49" charset="-122"/>
                <a:ea typeface="黑体" panose="02010609060101010101" pitchFamily="49" charset="-122"/>
              </a:rPr>
              <a:t>计算机主存地址空间大小为</a:t>
            </a:r>
            <a:r>
              <a:rPr lang="en-US" altLang="zh-CN" b="0" dirty="0" smtClean="0">
                <a:latin typeface="黑体" panose="02010609060101010101" pitchFamily="49" charset="-122"/>
                <a:ea typeface="黑体" panose="02010609060101010101" pitchFamily="49" charset="-122"/>
              </a:rPr>
              <a:t>256MB</a:t>
            </a:r>
            <a:r>
              <a:rPr lang="zh-CN" altLang="en-US" b="0" dirty="0">
                <a:latin typeface="黑体" panose="02010609060101010101" pitchFamily="49" charset="-122"/>
                <a:ea typeface="黑体" panose="02010609060101010101" pitchFamily="49" charset="-122"/>
              </a:rPr>
              <a:t>，按字节编址。虚拟地址空间大小为</a:t>
            </a:r>
            <a:r>
              <a:rPr lang="en-US" altLang="zh-CN" b="0" dirty="0" smtClean="0">
                <a:latin typeface="黑体" panose="02010609060101010101" pitchFamily="49" charset="-122"/>
                <a:ea typeface="黑体" panose="02010609060101010101" pitchFamily="49" charset="-122"/>
              </a:rPr>
              <a:t>4GB</a:t>
            </a:r>
            <a:r>
              <a:rPr lang="zh-CN" altLang="en-US" b="0" dirty="0">
                <a:latin typeface="黑体" panose="02010609060101010101" pitchFamily="49" charset="-122"/>
                <a:ea typeface="黑体" panose="02010609060101010101" pitchFamily="49" charset="-122"/>
              </a:rPr>
              <a:t>，采用页式存储管理，页面大小为</a:t>
            </a:r>
            <a:r>
              <a:rPr lang="en-US" altLang="zh-CN" b="0" dirty="0" smtClean="0">
                <a:latin typeface="黑体" panose="02010609060101010101" pitchFamily="49" charset="-122"/>
                <a:ea typeface="黑体" panose="02010609060101010101" pitchFamily="49" charset="-122"/>
              </a:rPr>
              <a:t>4KB</a:t>
            </a:r>
            <a:r>
              <a:rPr lang="zh-CN" altLang="en-US" b="0" dirty="0">
                <a:latin typeface="黑体" panose="02010609060101010101" pitchFamily="49" charset="-122"/>
                <a:ea typeface="黑体" panose="02010609060101010101" pitchFamily="49" charset="-122"/>
              </a:rPr>
              <a:t>，</a:t>
            </a:r>
            <a:r>
              <a:rPr lang="en-US" altLang="zh-CN" b="0" dirty="0">
                <a:latin typeface="黑体" panose="02010609060101010101" pitchFamily="49" charset="-122"/>
                <a:ea typeface="黑体" panose="02010609060101010101" pitchFamily="49" charset="-122"/>
              </a:rPr>
              <a:t>TLB</a:t>
            </a:r>
            <a:r>
              <a:rPr lang="zh-CN" altLang="en-US" b="0" dirty="0">
                <a:latin typeface="黑体" panose="02010609060101010101" pitchFamily="49" charset="-122"/>
                <a:ea typeface="黑体" panose="02010609060101010101" pitchFamily="49" charset="-122"/>
              </a:rPr>
              <a:t>（快表）采用全相联映射，有</a:t>
            </a:r>
            <a:r>
              <a:rPr lang="en-US" altLang="zh-CN" b="0" dirty="0">
                <a:latin typeface="黑体" panose="02010609060101010101" pitchFamily="49" charset="-122"/>
                <a:ea typeface="黑体" panose="02010609060101010101" pitchFamily="49" charset="-122"/>
              </a:rPr>
              <a:t>4</a:t>
            </a:r>
            <a:r>
              <a:rPr lang="zh-CN" altLang="en-US" b="0" dirty="0">
                <a:latin typeface="黑体" panose="02010609060101010101" pitchFamily="49" charset="-122"/>
                <a:ea typeface="黑体" panose="02010609060101010101" pitchFamily="49" charset="-122"/>
              </a:rPr>
              <a:t>个页表项，内容如下表所示。</a:t>
            </a:r>
          </a:p>
          <a:p>
            <a:pPr marL="0" indent="0">
              <a:buNone/>
            </a:pPr>
            <a:r>
              <a:rPr lang="en-US" altLang="zh-CN" b="0" dirty="0" smtClean="0">
                <a:latin typeface="黑体" panose="02010609060101010101" pitchFamily="49" charset="-122"/>
                <a:ea typeface="黑体" panose="02010609060101010101" pitchFamily="49" charset="-122"/>
              </a:rPr>
              <a:t>	</a:t>
            </a:r>
            <a:r>
              <a:rPr lang="zh-CN" altLang="en-US" b="0" dirty="0" smtClean="0">
                <a:latin typeface="黑体" panose="02010609060101010101" pitchFamily="49" charset="-122"/>
                <a:ea typeface="黑体" panose="02010609060101010101" pitchFamily="49" charset="-122"/>
              </a:rPr>
              <a:t>有效</a:t>
            </a:r>
            <a:r>
              <a:rPr lang="zh-CN" altLang="en-US" b="0" dirty="0">
                <a:latin typeface="黑体" panose="02010609060101010101" pitchFamily="49" charset="-122"/>
                <a:ea typeface="黑体" panose="02010609060101010101" pitchFamily="49" charset="-122"/>
              </a:rPr>
              <a:t>位	标记	</a:t>
            </a:r>
            <a:r>
              <a:rPr lang="en-US" altLang="zh-CN" b="0" dirty="0" smtClean="0">
                <a:latin typeface="黑体" panose="02010609060101010101" pitchFamily="49" charset="-122"/>
                <a:ea typeface="黑体" panose="02010609060101010101" pitchFamily="49" charset="-122"/>
              </a:rPr>
              <a:t>	</a:t>
            </a:r>
            <a:r>
              <a:rPr lang="zh-CN" altLang="en-US" b="0" dirty="0" smtClean="0">
                <a:latin typeface="黑体" panose="02010609060101010101" pitchFamily="49" charset="-122"/>
                <a:ea typeface="黑体" panose="02010609060101010101" pitchFamily="49" charset="-122"/>
              </a:rPr>
              <a:t>页</a:t>
            </a:r>
            <a:r>
              <a:rPr lang="zh-CN" altLang="en-US" b="0" dirty="0">
                <a:latin typeface="黑体" panose="02010609060101010101" pitchFamily="49" charset="-122"/>
                <a:ea typeface="黑体" panose="02010609060101010101" pitchFamily="49" charset="-122"/>
              </a:rPr>
              <a:t>框号	</a:t>
            </a:r>
            <a:r>
              <a:rPr lang="en-US" altLang="zh-CN" b="0" dirty="0">
                <a:latin typeface="黑体" panose="02010609060101010101" pitchFamily="49" charset="-122"/>
                <a:ea typeface="黑体" panose="02010609060101010101" pitchFamily="49" charset="-122"/>
              </a:rPr>
              <a:t>…</a:t>
            </a:r>
          </a:p>
          <a:p>
            <a:pPr marL="0" indent="0">
              <a:buNone/>
            </a:pPr>
            <a:r>
              <a:rPr lang="en-US" altLang="zh-CN" b="0" dirty="0" smtClean="0">
                <a:latin typeface="黑体" panose="02010609060101010101" pitchFamily="49" charset="-122"/>
                <a:ea typeface="黑体" panose="02010609060101010101" pitchFamily="49" charset="-122"/>
              </a:rPr>
              <a:t>	0</a:t>
            </a:r>
            <a:r>
              <a:rPr lang="en-US" altLang="zh-CN" b="0" dirty="0">
                <a:latin typeface="黑体" panose="02010609060101010101" pitchFamily="49" charset="-122"/>
                <a:ea typeface="黑体" panose="02010609060101010101" pitchFamily="49" charset="-122"/>
              </a:rPr>
              <a:t>	</a:t>
            </a:r>
            <a:r>
              <a:rPr lang="en-US" altLang="zh-CN" b="0" dirty="0" smtClean="0">
                <a:latin typeface="黑体" panose="02010609060101010101" pitchFamily="49" charset="-122"/>
                <a:ea typeface="黑体" panose="02010609060101010101" pitchFamily="49" charset="-122"/>
              </a:rPr>
              <a:t>	FF180H</a:t>
            </a:r>
            <a:r>
              <a:rPr lang="en-US" altLang="zh-CN" b="0" dirty="0">
                <a:latin typeface="黑体" panose="02010609060101010101" pitchFamily="49" charset="-122"/>
                <a:ea typeface="黑体" panose="02010609060101010101" pitchFamily="49" charset="-122"/>
              </a:rPr>
              <a:t>	0002H	…</a:t>
            </a:r>
          </a:p>
          <a:p>
            <a:pPr marL="0" indent="0">
              <a:buNone/>
            </a:pPr>
            <a:r>
              <a:rPr lang="en-US" altLang="zh-CN" b="0" dirty="0" smtClean="0">
                <a:latin typeface="黑体" panose="02010609060101010101" pitchFamily="49" charset="-122"/>
                <a:ea typeface="黑体" panose="02010609060101010101" pitchFamily="49" charset="-122"/>
              </a:rPr>
              <a:t>	1</a:t>
            </a:r>
            <a:r>
              <a:rPr lang="en-US" altLang="zh-CN" b="0" dirty="0">
                <a:latin typeface="黑体" panose="02010609060101010101" pitchFamily="49" charset="-122"/>
                <a:ea typeface="黑体" panose="02010609060101010101" pitchFamily="49" charset="-122"/>
              </a:rPr>
              <a:t>	</a:t>
            </a:r>
            <a:r>
              <a:rPr lang="en-US" altLang="zh-CN" b="0" dirty="0" smtClean="0">
                <a:latin typeface="黑体" panose="02010609060101010101" pitchFamily="49" charset="-122"/>
                <a:ea typeface="黑体" panose="02010609060101010101" pitchFamily="49" charset="-122"/>
              </a:rPr>
              <a:t>	3FFF1H</a:t>
            </a:r>
            <a:r>
              <a:rPr lang="en-US" altLang="zh-CN" b="0" dirty="0">
                <a:latin typeface="黑体" panose="02010609060101010101" pitchFamily="49" charset="-122"/>
                <a:ea typeface="黑体" panose="02010609060101010101" pitchFamily="49" charset="-122"/>
              </a:rPr>
              <a:t>	0035H	…</a:t>
            </a:r>
          </a:p>
          <a:p>
            <a:pPr marL="0" indent="0">
              <a:buNone/>
            </a:pPr>
            <a:r>
              <a:rPr lang="en-US" altLang="zh-CN" b="0" dirty="0" smtClean="0">
                <a:latin typeface="黑体" panose="02010609060101010101" pitchFamily="49" charset="-122"/>
                <a:ea typeface="黑体" panose="02010609060101010101" pitchFamily="49" charset="-122"/>
              </a:rPr>
              <a:t>	0</a:t>
            </a:r>
            <a:r>
              <a:rPr lang="en-US" altLang="zh-CN" b="0" dirty="0">
                <a:latin typeface="黑体" panose="02010609060101010101" pitchFamily="49" charset="-122"/>
                <a:ea typeface="黑体" panose="02010609060101010101" pitchFamily="49" charset="-122"/>
              </a:rPr>
              <a:t>	</a:t>
            </a:r>
            <a:r>
              <a:rPr lang="en-US" altLang="zh-CN" b="0" dirty="0" smtClean="0">
                <a:latin typeface="黑体" panose="02010609060101010101" pitchFamily="49" charset="-122"/>
                <a:ea typeface="黑体" panose="02010609060101010101" pitchFamily="49" charset="-122"/>
              </a:rPr>
              <a:t>	02FF3H</a:t>
            </a:r>
            <a:r>
              <a:rPr lang="en-US" altLang="zh-CN" b="0" dirty="0">
                <a:latin typeface="黑体" panose="02010609060101010101" pitchFamily="49" charset="-122"/>
                <a:ea typeface="黑体" panose="02010609060101010101" pitchFamily="49" charset="-122"/>
              </a:rPr>
              <a:t>	0351H	…</a:t>
            </a:r>
          </a:p>
          <a:p>
            <a:pPr marL="0" indent="0">
              <a:buNone/>
            </a:pPr>
            <a:r>
              <a:rPr lang="en-US" altLang="zh-CN" b="0" dirty="0" smtClean="0">
                <a:latin typeface="黑体" panose="02010609060101010101" pitchFamily="49" charset="-122"/>
                <a:ea typeface="黑体" panose="02010609060101010101" pitchFamily="49" charset="-122"/>
              </a:rPr>
              <a:t>	1</a:t>
            </a:r>
            <a:r>
              <a:rPr lang="en-US" altLang="zh-CN" b="0" dirty="0">
                <a:latin typeface="黑体" panose="02010609060101010101" pitchFamily="49" charset="-122"/>
                <a:ea typeface="黑体" panose="02010609060101010101" pitchFamily="49" charset="-122"/>
              </a:rPr>
              <a:t>	</a:t>
            </a:r>
            <a:r>
              <a:rPr lang="en-US" altLang="zh-CN" b="0" dirty="0" smtClean="0">
                <a:latin typeface="黑体" panose="02010609060101010101" pitchFamily="49" charset="-122"/>
                <a:ea typeface="黑体" panose="02010609060101010101" pitchFamily="49" charset="-122"/>
              </a:rPr>
              <a:t>	03FFFH</a:t>
            </a:r>
            <a:r>
              <a:rPr lang="en-US" altLang="zh-CN" b="0" dirty="0">
                <a:latin typeface="黑体" panose="02010609060101010101" pitchFamily="49" charset="-122"/>
                <a:ea typeface="黑体" panose="02010609060101010101" pitchFamily="49" charset="-122"/>
              </a:rPr>
              <a:t>	0153H	…</a:t>
            </a:r>
          </a:p>
          <a:p>
            <a:pPr marL="0" indent="0">
              <a:buNone/>
            </a:pPr>
            <a:r>
              <a:rPr lang="en-US" altLang="zh-CN" b="0" dirty="0">
                <a:latin typeface="黑体" panose="02010609060101010101" pitchFamily="49" charset="-122"/>
                <a:ea typeface="黑体" panose="02010609060101010101" pitchFamily="49" charset="-122"/>
              </a:rPr>
              <a:t> </a:t>
            </a:r>
            <a:r>
              <a:rPr lang="en-US" altLang="zh-CN" b="0" dirty="0" smtClean="0">
                <a:latin typeface="黑体" panose="02010609060101010101" pitchFamily="49" charset="-122"/>
                <a:ea typeface="黑体" panose="02010609060101010101" pitchFamily="49" charset="-122"/>
              </a:rPr>
              <a:t>   </a:t>
            </a:r>
            <a:r>
              <a:rPr lang="zh-CN" altLang="en-US" b="0" dirty="0" smtClean="0">
                <a:latin typeface="黑体" panose="02010609060101010101" pitchFamily="49" charset="-122"/>
                <a:ea typeface="黑体" panose="02010609060101010101" pitchFamily="49" charset="-122"/>
              </a:rPr>
              <a:t>则</a:t>
            </a:r>
            <a:r>
              <a:rPr lang="zh-CN" altLang="en-US" b="0" dirty="0">
                <a:latin typeface="黑体" panose="02010609060101010101" pitchFamily="49" charset="-122"/>
                <a:ea typeface="黑体" panose="02010609060101010101" pitchFamily="49" charset="-122"/>
              </a:rPr>
              <a:t>对虚拟地址</a:t>
            </a:r>
            <a:r>
              <a:rPr lang="en-US" altLang="zh-CN" b="0" dirty="0">
                <a:latin typeface="黑体" panose="02010609060101010101" pitchFamily="49" charset="-122"/>
                <a:ea typeface="黑体" panose="02010609060101010101" pitchFamily="49" charset="-122"/>
              </a:rPr>
              <a:t>03FF F180H</a:t>
            </a:r>
            <a:r>
              <a:rPr lang="zh-CN" altLang="en-US" b="0" dirty="0">
                <a:latin typeface="黑体" panose="02010609060101010101" pitchFamily="49" charset="-122"/>
                <a:ea typeface="黑体" panose="02010609060101010101" pitchFamily="49" charset="-122"/>
              </a:rPr>
              <a:t>进行虚实地址变换的结果是 </a:t>
            </a:r>
          </a:p>
          <a:p>
            <a:pPr marL="0" indent="0">
              <a:buNone/>
            </a:pPr>
            <a:r>
              <a:rPr lang="en-US" altLang="zh-CN" b="0" dirty="0">
                <a:latin typeface="黑体" panose="02010609060101010101" pitchFamily="49" charset="-122"/>
                <a:ea typeface="黑体" panose="02010609060101010101" pitchFamily="49" charset="-122"/>
              </a:rPr>
              <a:t> </a:t>
            </a:r>
            <a:r>
              <a:rPr lang="en-US" altLang="zh-CN" b="0" dirty="0" smtClean="0">
                <a:latin typeface="黑体" panose="02010609060101010101" pitchFamily="49" charset="-122"/>
                <a:ea typeface="黑体" panose="02010609060101010101" pitchFamily="49" charset="-122"/>
              </a:rPr>
              <a:t>      A</a:t>
            </a:r>
            <a:r>
              <a:rPr lang="en-US" altLang="zh-CN" b="0" dirty="0">
                <a:latin typeface="黑体" panose="02010609060101010101" pitchFamily="49" charset="-122"/>
                <a:ea typeface="黑体" panose="02010609060101010101" pitchFamily="49" charset="-122"/>
              </a:rPr>
              <a:t>. 015 3180H        B. 003 5180H          </a:t>
            </a:r>
            <a:endParaRPr lang="en-US" altLang="zh-CN" b="0" dirty="0" smtClean="0">
              <a:latin typeface="黑体" panose="02010609060101010101" pitchFamily="49" charset="-122"/>
              <a:ea typeface="黑体" panose="02010609060101010101" pitchFamily="49" charset="-122"/>
            </a:endParaRPr>
          </a:p>
          <a:p>
            <a:pPr marL="0" indent="0">
              <a:buNone/>
            </a:pPr>
            <a:r>
              <a:rPr lang="en-US" altLang="zh-CN" b="0" dirty="0">
                <a:latin typeface="黑体" panose="02010609060101010101" pitchFamily="49" charset="-122"/>
                <a:ea typeface="黑体" panose="02010609060101010101" pitchFamily="49" charset="-122"/>
              </a:rPr>
              <a:t> </a:t>
            </a:r>
            <a:r>
              <a:rPr lang="en-US" altLang="zh-CN" b="0" dirty="0" smtClean="0">
                <a:latin typeface="黑体" panose="02010609060101010101" pitchFamily="49" charset="-122"/>
                <a:ea typeface="黑体" panose="02010609060101010101" pitchFamily="49" charset="-122"/>
              </a:rPr>
              <a:t>      </a:t>
            </a:r>
            <a:r>
              <a:rPr lang="en-US" altLang="zh-CN" b="0" dirty="0">
                <a:latin typeface="黑体" panose="02010609060101010101" pitchFamily="49" charset="-122"/>
                <a:ea typeface="黑体" panose="02010609060101010101" pitchFamily="49" charset="-122"/>
              </a:rPr>
              <a:t>C. TLB</a:t>
            </a:r>
            <a:r>
              <a:rPr lang="zh-CN" altLang="en-US" b="0" dirty="0">
                <a:latin typeface="黑体" panose="02010609060101010101" pitchFamily="49" charset="-122"/>
                <a:ea typeface="黑体" panose="02010609060101010101" pitchFamily="49" charset="-122"/>
              </a:rPr>
              <a:t>缺失         </a:t>
            </a:r>
            <a:r>
              <a:rPr lang="zh-CN" altLang="en-US" b="0" dirty="0" smtClean="0">
                <a:latin typeface="黑体" panose="02010609060101010101" pitchFamily="49" charset="-122"/>
                <a:ea typeface="黑体" panose="02010609060101010101" pitchFamily="49" charset="-122"/>
              </a:rPr>
              <a:t> </a:t>
            </a:r>
            <a:r>
              <a:rPr lang="en-US" altLang="zh-CN" b="0" dirty="0" smtClean="0">
                <a:latin typeface="黑体" panose="02010609060101010101" pitchFamily="49" charset="-122"/>
                <a:ea typeface="黑体" panose="02010609060101010101" pitchFamily="49" charset="-122"/>
              </a:rPr>
              <a:t>D</a:t>
            </a:r>
            <a:r>
              <a:rPr lang="en-US" altLang="zh-CN" b="0" dirty="0">
                <a:latin typeface="黑体" panose="02010609060101010101" pitchFamily="49" charset="-122"/>
                <a:ea typeface="黑体" panose="02010609060101010101" pitchFamily="49" charset="-122"/>
              </a:rPr>
              <a:t>. </a:t>
            </a:r>
            <a:r>
              <a:rPr lang="zh-CN" altLang="en-US" b="0" dirty="0">
                <a:latin typeface="黑体" panose="02010609060101010101" pitchFamily="49" charset="-122"/>
                <a:ea typeface="黑体" panose="02010609060101010101" pitchFamily="49" charset="-122"/>
              </a:rPr>
              <a:t>缺页</a:t>
            </a:r>
          </a:p>
          <a:p>
            <a:endParaRPr lang="zh-CN" altLang="en-US" b="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71695325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p:txBody>
          <a:bodyPr>
            <a:normAutofit/>
          </a:bodyPr>
          <a:lstStyle/>
          <a:p>
            <a:r>
              <a:rPr lang="zh-CN" altLang="en-US" sz="4000" dirty="0"/>
              <a:t>快表</a:t>
            </a:r>
            <a:r>
              <a:rPr lang="en-US" altLang="zh-CN" sz="4000" dirty="0"/>
              <a:t>(TLB)</a:t>
            </a:r>
            <a:r>
              <a:rPr lang="zh-CN" altLang="en-US" sz="4000" dirty="0"/>
              <a:t>的引入</a:t>
            </a:r>
          </a:p>
        </p:txBody>
      </p:sp>
      <p:sp>
        <p:nvSpPr>
          <p:cNvPr id="41987" name="内容占位符 2"/>
          <p:cNvSpPr>
            <a:spLocks noGrp="1"/>
          </p:cNvSpPr>
          <p:nvPr>
            <p:ph idx="1"/>
          </p:nvPr>
        </p:nvSpPr>
        <p:spPr>
          <a:xfrm>
            <a:off x="457200" y="1524000"/>
            <a:ext cx="8153400" cy="4724400"/>
          </a:xfrm>
          <a:prstGeom prst="rect">
            <a:avLst/>
          </a:prstGeom>
        </p:spPr>
        <p:txBody>
          <a:bodyPr>
            <a:noAutofit/>
          </a:bodyPr>
          <a:lstStyle/>
          <a:p>
            <a:pPr>
              <a:buFontTx/>
              <a:buNone/>
            </a:pPr>
            <a:r>
              <a:rPr lang="zh-CN" altLang="en-US" sz="3200" dirty="0">
                <a:latin typeface="黑体" panose="02010609060101010101" pitchFamily="49" charset="-122"/>
                <a:ea typeface="黑体" panose="02010609060101010101" pitchFamily="49" charset="-122"/>
                <a:cs typeface="Calibri" pitchFamily="34" charset="0"/>
              </a:rPr>
              <a:t>问题</a:t>
            </a:r>
            <a:endParaRPr lang="en-US" altLang="zh-CN" sz="3200" dirty="0">
              <a:latin typeface="黑体" panose="02010609060101010101" pitchFamily="49" charset="-122"/>
              <a:ea typeface="黑体" panose="02010609060101010101" pitchFamily="49" charset="-122"/>
              <a:cs typeface="Calibri" pitchFamily="34" charset="0"/>
            </a:endParaRPr>
          </a:p>
          <a:p>
            <a:r>
              <a:rPr lang="zh-CN" altLang="en-US" sz="3200" dirty="0" smtClean="0">
                <a:latin typeface="黑体" panose="02010609060101010101" pitchFamily="49" charset="-122"/>
                <a:ea typeface="黑体" panose="02010609060101010101" pitchFamily="49" charset="-122"/>
                <a:cs typeface="Calibri" pitchFamily="34" charset="0"/>
              </a:rPr>
              <a:t>虚存访问 </a:t>
            </a:r>
            <a:r>
              <a:rPr lang="zh-CN" altLang="en-US" sz="3200" dirty="0">
                <a:latin typeface="黑体" panose="02010609060101010101" pitchFamily="49" charset="-122"/>
                <a:ea typeface="黑体" panose="02010609060101010101" pitchFamily="49" charset="-122"/>
                <a:cs typeface="Calibri" pitchFamily="34" charset="0"/>
              </a:rPr>
              <a:t>→ 两次或两次以上的内存</a:t>
            </a:r>
            <a:r>
              <a:rPr lang="zh-CN" altLang="en-US" sz="3200" dirty="0" smtClean="0">
                <a:latin typeface="黑体" panose="02010609060101010101" pitchFamily="49" charset="-122"/>
                <a:ea typeface="黑体" panose="02010609060101010101" pitchFamily="49" charset="-122"/>
                <a:cs typeface="Calibri" pitchFamily="34" charset="0"/>
              </a:rPr>
              <a:t>访问</a:t>
            </a:r>
            <a:endParaRPr lang="en-US" altLang="zh-CN" sz="3200" dirty="0" smtClean="0">
              <a:latin typeface="黑体" panose="02010609060101010101" pitchFamily="49" charset="-122"/>
              <a:ea typeface="黑体" panose="02010609060101010101" pitchFamily="49" charset="-122"/>
              <a:cs typeface="Calibri" pitchFamily="34" charset="0"/>
            </a:endParaRPr>
          </a:p>
          <a:p>
            <a:pPr lvl="1"/>
            <a:r>
              <a:rPr lang="zh-CN" altLang="en-US" sz="2800" dirty="0">
                <a:latin typeface="黑体" panose="02010609060101010101" pitchFamily="49" charset="-122"/>
                <a:ea typeface="黑体" panose="02010609060101010101" pitchFamily="49" charset="-122"/>
                <a:cs typeface="Calibri" pitchFamily="34" charset="0"/>
              </a:rPr>
              <a:t>一</a:t>
            </a:r>
            <a:r>
              <a:rPr lang="zh-CN" altLang="en-US" sz="2800" dirty="0" smtClean="0">
                <a:latin typeface="黑体" panose="02010609060101010101" pitchFamily="49" charset="-122"/>
                <a:ea typeface="黑体" panose="02010609060101010101" pitchFamily="49" charset="-122"/>
                <a:cs typeface="Calibri" pitchFamily="34" charset="0"/>
              </a:rPr>
              <a:t>次取相应的页表项</a:t>
            </a:r>
            <a:endParaRPr lang="en-US" altLang="zh-CN" sz="2800" dirty="0" smtClean="0">
              <a:latin typeface="黑体" panose="02010609060101010101" pitchFamily="49" charset="-122"/>
              <a:ea typeface="黑体" panose="02010609060101010101" pitchFamily="49" charset="-122"/>
              <a:cs typeface="Calibri" pitchFamily="34" charset="0"/>
            </a:endParaRPr>
          </a:p>
          <a:p>
            <a:pPr lvl="1"/>
            <a:r>
              <a:rPr lang="zh-CN" altLang="en-US" sz="2800" dirty="0">
                <a:latin typeface="黑体" panose="02010609060101010101" pitchFamily="49" charset="-122"/>
                <a:ea typeface="黑体" panose="02010609060101010101" pitchFamily="49" charset="-122"/>
                <a:cs typeface="Calibri" pitchFamily="34" charset="0"/>
              </a:rPr>
              <a:t>一</a:t>
            </a:r>
            <a:r>
              <a:rPr lang="zh-CN" altLang="en-US" sz="2800" dirty="0" smtClean="0">
                <a:latin typeface="黑体" panose="02010609060101010101" pitchFamily="49" charset="-122"/>
                <a:ea typeface="黑体" panose="02010609060101010101" pitchFamily="49" charset="-122"/>
                <a:cs typeface="Calibri" pitchFamily="34" charset="0"/>
              </a:rPr>
              <a:t>次取需要的数据</a:t>
            </a:r>
            <a:endParaRPr lang="en-US" altLang="zh-CN" sz="2800" dirty="0">
              <a:latin typeface="黑体" panose="02010609060101010101" pitchFamily="49" charset="-122"/>
              <a:ea typeface="黑体" panose="02010609060101010101" pitchFamily="49" charset="-122"/>
              <a:cs typeface="Calibri" pitchFamily="34" charset="0"/>
            </a:endParaRPr>
          </a:p>
          <a:p>
            <a:r>
              <a:rPr lang="en-US" altLang="zh-CN" sz="3200" dirty="0">
                <a:latin typeface="黑体" panose="02010609060101010101" pitchFamily="49" charset="-122"/>
                <a:ea typeface="黑体" panose="02010609060101010101" pitchFamily="49" charset="-122"/>
                <a:cs typeface="Calibri" pitchFamily="34" charset="0"/>
              </a:rPr>
              <a:t>CPU</a:t>
            </a:r>
            <a:r>
              <a:rPr lang="zh-CN" altLang="en-US" sz="3200" dirty="0">
                <a:latin typeface="黑体" panose="02010609060101010101" pitchFamily="49" charset="-122"/>
                <a:ea typeface="黑体" panose="02010609060101010101" pitchFamily="49" charset="-122"/>
                <a:cs typeface="Calibri" pitchFamily="34" charset="0"/>
              </a:rPr>
              <a:t>的指令处理速度与内存指令的访问速度差异大，</a:t>
            </a:r>
            <a:r>
              <a:rPr lang="en-US" altLang="zh-CN" sz="3200" dirty="0">
                <a:latin typeface="黑体" panose="02010609060101010101" pitchFamily="49" charset="-122"/>
                <a:ea typeface="黑体" panose="02010609060101010101" pitchFamily="49" charset="-122"/>
                <a:cs typeface="Calibri" pitchFamily="34" charset="0"/>
              </a:rPr>
              <a:t>CPU</a:t>
            </a:r>
            <a:r>
              <a:rPr lang="zh-CN" altLang="en-US" sz="3200" dirty="0">
                <a:latin typeface="黑体" panose="02010609060101010101" pitchFamily="49" charset="-122"/>
                <a:ea typeface="黑体" panose="02010609060101010101" pitchFamily="49" charset="-122"/>
                <a:cs typeface="Calibri" pitchFamily="34" charset="0"/>
              </a:rPr>
              <a:t>的速度得不到充分</a:t>
            </a:r>
            <a:r>
              <a:rPr lang="zh-CN" altLang="en-US" sz="3200" dirty="0" smtClean="0">
                <a:latin typeface="黑体" panose="02010609060101010101" pitchFamily="49" charset="-122"/>
                <a:ea typeface="黑体" panose="02010609060101010101" pitchFamily="49" charset="-122"/>
                <a:cs typeface="Calibri" pitchFamily="34" charset="0"/>
              </a:rPr>
              <a:t>利用</a:t>
            </a:r>
            <a:endParaRPr lang="en-US" altLang="zh-CN" sz="3200" dirty="0">
              <a:latin typeface="黑体" panose="02010609060101010101" pitchFamily="49" charset="-122"/>
              <a:ea typeface="黑体" panose="02010609060101010101" pitchFamily="49" charset="-122"/>
              <a:cs typeface="Calibri" pitchFamily="34" charset="0"/>
            </a:endParaRPr>
          </a:p>
          <a:p>
            <a:r>
              <a:rPr lang="zh-CN" altLang="en-US" sz="3200" dirty="0">
                <a:latin typeface="黑体" panose="02010609060101010101" pitchFamily="49" charset="-122"/>
                <a:ea typeface="黑体" panose="02010609060101010101" pitchFamily="49" charset="-122"/>
                <a:cs typeface="Calibri" pitchFamily="34" charset="0"/>
              </a:rPr>
              <a:t>如何加快地址映射速度，以改善系统性能</a:t>
            </a:r>
            <a:r>
              <a:rPr lang="zh-CN" altLang="en-US" sz="3200" dirty="0" smtClean="0">
                <a:latin typeface="黑体" panose="02010609060101010101" pitchFamily="49" charset="-122"/>
                <a:ea typeface="黑体" panose="02010609060101010101" pitchFamily="49" charset="-122"/>
                <a:cs typeface="Calibri" pitchFamily="34" charset="0"/>
              </a:rPr>
              <a:t>？</a:t>
            </a:r>
            <a:endParaRPr lang="en-US" altLang="zh-CN" sz="3200" dirty="0">
              <a:latin typeface="黑体" panose="02010609060101010101" pitchFamily="49" charset="-122"/>
              <a:ea typeface="黑体" panose="02010609060101010101" pitchFamily="49" charset="-122"/>
              <a:cs typeface="Calibri" pitchFamily="34" charset="0"/>
            </a:endParaRPr>
          </a:p>
          <a:p>
            <a:pPr>
              <a:buFontTx/>
              <a:buNone/>
            </a:pPr>
            <a:r>
              <a:rPr lang="zh-CN" altLang="en-US" sz="3200" dirty="0">
                <a:latin typeface="黑体" panose="02010609060101010101" pitchFamily="49" charset="-122"/>
                <a:ea typeface="黑体" panose="02010609060101010101" pitchFamily="49" charset="-122"/>
              </a:rPr>
              <a:t>程序访问的局部性原理  </a:t>
            </a:r>
            <a:r>
              <a:rPr lang="zh-CN" altLang="en-US" sz="3200" dirty="0">
                <a:latin typeface="黑体" panose="02010609060101010101" pitchFamily="49" charset="-122"/>
                <a:ea typeface="黑体" panose="02010609060101010101" pitchFamily="49" charset="-122"/>
                <a:cs typeface="Calibri" pitchFamily="34" charset="0"/>
              </a:rPr>
              <a:t>→ 引入快表</a:t>
            </a:r>
            <a:r>
              <a:rPr lang="en-US" altLang="zh-CN" sz="3200" dirty="0">
                <a:latin typeface="黑体" panose="02010609060101010101" pitchFamily="49" charset="-122"/>
                <a:ea typeface="黑体" panose="02010609060101010101" pitchFamily="49" charset="-122"/>
                <a:cs typeface="Calibri" pitchFamily="34" charset="0"/>
              </a:rPr>
              <a:t>(TLB)</a:t>
            </a:r>
            <a:endParaRPr lang="zh-CN" altLang="en-US" sz="3200" dirty="0">
              <a:latin typeface="黑体" panose="02010609060101010101" pitchFamily="49" charset="-122"/>
              <a:ea typeface="黑体" panose="02010609060101010101" pitchFamily="49" charset="-122"/>
              <a:cs typeface="Calibri" pitchFamily="34" charset="0"/>
            </a:endParaRPr>
          </a:p>
        </p:txBody>
      </p:sp>
    </p:spTree>
    <p:extLst>
      <p:ext uri="{BB962C8B-B14F-4D97-AF65-F5344CB8AC3E}">
        <p14:creationId xmlns:p14="http://schemas.microsoft.com/office/powerpoint/2010/main" val="4180757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a:normAutofit/>
          </a:bodyPr>
          <a:lstStyle/>
          <a:p>
            <a:r>
              <a:rPr lang="zh-CN" altLang="en-US" sz="4000" dirty="0"/>
              <a:t>快表是什么？</a:t>
            </a:r>
          </a:p>
        </p:txBody>
      </p:sp>
      <p:sp>
        <p:nvSpPr>
          <p:cNvPr id="43011" name="内容占位符 2"/>
          <p:cNvSpPr>
            <a:spLocks noGrp="1"/>
          </p:cNvSpPr>
          <p:nvPr>
            <p:ph idx="1"/>
          </p:nvPr>
        </p:nvSpPr>
        <p:spPr>
          <a:prstGeom prst="rect">
            <a:avLst/>
          </a:prstGeom>
        </p:spPr>
        <p:txBody>
          <a:bodyPr>
            <a:noAutofit/>
          </a:bodyPr>
          <a:lstStyle/>
          <a:p>
            <a:pPr>
              <a:buFont typeface="Wingdings" pitchFamily="2" charset="2"/>
              <a:buChar char="l"/>
            </a:pPr>
            <a:r>
              <a:rPr lang="en-US" altLang="zh-CN" sz="2800" dirty="0">
                <a:latin typeface="+mn-lt"/>
                <a:ea typeface="黑体" panose="02010609060101010101" pitchFamily="49" charset="-122"/>
              </a:rPr>
              <a:t>TLB — Translation Look-aside Buffers</a:t>
            </a:r>
          </a:p>
          <a:p>
            <a:pPr>
              <a:buFont typeface="Wingdings" pitchFamily="2" charset="2"/>
              <a:buChar char="l"/>
            </a:pPr>
            <a:endParaRPr lang="en-US" altLang="zh-CN" sz="2800" dirty="0">
              <a:latin typeface="黑体" panose="02010609060101010101" pitchFamily="49" charset="-122"/>
              <a:ea typeface="黑体" panose="02010609060101010101" pitchFamily="49" charset="-122"/>
            </a:endParaRPr>
          </a:p>
          <a:p>
            <a:pPr>
              <a:buFont typeface="Wingdings" pitchFamily="2" charset="2"/>
              <a:buChar char="l"/>
            </a:pPr>
            <a:endParaRPr lang="en-US" altLang="zh-CN" sz="2800" dirty="0">
              <a:latin typeface="黑体" panose="02010609060101010101" pitchFamily="49" charset="-122"/>
              <a:ea typeface="黑体" panose="02010609060101010101" pitchFamily="49" charset="-122"/>
            </a:endParaRPr>
          </a:p>
          <a:p>
            <a:pPr>
              <a:buFont typeface="Wingdings" pitchFamily="2" charset="2"/>
              <a:buChar char="l"/>
            </a:pPr>
            <a:endParaRPr lang="en-US" altLang="zh-CN" sz="2800" dirty="0">
              <a:latin typeface="黑体" panose="02010609060101010101" pitchFamily="49" charset="-122"/>
              <a:ea typeface="黑体" panose="02010609060101010101" pitchFamily="49" charset="-122"/>
            </a:endParaRPr>
          </a:p>
          <a:p>
            <a:pPr>
              <a:buFont typeface="Wingdings" pitchFamily="2" charset="2"/>
              <a:buChar char="l"/>
            </a:pPr>
            <a:endParaRPr lang="en-US" altLang="zh-CN" sz="2800" dirty="0">
              <a:latin typeface="黑体" panose="02010609060101010101" pitchFamily="49" charset="-122"/>
              <a:ea typeface="黑体" panose="02010609060101010101" pitchFamily="49" charset="-122"/>
            </a:endParaRPr>
          </a:p>
          <a:p>
            <a:pPr marL="0" indent="0">
              <a:buNone/>
            </a:pPr>
            <a:endParaRPr lang="en-US" altLang="zh-CN" sz="2800" dirty="0">
              <a:latin typeface="黑体" panose="02010609060101010101" pitchFamily="49" charset="-122"/>
              <a:ea typeface="黑体" panose="02010609060101010101" pitchFamily="49" charset="-122"/>
            </a:endParaRPr>
          </a:p>
          <a:p>
            <a:pPr>
              <a:buFont typeface="Wingdings" pitchFamily="2" charset="2"/>
              <a:buChar char="l"/>
            </a:pPr>
            <a:r>
              <a:rPr lang="zh-CN" altLang="en-US" sz="2800" dirty="0">
                <a:latin typeface="黑体" panose="02010609060101010101" pitchFamily="49" charset="-122"/>
                <a:ea typeface="黑体" panose="02010609060101010101" pitchFamily="49" charset="-122"/>
              </a:rPr>
              <a:t>相联存储器</a:t>
            </a:r>
            <a:r>
              <a:rPr lang="zh-CN" altLang="en-US" sz="2800" dirty="0">
                <a:latin typeface="+mn-lt"/>
                <a:ea typeface="黑体" panose="02010609060101010101" pitchFamily="49" charset="-122"/>
              </a:rPr>
              <a:t>（</a:t>
            </a:r>
            <a:r>
              <a:rPr lang="en-US" altLang="zh-CN" sz="2800" dirty="0">
                <a:latin typeface="+mn-lt"/>
                <a:ea typeface="黑体" panose="02010609060101010101" pitchFamily="49" charset="-122"/>
              </a:rPr>
              <a:t>associative memory</a:t>
            </a:r>
            <a:r>
              <a:rPr lang="zh-CN" altLang="en-US" sz="2800" dirty="0">
                <a:latin typeface="+mn-lt"/>
                <a:ea typeface="黑体" panose="02010609060101010101" pitchFamily="49" charset="-122"/>
              </a:rPr>
              <a:t>）</a:t>
            </a:r>
            <a:endParaRPr lang="en-US" altLang="zh-CN" sz="2800" dirty="0">
              <a:latin typeface="+mn-lt"/>
              <a:ea typeface="黑体" panose="02010609060101010101" pitchFamily="49" charset="-122"/>
            </a:endParaRPr>
          </a:p>
          <a:p>
            <a:pPr marL="0" indent="0">
              <a:buNone/>
            </a:pPr>
            <a:r>
              <a:rPr lang="zh-CN" altLang="en-US" sz="2800" dirty="0">
                <a:solidFill>
                  <a:srgbClr val="006600"/>
                </a:solidFill>
                <a:latin typeface="黑体" panose="02010609060101010101" pitchFamily="49" charset="-122"/>
                <a:ea typeface="黑体" panose="02010609060101010101" pitchFamily="49" charset="-122"/>
              </a:rPr>
              <a:t>     特点：按内容并行查找，在</a:t>
            </a:r>
            <a:r>
              <a:rPr lang="zh-CN" altLang="en-US" sz="2800" dirty="0" smtClean="0">
                <a:solidFill>
                  <a:srgbClr val="006600"/>
                </a:solidFill>
                <a:latin typeface="黑体" panose="02010609060101010101" pitchFamily="49" charset="-122"/>
                <a:ea typeface="黑体" panose="02010609060101010101" pitchFamily="49" charset="-122"/>
              </a:rPr>
              <a:t>一个</a:t>
            </a:r>
            <a:r>
              <a:rPr lang="zh-CN" altLang="en-US" sz="2800" dirty="0">
                <a:solidFill>
                  <a:srgbClr val="006600"/>
                </a:solidFill>
                <a:latin typeface="黑体" panose="02010609060101010101" pitchFamily="49" charset="-122"/>
                <a:ea typeface="黑体" panose="02010609060101010101" pitchFamily="49" charset="-122"/>
              </a:rPr>
              <a:t>存储周期内同时进行比较</a:t>
            </a:r>
            <a:endParaRPr lang="en-US" altLang="zh-CN" sz="2800" dirty="0">
              <a:latin typeface="黑体" panose="02010609060101010101" pitchFamily="49" charset="-122"/>
              <a:ea typeface="黑体" panose="02010609060101010101" pitchFamily="49" charset="-122"/>
            </a:endParaRPr>
          </a:p>
          <a:p>
            <a:pPr>
              <a:buFont typeface="Wingdings" pitchFamily="2" charset="2"/>
              <a:buChar char="l"/>
            </a:pPr>
            <a:r>
              <a:rPr lang="zh-CN" altLang="en-US" sz="2800" dirty="0">
                <a:latin typeface="黑体" panose="02010609060101010101" pitchFamily="49" charset="-122"/>
                <a:ea typeface="黑体" panose="02010609060101010101" pitchFamily="49" charset="-122"/>
              </a:rPr>
              <a:t>保存正在运行进程的页表的子集</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部分页表项</a:t>
            </a:r>
            <a:r>
              <a:rPr lang="en-US" altLang="zh-CN" sz="2800" dirty="0">
                <a:latin typeface="黑体" panose="02010609060101010101" pitchFamily="49" charset="-122"/>
                <a:ea typeface="黑体" panose="02010609060101010101" pitchFamily="49" charset="-122"/>
              </a:rPr>
              <a:t>)</a:t>
            </a:r>
            <a:endParaRPr lang="zh-CN" altLang="en-US" sz="2800" dirty="0">
              <a:latin typeface="黑体" panose="02010609060101010101" pitchFamily="49" charset="-122"/>
              <a:ea typeface="黑体" panose="02010609060101010101" pitchFamily="49" charset="-122"/>
            </a:endParaRPr>
          </a:p>
          <a:p>
            <a:endParaRPr lang="zh-CN" altLang="en-US" sz="2800" dirty="0">
              <a:latin typeface="黑体" panose="02010609060101010101" pitchFamily="49" charset="-122"/>
              <a:ea typeface="黑体" panose="02010609060101010101" pitchFamily="49" charset="-122"/>
              <a:cs typeface="Calibri" pitchFamily="34" charset="0"/>
            </a:endParaRPr>
          </a:p>
        </p:txBody>
      </p:sp>
      <p:sp>
        <p:nvSpPr>
          <p:cNvPr id="8" name="内容占位符 2"/>
          <p:cNvSpPr txBox="1">
            <a:spLocks/>
          </p:cNvSpPr>
          <p:nvPr/>
        </p:nvSpPr>
        <p:spPr bwMode="auto">
          <a:xfrm>
            <a:off x="685800" y="2057400"/>
            <a:ext cx="7990656" cy="2362200"/>
          </a:xfrm>
          <a:prstGeom prst="rect">
            <a:avLst/>
          </a:prstGeom>
          <a:solidFill>
            <a:schemeClr val="bg1"/>
          </a:solidFill>
          <a:ln w="57150">
            <a:solidFill>
              <a:srgbClr val="C00000"/>
            </a:solidFill>
            <a:miter lim="800000"/>
            <a:headEnd/>
            <a:tailEnd/>
          </a:ln>
        </p:spPr>
        <p:txBody>
          <a:bodyPr/>
          <a:lstStyle/>
          <a:p>
            <a:pPr marL="457200" indent="-457200">
              <a:spcBef>
                <a:spcPts val="600"/>
              </a:spcBef>
              <a:buFont typeface="Arial" panose="020B0604020202020204" pitchFamily="34" charset="0"/>
              <a:buChar char="•"/>
              <a:defRPr/>
            </a:pPr>
            <a:r>
              <a:rPr lang="zh-CN" altLang="en-US" sz="2800" b="1" kern="0" dirty="0" smtClean="0">
                <a:latin typeface="Calibri" pitchFamily="34" charset="0"/>
                <a:ea typeface="华文楷体" pitchFamily="2" charset="-122"/>
                <a:cs typeface="Calibri" pitchFamily="34" charset="0"/>
              </a:rPr>
              <a:t>在</a:t>
            </a:r>
            <a:r>
              <a:rPr lang="en-US" altLang="zh-CN" sz="2800" b="1" kern="0" dirty="0">
                <a:latin typeface="Calibri" pitchFamily="34" charset="0"/>
                <a:ea typeface="华文楷体" pitchFamily="2" charset="-122"/>
                <a:cs typeface="Calibri" pitchFamily="34" charset="0"/>
              </a:rPr>
              <a:t>CPU</a:t>
            </a:r>
            <a:r>
              <a:rPr lang="zh-CN" altLang="en-US" sz="2800" b="1" kern="0" dirty="0">
                <a:latin typeface="Calibri" pitchFamily="34" charset="0"/>
                <a:ea typeface="华文楷体" pitchFamily="2" charset="-122"/>
                <a:cs typeface="Calibri" pitchFamily="34" charset="0"/>
              </a:rPr>
              <a:t>中</a:t>
            </a:r>
            <a:r>
              <a:rPr lang="zh-CN" altLang="en-US" sz="2800" b="1" kern="0" dirty="0" smtClean="0">
                <a:latin typeface="Calibri" pitchFamily="34" charset="0"/>
                <a:ea typeface="华文楷体" pitchFamily="2" charset="-122"/>
                <a:cs typeface="Calibri" pitchFamily="34" charset="0"/>
              </a:rPr>
              <a:t>引入的高速缓存</a:t>
            </a:r>
            <a:r>
              <a:rPr lang="zh-CN" altLang="en-US" sz="2800" b="1" kern="0" dirty="0">
                <a:latin typeface="Calibri" pitchFamily="34" charset="0"/>
                <a:ea typeface="华文楷体" pitchFamily="2" charset="-122"/>
                <a:cs typeface="Calibri" pitchFamily="34" charset="0"/>
              </a:rPr>
              <a:t>（</a:t>
            </a:r>
            <a:r>
              <a:rPr lang="en-US" altLang="zh-CN" sz="2800" b="1" kern="0" dirty="0">
                <a:latin typeface="Calibri" pitchFamily="34" charset="0"/>
                <a:ea typeface="华文楷体" pitchFamily="2" charset="-122"/>
                <a:cs typeface="Calibri" pitchFamily="34" charset="0"/>
              </a:rPr>
              <a:t>Cache</a:t>
            </a:r>
            <a:r>
              <a:rPr lang="zh-CN" altLang="en-US" sz="2800" b="1" kern="0" dirty="0" smtClean="0">
                <a:latin typeface="Calibri" pitchFamily="34" charset="0"/>
                <a:ea typeface="华文楷体" pitchFamily="2" charset="-122"/>
                <a:cs typeface="Calibri" pitchFamily="34" charset="0"/>
              </a:rPr>
              <a:t>），可以</a:t>
            </a:r>
            <a:r>
              <a:rPr lang="zh-CN" altLang="en-US" sz="2800" b="1" kern="0" dirty="0">
                <a:latin typeface="Calibri" pitchFamily="34" charset="0"/>
                <a:ea typeface="华文楷体" pitchFamily="2" charset="-122"/>
                <a:cs typeface="Calibri" pitchFamily="34" charset="0"/>
              </a:rPr>
              <a:t>匹配</a:t>
            </a:r>
            <a:r>
              <a:rPr lang="en-US" altLang="zh-CN" sz="2800" b="1" kern="0" dirty="0">
                <a:latin typeface="Calibri" pitchFamily="34" charset="0"/>
                <a:ea typeface="华文楷体" pitchFamily="2" charset="-122"/>
                <a:cs typeface="Calibri" pitchFamily="34" charset="0"/>
              </a:rPr>
              <a:t>CPU</a:t>
            </a:r>
            <a:r>
              <a:rPr lang="zh-CN" altLang="en-US" sz="2800" b="1" kern="0" dirty="0">
                <a:latin typeface="Calibri" pitchFamily="34" charset="0"/>
                <a:ea typeface="华文楷体" pitchFamily="2" charset="-122"/>
                <a:cs typeface="Calibri" pitchFamily="34" charset="0"/>
              </a:rPr>
              <a:t>的处理速率和内存的访问</a:t>
            </a:r>
            <a:r>
              <a:rPr lang="zh-CN" altLang="en-US" sz="2800" b="1" kern="0" dirty="0" smtClean="0">
                <a:latin typeface="Calibri" pitchFamily="34" charset="0"/>
                <a:ea typeface="华文楷体" pitchFamily="2" charset="-122"/>
                <a:cs typeface="Calibri" pitchFamily="34" charset="0"/>
              </a:rPr>
              <a:t>速度</a:t>
            </a:r>
            <a:endParaRPr lang="en-US" altLang="zh-CN" sz="1200" b="1" kern="0" dirty="0" smtClean="0">
              <a:latin typeface="Calibri" pitchFamily="34" charset="0"/>
              <a:ea typeface="华文楷体" pitchFamily="2" charset="-122"/>
              <a:cs typeface="Calibri" pitchFamily="34" charset="0"/>
            </a:endParaRPr>
          </a:p>
          <a:p>
            <a:pPr marL="457200" indent="-457200">
              <a:spcBef>
                <a:spcPts val="600"/>
              </a:spcBef>
              <a:buFont typeface="Arial" panose="020B0604020202020204" pitchFamily="34" charset="0"/>
              <a:buChar char="•"/>
              <a:defRPr/>
            </a:pPr>
            <a:r>
              <a:rPr lang="zh-CN" altLang="en-US" sz="2800" b="1" kern="0" dirty="0" smtClean="0">
                <a:latin typeface="Calibri" pitchFamily="34" charset="0"/>
                <a:ea typeface="华文楷体" pitchFamily="2" charset="-122"/>
                <a:cs typeface="Calibri" pitchFamily="34" charset="0"/>
              </a:rPr>
              <a:t>一</a:t>
            </a:r>
            <a:r>
              <a:rPr lang="zh-CN" altLang="en-US" sz="2800" b="1" kern="0" dirty="0">
                <a:latin typeface="Calibri" pitchFamily="34" charset="0"/>
                <a:ea typeface="华文楷体" pitchFamily="2" charset="-122"/>
                <a:cs typeface="Calibri" pitchFamily="34" charset="0"/>
              </a:rPr>
              <a:t>种随机存取型存储器，除连线寻址机制外，还有接线逻辑，能按特定的匹配标志在一个存储周期内对所有的字同时进行</a:t>
            </a:r>
            <a:r>
              <a:rPr lang="zh-CN" altLang="en-US" sz="2800" b="1" kern="0" dirty="0" smtClean="0">
                <a:latin typeface="Calibri" pitchFamily="34" charset="0"/>
                <a:ea typeface="华文楷体" pitchFamily="2" charset="-122"/>
                <a:cs typeface="Calibri" pitchFamily="34" charset="0"/>
              </a:rPr>
              <a:t>比较</a:t>
            </a:r>
            <a:endParaRPr lang="zh-CN" altLang="en-US" sz="2800" b="1" kern="0" dirty="0">
              <a:latin typeface="Calibri" pitchFamily="34" charset="0"/>
              <a:ea typeface="华文楷体" pitchFamily="2" charset="-122"/>
              <a:cs typeface="Calibri" pitchFamily="34" charset="0"/>
            </a:endParaRPr>
          </a:p>
        </p:txBody>
      </p:sp>
    </p:spTree>
    <p:extLst>
      <p:ext uri="{BB962C8B-B14F-4D97-AF65-F5344CB8AC3E}">
        <p14:creationId xmlns:p14="http://schemas.microsoft.com/office/powerpoint/2010/main" val="10991799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77561" y="304800"/>
            <a:ext cx="7010400" cy="657534"/>
          </a:xfrm>
        </p:spPr>
        <p:txBody>
          <a:bodyPr>
            <a:noAutofit/>
          </a:bodyPr>
          <a:lstStyle/>
          <a:p>
            <a:r>
              <a:rPr lang="zh-CN" altLang="en-US" sz="4000" dirty="0">
                <a:latin typeface="黑体" panose="02010609060101010101" pitchFamily="49" charset="-122"/>
                <a:ea typeface="黑体" panose="02010609060101010101" pitchFamily="49" charset="-122"/>
              </a:rPr>
              <a:t>加入</a:t>
            </a:r>
            <a:r>
              <a:rPr lang="en-US" altLang="zh-CN" sz="4000" dirty="0">
                <a:latin typeface="黑体" panose="02010609060101010101" pitchFamily="49" charset="-122"/>
                <a:ea typeface="黑体" panose="02010609060101010101" pitchFamily="49" charset="-122"/>
              </a:rPr>
              <a:t>TLB</a:t>
            </a:r>
            <a:r>
              <a:rPr lang="zh-CN" altLang="en-US" sz="4000" dirty="0">
                <a:latin typeface="黑体" panose="02010609060101010101" pitchFamily="49" charset="-122"/>
                <a:ea typeface="黑体" panose="02010609060101010101" pitchFamily="49" charset="-122"/>
              </a:rPr>
              <a:t>后地址转换过程示意</a:t>
            </a:r>
          </a:p>
        </p:txBody>
      </p:sp>
      <p:pic>
        <p:nvPicPr>
          <p:cNvPr id="3" name="Content Placeholder 3" descr="Fig08_07.gif"/>
          <p:cNvPicPr>
            <a:picLocks noChangeAspect="1"/>
          </p:cNvPicPr>
          <p:nvPr/>
        </p:nvPicPr>
        <p:blipFill>
          <a:blip r:embed="rId3">
            <a:extLst>
              <a:ext uri="{28A0092B-C50C-407E-A947-70E740481C1C}">
                <a14:useLocalDpi xmlns:a14="http://schemas.microsoft.com/office/drawing/2010/main" val="0"/>
              </a:ext>
            </a:extLst>
          </a:blip>
          <a:srcRect b="9122"/>
          <a:stretch>
            <a:fillRect/>
          </a:stretch>
        </p:blipFill>
        <p:spPr bwMode="auto">
          <a:xfrm>
            <a:off x="113809" y="1371600"/>
            <a:ext cx="9030191" cy="4510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5181600" y="6248400"/>
            <a:ext cx="2914772" cy="461665"/>
          </a:xfrm>
          <a:prstGeom prst="rect">
            <a:avLst/>
          </a:prstGeom>
          <a:noFill/>
        </p:spPr>
        <p:txBody>
          <a:bodyPr wrap="none" rtlCol="0">
            <a:spAutoFit/>
          </a:bodyPr>
          <a:lstStyle/>
          <a:p>
            <a:r>
              <a:rPr lang="zh-CN" altLang="en-US" dirty="0">
                <a:latin typeface="Calibri" panose="020F0502020204030204" pitchFamily="34" charset="0"/>
                <a:ea typeface="华文楷体" panose="02010600040101010101" pitchFamily="2" charset="-122"/>
              </a:rPr>
              <a:t>选自</a:t>
            </a:r>
            <a:r>
              <a:rPr lang="en-US" altLang="zh-CN" dirty="0">
                <a:latin typeface="Calibri" panose="020F0502020204030204" pitchFamily="34" charset="0"/>
                <a:ea typeface="华文楷体" panose="02010600040101010101" pitchFamily="2" charset="-122"/>
              </a:rPr>
              <a:t>William Stallings</a:t>
            </a:r>
            <a:endParaRPr lang="zh-CN" altLang="en-US" dirty="0">
              <a:latin typeface="Calibri" panose="020F0502020204030204" pitchFamily="34" charset="0"/>
              <a:ea typeface="华文楷体" panose="02010600040101010101" pitchFamily="2" charset="-122"/>
            </a:endParaRPr>
          </a:p>
        </p:txBody>
      </p:sp>
    </p:spTree>
    <p:extLst>
      <p:ext uri="{BB962C8B-B14F-4D97-AF65-F5344CB8AC3E}">
        <p14:creationId xmlns:p14="http://schemas.microsoft.com/office/powerpoint/2010/main" val="12971587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78789" y="228600"/>
            <a:ext cx="7592093" cy="762000"/>
          </a:xfrm>
        </p:spPr>
        <p:txBody>
          <a:bodyPr/>
          <a:lstStyle/>
          <a:p>
            <a:r>
              <a:rPr lang="zh-CN" altLang="en-US" dirty="0" smtClean="0"/>
              <a:t>习题解答</a:t>
            </a:r>
            <a:endParaRPr lang="zh-CN" altLang="en-US" dirty="0"/>
          </a:p>
        </p:txBody>
      </p:sp>
      <p:sp>
        <p:nvSpPr>
          <p:cNvPr id="5" name="内容占位符 2"/>
          <p:cNvSpPr>
            <a:spLocks noGrp="1"/>
          </p:cNvSpPr>
          <p:nvPr>
            <p:ph idx="1"/>
          </p:nvPr>
        </p:nvSpPr>
        <p:spPr>
          <a:xfrm>
            <a:off x="400560" y="889658"/>
            <a:ext cx="7896225" cy="5935685"/>
          </a:xfrm>
        </p:spPr>
        <p:txBody>
          <a:bodyPr/>
          <a:lstStyle/>
          <a:p>
            <a:r>
              <a:rPr lang="en-US" altLang="zh-CN" b="0" dirty="0" smtClean="0">
                <a:latin typeface="黑体" panose="02010609060101010101" pitchFamily="49" charset="-122"/>
                <a:ea typeface="黑体" panose="02010609060101010101" pitchFamily="49" charset="-122"/>
              </a:rPr>
              <a:t>[2013</a:t>
            </a:r>
            <a:r>
              <a:rPr lang="zh-CN" altLang="en-US" b="0" dirty="0" smtClean="0">
                <a:latin typeface="黑体" panose="02010609060101010101" pitchFamily="49" charset="-122"/>
                <a:ea typeface="黑体" panose="02010609060101010101" pitchFamily="49" charset="-122"/>
              </a:rPr>
              <a:t>年考研题</a:t>
            </a:r>
            <a:r>
              <a:rPr lang="en-US" altLang="zh-CN" b="0" dirty="0" smtClean="0">
                <a:latin typeface="黑体" panose="02010609060101010101" pitchFamily="49" charset="-122"/>
                <a:ea typeface="黑体" panose="02010609060101010101" pitchFamily="49" charset="-122"/>
              </a:rPr>
              <a:t>]</a:t>
            </a:r>
            <a:r>
              <a:rPr lang="zh-CN" altLang="en-US" b="0" dirty="0" smtClean="0">
                <a:latin typeface="黑体" panose="02010609060101010101" pitchFamily="49" charset="-122"/>
                <a:ea typeface="黑体" panose="02010609060101010101" pitchFamily="49" charset="-122"/>
              </a:rPr>
              <a:t>某</a:t>
            </a:r>
            <a:r>
              <a:rPr lang="zh-CN" altLang="en-US" b="0" dirty="0">
                <a:latin typeface="黑体" panose="02010609060101010101" pitchFamily="49" charset="-122"/>
                <a:ea typeface="黑体" panose="02010609060101010101" pitchFamily="49" charset="-122"/>
              </a:rPr>
              <a:t>计算机主存地址空间大小为</a:t>
            </a:r>
            <a:r>
              <a:rPr lang="en-US" altLang="zh-CN" b="0" dirty="0" smtClean="0">
                <a:latin typeface="黑体" panose="02010609060101010101" pitchFamily="49" charset="-122"/>
                <a:ea typeface="黑体" panose="02010609060101010101" pitchFamily="49" charset="-122"/>
              </a:rPr>
              <a:t>256MB</a:t>
            </a:r>
            <a:r>
              <a:rPr lang="zh-CN" altLang="en-US" b="0" dirty="0">
                <a:latin typeface="黑体" panose="02010609060101010101" pitchFamily="49" charset="-122"/>
                <a:ea typeface="黑体" panose="02010609060101010101" pitchFamily="49" charset="-122"/>
              </a:rPr>
              <a:t>，按字节编址。虚拟地址空间大小为</a:t>
            </a:r>
            <a:r>
              <a:rPr lang="en-US" altLang="zh-CN" b="0" dirty="0" smtClean="0">
                <a:latin typeface="黑体" panose="02010609060101010101" pitchFamily="49" charset="-122"/>
                <a:ea typeface="黑体" panose="02010609060101010101" pitchFamily="49" charset="-122"/>
              </a:rPr>
              <a:t>4GB</a:t>
            </a:r>
            <a:r>
              <a:rPr lang="zh-CN" altLang="en-US" b="0" dirty="0">
                <a:latin typeface="黑体" panose="02010609060101010101" pitchFamily="49" charset="-122"/>
                <a:ea typeface="黑体" panose="02010609060101010101" pitchFamily="49" charset="-122"/>
              </a:rPr>
              <a:t>，采用页式存储管理，页面大小为</a:t>
            </a:r>
            <a:r>
              <a:rPr lang="en-US" altLang="zh-CN" b="0" dirty="0" smtClean="0">
                <a:latin typeface="黑体" panose="02010609060101010101" pitchFamily="49" charset="-122"/>
                <a:ea typeface="黑体" panose="02010609060101010101" pitchFamily="49" charset="-122"/>
              </a:rPr>
              <a:t>4KB</a:t>
            </a:r>
            <a:r>
              <a:rPr lang="zh-CN" altLang="en-US" b="0" dirty="0">
                <a:latin typeface="黑体" panose="02010609060101010101" pitchFamily="49" charset="-122"/>
                <a:ea typeface="黑体" panose="02010609060101010101" pitchFamily="49" charset="-122"/>
              </a:rPr>
              <a:t>，</a:t>
            </a:r>
            <a:r>
              <a:rPr lang="en-US" altLang="zh-CN" b="0" dirty="0">
                <a:latin typeface="黑体" panose="02010609060101010101" pitchFamily="49" charset="-122"/>
                <a:ea typeface="黑体" panose="02010609060101010101" pitchFamily="49" charset="-122"/>
              </a:rPr>
              <a:t>TLB</a:t>
            </a:r>
            <a:r>
              <a:rPr lang="zh-CN" altLang="en-US" b="0" dirty="0">
                <a:latin typeface="黑体" panose="02010609060101010101" pitchFamily="49" charset="-122"/>
                <a:ea typeface="黑体" panose="02010609060101010101" pitchFamily="49" charset="-122"/>
              </a:rPr>
              <a:t>（快表）采用全相联映射，有</a:t>
            </a:r>
            <a:r>
              <a:rPr lang="en-US" altLang="zh-CN" b="0" dirty="0">
                <a:latin typeface="黑体" panose="02010609060101010101" pitchFamily="49" charset="-122"/>
                <a:ea typeface="黑体" panose="02010609060101010101" pitchFamily="49" charset="-122"/>
              </a:rPr>
              <a:t>4</a:t>
            </a:r>
            <a:r>
              <a:rPr lang="zh-CN" altLang="en-US" b="0" dirty="0">
                <a:latin typeface="黑体" panose="02010609060101010101" pitchFamily="49" charset="-122"/>
                <a:ea typeface="黑体" panose="02010609060101010101" pitchFamily="49" charset="-122"/>
              </a:rPr>
              <a:t>个页表项，内容如下表所示。</a:t>
            </a:r>
          </a:p>
          <a:p>
            <a:pPr marL="0" indent="0">
              <a:buNone/>
            </a:pPr>
            <a:r>
              <a:rPr lang="en-US" altLang="zh-CN" b="0" dirty="0" smtClean="0">
                <a:latin typeface="黑体" panose="02010609060101010101" pitchFamily="49" charset="-122"/>
                <a:ea typeface="黑体" panose="02010609060101010101" pitchFamily="49" charset="-122"/>
              </a:rPr>
              <a:t>	</a:t>
            </a:r>
            <a:r>
              <a:rPr lang="zh-CN" altLang="en-US" b="0" dirty="0" smtClean="0">
                <a:latin typeface="黑体" panose="02010609060101010101" pitchFamily="49" charset="-122"/>
                <a:ea typeface="黑体" panose="02010609060101010101" pitchFamily="49" charset="-122"/>
              </a:rPr>
              <a:t>有效</a:t>
            </a:r>
            <a:r>
              <a:rPr lang="zh-CN" altLang="en-US" b="0" dirty="0">
                <a:latin typeface="黑体" panose="02010609060101010101" pitchFamily="49" charset="-122"/>
                <a:ea typeface="黑体" panose="02010609060101010101" pitchFamily="49" charset="-122"/>
              </a:rPr>
              <a:t>位	标记	</a:t>
            </a:r>
            <a:r>
              <a:rPr lang="en-US" altLang="zh-CN" b="0" dirty="0" smtClean="0">
                <a:latin typeface="黑体" panose="02010609060101010101" pitchFamily="49" charset="-122"/>
                <a:ea typeface="黑体" panose="02010609060101010101" pitchFamily="49" charset="-122"/>
              </a:rPr>
              <a:t>	</a:t>
            </a:r>
            <a:r>
              <a:rPr lang="zh-CN" altLang="en-US" b="0" dirty="0" smtClean="0">
                <a:latin typeface="黑体" panose="02010609060101010101" pitchFamily="49" charset="-122"/>
                <a:ea typeface="黑体" panose="02010609060101010101" pitchFamily="49" charset="-122"/>
              </a:rPr>
              <a:t>页</a:t>
            </a:r>
            <a:r>
              <a:rPr lang="zh-CN" altLang="en-US" b="0" dirty="0">
                <a:latin typeface="黑体" panose="02010609060101010101" pitchFamily="49" charset="-122"/>
                <a:ea typeface="黑体" panose="02010609060101010101" pitchFamily="49" charset="-122"/>
              </a:rPr>
              <a:t>框号	</a:t>
            </a:r>
            <a:r>
              <a:rPr lang="en-US" altLang="zh-CN" b="0" dirty="0">
                <a:latin typeface="黑体" panose="02010609060101010101" pitchFamily="49" charset="-122"/>
                <a:ea typeface="黑体" panose="02010609060101010101" pitchFamily="49" charset="-122"/>
              </a:rPr>
              <a:t>…</a:t>
            </a:r>
          </a:p>
          <a:p>
            <a:pPr marL="0" indent="0">
              <a:buNone/>
            </a:pPr>
            <a:r>
              <a:rPr lang="en-US" altLang="zh-CN" b="0" dirty="0" smtClean="0">
                <a:latin typeface="黑体" panose="02010609060101010101" pitchFamily="49" charset="-122"/>
                <a:ea typeface="黑体" panose="02010609060101010101" pitchFamily="49" charset="-122"/>
              </a:rPr>
              <a:t>	0</a:t>
            </a:r>
            <a:r>
              <a:rPr lang="en-US" altLang="zh-CN" b="0" dirty="0">
                <a:latin typeface="黑体" panose="02010609060101010101" pitchFamily="49" charset="-122"/>
                <a:ea typeface="黑体" panose="02010609060101010101" pitchFamily="49" charset="-122"/>
              </a:rPr>
              <a:t>	</a:t>
            </a:r>
            <a:r>
              <a:rPr lang="en-US" altLang="zh-CN" b="0" dirty="0" smtClean="0">
                <a:latin typeface="黑体" panose="02010609060101010101" pitchFamily="49" charset="-122"/>
                <a:ea typeface="黑体" panose="02010609060101010101" pitchFamily="49" charset="-122"/>
              </a:rPr>
              <a:t>	FF180H</a:t>
            </a:r>
            <a:r>
              <a:rPr lang="en-US" altLang="zh-CN" b="0" dirty="0">
                <a:latin typeface="黑体" panose="02010609060101010101" pitchFamily="49" charset="-122"/>
                <a:ea typeface="黑体" panose="02010609060101010101" pitchFamily="49" charset="-122"/>
              </a:rPr>
              <a:t>	0002H	…</a:t>
            </a:r>
          </a:p>
          <a:p>
            <a:pPr marL="0" indent="0">
              <a:buNone/>
            </a:pPr>
            <a:r>
              <a:rPr lang="en-US" altLang="zh-CN" b="0" dirty="0" smtClean="0">
                <a:latin typeface="黑体" panose="02010609060101010101" pitchFamily="49" charset="-122"/>
                <a:ea typeface="黑体" panose="02010609060101010101" pitchFamily="49" charset="-122"/>
              </a:rPr>
              <a:t>	1</a:t>
            </a:r>
            <a:r>
              <a:rPr lang="en-US" altLang="zh-CN" b="0" dirty="0">
                <a:latin typeface="黑体" panose="02010609060101010101" pitchFamily="49" charset="-122"/>
                <a:ea typeface="黑体" panose="02010609060101010101" pitchFamily="49" charset="-122"/>
              </a:rPr>
              <a:t>	</a:t>
            </a:r>
            <a:r>
              <a:rPr lang="en-US" altLang="zh-CN" b="0" dirty="0" smtClean="0">
                <a:latin typeface="黑体" panose="02010609060101010101" pitchFamily="49" charset="-122"/>
                <a:ea typeface="黑体" panose="02010609060101010101" pitchFamily="49" charset="-122"/>
              </a:rPr>
              <a:t>	3FFF1H</a:t>
            </a:r>
            <a:r>
              <a:rPr lang="en-US" altLang="zh-CN" b="0" dirty="0">
                <a:latin typeface="黑体" panose="02010609060101010101" pitchFamily="49" charset="-122"/>
                <a:ea typeface="黑体" panose="02010609060101010101" pitchFamily="49" charset="-122"/>
              </a:rPr>
              <a:t>	0035H	…</a:t>
            </a:r>
          </a:p>
          <a:p>
            <a:pPr marL="0" indent="0">
              <a:buNone/>
            </a:pPr>
            <a:r>
              <a:rPr lang="en-US" altLang="zh-CN" b="0" dirty="0" smtClean="0">
                <a:latin typeface="黑体" panose="02010609060101010101" pitchFamily="49" charset="-122"/>
                <a:ea typeface="黑体" panose="02010609060101010101" pitchFamily="49" charset="-122"/>
              </a:rPr>
              <a:t>	0</a:t>
            </a:r>
            <a:r>
              <a:rPr lang="en-US" altLang="zh-CN" b="0" dirty="0">
                <a:latin typeface="黑体" panose="02010609060101010101" pitchFamily="49" charset="-122"/>
                <a:ea typeface="黑体" panose="02010609060101010101" pitchFamily="49" charset="-122"/>
              </a:rPr>
              <a:t>	</a:t>
            </a:r>
            <a:r>
              <a:rPr lang="en-US" altLang="zh-CN" b="0" dirty="0" smtClean="0">
                <a:latin typeface="黑体" panose="02010609060101010101" pitchFamily="49" charset="-122"/>
                <a:ea typeface="黑体" panose="02010609060101010101" pitchFamily="49" charset="-122"/>
              </a:rPr>
              <a:t>	02FF3H</a:t>
            </a:r>
            <a:r>
              <a:rPr lang="en-US" altLang="zh-CN" b="0" dirty="0">
                <a:latin typeface="黑体" panose="02010609060101010101" pitchFamily="49" charset="-122"/>
                <a:ea typeface="黑体" panose="02010609060101010101" pitchFamily="49" charset="-122"/>
              </a:rPr>
              <a:t>	0351H	…</a:t>
            </a:r>
          </a:p>
          <a:p>
            <a:pPr marL="0" indent="0">
              <a:buNone/>
            </a:pPr>
            <a:r>
              <a:rPr lang="en-US" altLang="zh-CN" b="0" dirty="0" smtClean="0">
                <a:latin typeface="黑体" panose="02010609060101010101" pitchFamily="49" charset="-122"/>
                <a:ea typeface="黑体" panose="02010609060101010101" pitchFamily="49" charset="-122"/>
              </a:rPr>
              <a:t>	1</a:t>
            </a:r>
            <a:r>
              <a:rPr lang="en-US" altLang="zh-CN" b="0" dirty="0">
                <a:latin typeface="黑体" panose="02010609060101010101" pitchFamily="49" charset="-122"/>
                <a:ea typeface="黑体" panose="02010609060101010101" pitchFamily="49" charset="-122"/>
              </a:rPr>
              <a:t>	</a:t>
            </a:r>
            <a:r>
              <a:rPr lang="en-US" altLang="zh-CN" b="0" dirty="0" smtClean="0">
                <a:latin typeface="黑体" panose="02010609060101010101" pitchFamily="49" charset="-122"/>
                <a:ea typeface="黑体" panose="02010609060101010101" pitchFamily="49" charset="-122"/>
              </a:rPr>
              <a:t>	03FFFH</a:t>
            </a:r>
            <a:r>
              <a:rPr lang="en-US" altLang="zh-CN" b="0" dirty="0">
                <a:latin typeface="黑体" panose="02010609060101010101" pitchFamily="49" charset="-122"/>
                <a:ea typeface="黑体" panose="02010609060101010101" pitchFamily="49" charset="-122"/>
              </a:rPr>
              <a:t>	0153H	…</a:t>
            </a:r>
          </a:p>
          <a:p>
            <a:pPr marL="0" indent="0">
              <a:buNone/>
            </a:pPr>
            <a:r>
              <a:rPr lang="en-US" altLang="zh-CN" b="0" dirty="0">
                <a:latin typeface="黑体" panose="02010609060101010101" pitchFamily="49" charset="-122"/>
                <a:ea typeface="黑体" panose="02010609060101010101" pitchFamily="49" charset="-122"/>
              </a:rPr>
              <a:t> </a:t>
            </a:r>
            <a:r>
              <a:rPr lang="en-US" altLang="zh-CN" b="0" dirty="0" smtClean="0">
                <a:latin typeface="黑体" panose="02010609060101010101" pitchFamily="49" charset="-122"/>
                <a:ea typeface="黑体" panose="02010609060101010101" pitchFamily="49" charset="-122"/>
              </a:rPr>
              <a:t>   </a:t>
            </a:r>
            <a:r>
              <a:rPr lang="zh-CN" altLang="en-US" b="0" dirty="0" smtClean="0">
                <a:latin typeface="黑体" panose="02010609060101010101" pitchFamily="49" charset="-122"/>
                <a:ea typeface="黑体" panose="02010609060101010101" pitchFamily="49" charset="-122"/>
              </a:rPr>
              <a:t>则</a:t>
            </a:r>
            <a:r>
              <a:rPr lang="zh-CN" altLang="en-US" b="0" dirty="0">
                <a:latin typeface="黑体" panose="02010609060101010101" pitchFamily="49" charset="-122"/>
                <a:ea typeface="黑体" panose="02010609060101010101" pitchFamily="49" charset="-122"/>
              </a:rPr>
              <a:t>对虚拟地址</a:t>
            </a:r>
            <a:r>
              <a:rPr lang="en-US" altLang="zh-CN" b="0" dirty="0">
                <a:latin typeface="黑体" panose="02010609060101010101" pitchFamily="49" charset="-122"/>
                <a:ea typeface="黑体" panose="02010609060101010101" pitchFamily="49" charset="-122"/>
              </a:rPr>
              <a:t>03FF F180H</a:t>
            </a:r>
            <a:r>
              <a:rPr lang="zh-CN" altLang="en-US" b="0" dirty="0">
                <a:latin typeface="黑体" panose="02010609060101010101" pitchFamily="49" charset="-122"/>
                <a:ea typeface="黑体" panose="02010609060101010101" pitchFamily="49" charset="-122"/>
              </a:rPr>
              <a:t>进行虚实地址变换的结果是 </a:t>
            </a:r>
          </a:p>
          <a:p>
            <a:pPr marL="0" indent="0">
              <a:buNone/>
            </a:pPr>
            <a:r>
              <a:rPr lang="en-US" altLang="zh-CN" b="0" dirty="0">
                <a:latin typeface="黑体" panose="02010609060101010101" pitchFamily="49" charset="-122"/>
                <a:ea typeface="黑体" panose="02010609060101010101" pitchFamily="49" charset="-122"/>
              </a:rPr>
              <a:t> </a:t>
            </a:r>
            <a:r>
              <a:rPr lang="en-US" altLang="zh-CN" b="0" dirty="0" smtClean="0">
                <a:latin typeface="黑体" panose="02010609060101010101" pitchFamily="49" charset="-122"/>
                <a:ea typeface="黑体" panose="02010609060101010101" pitchFamily="49" charset="-122"/>
              </a:rPr>
              <a:t>      A</a:t>
            </a:r>
            <a:r>
              <a:rPr lang="en-US" altLang="zh-CN" b="0" dirty="0">
                <a:latin typeface="黑体" panose="02010609060101010101" pitchFamily="49" charset="-122"/>
                <a:ea typeface="黑体" panose="02010609060101010101" pitchFamily="49" charset="-122"/>
              </a:rPr>
              <a:t>. 015 3180H        B. 003 5180H          </a:t>
            </a:r>
            <a:endParaRPr lang="en-US" altLang="zh-CN" b="0" dirty="0" smtClean="0">
              <a:latin typeface="黑体" panose="02010609060101010101" pitchFamily="49" charset="-122"/>
              <a:ea typeface="黑体" panose="02010609060101010101" pitchFamily="49" charset="-122"/>
            </a:endParaRPr>
          </a:p>
          <a:p>
            <a:pPr marL="0" indent="0">
              <a:buNone/>
            </a:pPr>
            <a:r>
              <a:rPr lang="en-US" altLang="zh-CN" b="0" dirty="0">
                <a:latin typeface="黑体" panose="02010609060101010101" pitchFamily="49" charset="-122"/>
                <a:ea typeface="黑体" panose="02010609060101010101" pitchFamily="49" charset="-122"/>
              </a:rPr>
              <a:t> </a:t>
            </a:r>
            <a:r>
              <a:rPr lang="en-US" altLang="zh-CN" b="0" dirty="0" smtClean="0">
                <a:latin typeface="黑体" panose="02010609060101010101" pitchFamily="49" charset="-122"/>
                <a:ea typeface="黑体" panose="02010609060101010101" pitchFamily="49" charset="-122"/>
              </a:rPr>
              <a:t>      </a:t>
            </a:r>
            <a:r>
              <a:rPr lang="en-US" altLang="zh-CN" b="0" dirty="0">
                <a:latin typeface="黑体" panose="02010609060101010101" pitchFamily="49" charset="-122"/>
                <a:ea typeface="黑体" panose="02010609060101010101" pitchFamily="49" charset="-122"/>
              </a:rPr>
              <a:t>C. TLB</a:t>
            </a:r>
            <a:r>
              <a:rPr lang="zh-CN" altLang="en-US" b="0" dirty="0">
                <a:latin typeface="黑体" panose="02010609060101010101" pitchFamily="49" charset="-122"/>
                <a:ea typeface="黑体" panose="02010609060101010101" pitchFamily="49" charset="-122"/>
              </a:rPr>
              <a:t>缺失         </a:t>
            </a:r>
            <a:r>
              <a:rPr lang="zh-CN" altLang="en-US" b="0" dirty="0" smtClean="0">
                <a:latin typeface="黑体" panose="02010609060101010101" pitchFamily="49" charset="-122"/>
                <a:ea typeface="黑体" panose="02010609060101010101" pitchFamily="49" charset="-122"/>
              </a:rPr>
              <a:t> </a:t>
            </a:r>
            <a:r>
              <a:rPr lang="en-US" altLang="zh-CN" b="0" dirty="0" smtClean="0">
                <a:latin typeface="黑体" panose="02010609060101010101" pitchFamily="49" charset="-122"/>
                <a:ea typeface="黑体" panose="02010609060101010101" pitchFamily="49" charset="-122"/>
              </a:rPr>
              <a:t>D</a:t>
            </a:r>
            <a:r>
              <a:rPr lang="en-US" altLang="zh-CN" b="0" dirty="0">
                <a:latin typeface="黑体" panose="02010609060101010101" pitchFamily="49" charset="-122"/>
                <a:ea typeface="黑体" panose="02010609060101010101" pitchFamily="49" charset="-122"/>
              </a:rPr>
              <a:t>. </a:t>
            </a:r>
            <a:r>
              <a:rPr lang="zh-CN" altLang="en-US" b="0" dirty="0">
                <a:latin typeface="黑体" panose="02010609060101010101" pitchFamily="49" charset="-122"/>
                <a:ea typeface="黑体" panose="02010609060101010101" pitchFamily="49" charset="-122"/>
              </a:rPr>
              <a:t>缺页</a:t>
            </a:r>
          </a:p>
          <a:p>
            <a:r>
              <a:rPr lang="zh-CN" altLang="en-US" b="0" dirty="0" smtClean="0">
                <a:latin typeface="黑体" panose="02010609060101010101" pitchFamily="49" charset="-122"/>
                <a:ea typeface="黑体" panose="02010609060101010101" pitchFamily="49" charset="-122"/>
              </a:rPr>
              <a:t>总的虚拟页数？    </a:t>
            </a:r>
            <a:r>
              <a:rPr lang="en-US" altLang="zh-CN" b="0" dirty="0" smtClean="0">
                <a:latin typeface="黑体" panose="02010609060101010101" pitchFamily="49" charset="-122"/>
                <a:ea typeface="黑体" panose="02010609060101010101" pitchFamily="49" charset="-122"/>
              </a:rPr>
              <a:t>=》   4GB/4KB</a:t>
            </a:r>
          </a:p>
          <a:p>
            <a:r>
              <a:rPr lang="zh-CN" altLang="en-US" b="0" dirty="0" smtClean="0">
                <a:latin typeface="黑体" panose="02010609060101010101" pitchFamily="49" charset="-122"/>
                <a:ea typeface="黑体" panose="02010609060101010101" pitchFamily="49" charset="-122"/>
              </a:rPr>
              <a:t>逻辑页号  页内地址    </a:t>
            </a:r>
            <a:r>
              <a:rPr lang="en-US" altLang="zh-CN" b="0" dirty="0" smtClean="0">
                <a:latin typeface="黑体" panose="02010609060101010101" pitchFamily="49" charset="-122"/>
                <a:ea typeface="黑体" panose="02010609060101010101" pitchFamily="49" charset="-122"/>
              </a:rPr>
              <a:t>=》    </a:t>
            </a:r>
            <a:r>
              <a:rPr lang="zh-CN" altLang="en-US" b="0" dirty="0" smtClean="0">
                <a:latin typeface="黑体" panose="02010609060101010101" pitchFamily="49" charset="-122"/>
                <a:ea typeface="黑体" panose="02010609060101010101" pitchFamily="49" charset="-122"/>
              </a:rPr>
              <a:t>物理页号  页内地址</a:t>
            </a:r>
            <a:endParaRPr lang="zh-CN" altLang="en-US" b="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85440674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6875" y="533400"/>
            <a:ext cx="7896225" cy="5800725"/>
          </a:xfrm>
        </p:spPr>
        <p:txBody>
          <a:bodyPr/>
          <a:lstStyle/>
          <a:p>
            <a:r>
              <a:rPr lang="en-US" altLang="zh-CN" sz="2800" b="0" dirty="0" smtClean="0">
                <a:latin typeface="黑体" panose="02010609060101010101" pitchFamily="49" charset="-122"/>
                <a:ea typeface="黑体" panose="02010609060101010101" pitchFamily="49" charset="-122"/>
              </a:rPr>
              <a:t>[2013</a:t>
            </a:r>
            <a:r>
              <a:rPr lang="zh-CN" altLang="en-US" sz="2800" b="0" dirty="0" smtClean="0">
                <a:latin typeface="黑体" panose="02010609060101010101" pitchFamily="49" charset="-122"/>
                <a:ea typeface="黑体" panose="02010609060101010101" pitchFamily="49" charset="-122"/>
              </a:rPr>
              <a:t>年考研题</a:t>
            </a:r>
            <a:r>
              <a:rPr lang="en-US" altLang="zh-CN" sz="2800" b="0" dirty="0" smtClean="0">
                <a:latin typeface="黑体" panose="02010609060101010101" pitchFamily="49" charset="-122"/>
                <a:ea typeface="黑体" panose="02010609060101010101" pitchFamily="49" charset="-122"/>
              </a:rPr>
              <a:t>] </a:t>
            </a:r>
            <a:r>
              <a:rPr lang="zh-CN" altLang="zh-CN" sz="2800" b="0" dirty="0" smtClean="0">
                <a:latin typeface="黑体" panose="02010609060101010101" pitchFamily="49" charset="-122"/>
                <a:ea typeface="黑体" panose="02010609060101010101" pitchFamily="49" charset="-122"/>
              </a:rPr>
              <a:t>假设</a:t>
            </a:r>
            <a:r>
              <a:rPr lang="zh-CN" altLang="zh-CN" sz="2800" b="0" dirty="0">
                <a:latin typeface="黑体" panose="02010609060101010101" pitchFamily="49" charset="-122"/>
                <a:ea typeface="黑体" panose="02010609060101010101" pitchFamily="49" charset="-122"/>
              </a:rPr>
              <a:t>变址寄存器</a:t>
            </a:r>
            <a:r>
              <a:rPr lang="en-US" altLang="zh-CN" sz="2800" b="0" dirty="0">
                <a:latin typeface="黑体" panose="02010609060101010101" pitchFamily="49" charset="-122"/>
                <a:ea typeface="黑体" panose="02010609060101010101" pitchFamily="49" charset="-122"/>
              </a:rPr>
              <a:t>R</a:t>
            </a:r>
            <a:r>
              <a:rPr lang="zh-CN" altLang="zh-CN" sz="2800" b="0" dirty="0">
                <a:latin typeface="黑体" panose="02010609060101010101" pitchFamily="49" charset="-122"/>
                <a:ea typeface="黑体" panose="02010609060101010101" pitchFamily="49" charset="-122"/>
              </a:rPr>
              <a:t>的内容为</a:t>
            </a:r>
            <a:r>
              <a:rPr lang="en-US" altLang="zh-CN" sz="2800" b="0" dirty="0">
                <a:latin typeface="黑体" panose="02010609060101010101" pitchFamily="49" charset="-122"/>
                <a:ea typeface="黑体" panose="02010609060101010101" pitchFamily="49" charset="-122"/>
              </a:rPr>
              <a:t>1000H</a:t>
            </a:r>
            <a:r>
              <a:rPr lang="zh-CN" altLang="zh-CN" sz="2800" b="0" dirty="0">
                <a:latin typeface="黑体" panose="02010609060101010101" pitchFamily="49" charset="-122"/>
                <a:ea typeface="黑体" panose="02010609060101010101" pitchFamily="49" charset="-122"/>
              </a:rPr>
              <a:t>，指令中的形式地址为</a:t>
            </a:r>
            <a:r>
              <a:rPr lang="en-US" altLang="zh-CN" sz="2800" b="0" dirty="0" smtClean="0">
                <a:latin typeface="黑体" panose="02010609060101010101" pitchFamily="49" charset="-122"/>
                <a:ea typeface="黑体" panose="02010609060101010101" pitchFamily="49" charset="-122"/>
              </a:rPr>
              <a:t>2000H</a:t>
            </a:r>
            <a:r>
              <a:rPr lang="zh-CN" altLang="zh-CN" sz="2800" b="0" dirty="0">
                <a:latin typeface="黑体" panose="02010609060101010101" pitchFamily="49" charset="-122"/>
                <a:ea typeface="黑体" panose="02010609060101010101" pitchFamily="49" charset="-122"/>
              </a:rPr>
              <a:t>；地址</a:t>
            </a:r>
            <a:r>
              <a:rPr lang="en-US" altLang="zh-CN" sz="2800" b="0" dirty="0">
                <a:latin typeface="黑体" panose="02010609060101010101" pitchFamily="49" charset="-122"/>
                <a:ea typeface="黑体" panose="02010609060101010101" pitchFamily="49" charset="-122"/>
              </a:rPr>
              <a:t>1000H</a:t>
            </a:r>
            <a:r>
              <a:rPr lang="zh-CN" altLang="zh-CN" sz="2800" b="0" dirty="0">
                <a:latin typeface="黑体" panose="02010609060101010101" pitchFamily="49" charset="-122"/>
                <a:ea typeface="黑体" panose="02010609060101010101" pitchFamily="49" charset="-122"/>
              </a:rPr>
              <a:t>中的内容为</a:t>
            </a:r>
            <a:r>
              <a:rPr lang="en-US" altLang="zh-CN" sz="2800" b="0" dirty="0">
                <a:latin typeface="黑体" panose="02010609060101010101" pitchFamily="49" charset="-122"/>
                <a:ea typeface="黑体" panose="02010609060101010101" pitchFamily="49" charset="-122"/>
              </a:rPr>
              <a:t>2000H</a:t>
            </a:r>
            <a:r>
              <a:rPr lang="zh-CN" altLang="zh-CN" sz="2800" b="0" dirty="0">
                <a:latin typeface="黑体" panose="02010609060101010101" pitchFamily="49" charset="-122"/>
                <a:ea typeface="黑体" panose="02010609060101010101" pitchFamily="49" charset="-122"/>
              </a:rPr>
              <a:t>，地址</a:t>
            </a:r>
            <a:r>
              <a:rPr lang="en-US" altLang="zh-CN" sz="2800" b="0" dirty="0">
                <a:latin typeface="黑体" panose="02010609060101010101" pitchFamily="49" charset="-122"/>
                <a:ea typeface="黑体" panose="02010609060101010101" pitchFamily="49" charset="-122"/>
              </a:rPr>
              <a:t>2000H</a:t>
            </a:r>
            <a:r>
              <a:rPr lang="zh-CN" altLang="zh-CN" sz="2800" b="0" dirty="0">
                <a:latin typeface="黑体" panose="02010609060101010101" pitchFamily="49" charset="-122"/>
                <a:ea typeface="黑体" panose="02010609060101010101" pitchFamily="49" charset="-122"/>
              </a:rPr>
              <a:t>中的内容为</a:t>
            </a:r>
            <a:r>
              <a:rPr lang="en-US" altLang="zh-CN" sz="2800" b="0" dirty="0">
                <a:latin typeface="黑体" panose="02010609060101010101" pitchFamily="49" charset="-122"/>
                <a:ea typeface="黑体" panose="02010609060101010101" pitchFamily="49" charset="-122"/>
              </a:rPr>
              <a:t>3000H</a:t>
            </a:r>
            <a:r>
              <a:rPr lang="zh-CN" altLang="zh-CN" sz="2800" b="0" dirty="0">
                <a:latin typeface="黑体" panose="02010609060101010101" pitchFamily="49" charset="-122"/>
                <a:ea typeface="黑体" panose="02010609060101010101" pitchFamily="49" charset="-122"/>
              </a:rPr>
              <a:t>，地址</a:t>
            </a:r>
            <a:r>
              <a:rPr lang="en-US" altLang="zh-CN" sz="2800" b="0" dirty="0" smtClean="0">
                <a:latin typeface="黑体" panose="02010609060101010101" pitchFamily="49" charset="-122"/>
                <a:ea typeface="黑体" panose="02010609060101010101" pitchFamily="49" charset="-122"/>
              </a:rPr>
              <a:t>3000H</a:t>
            </a:r>
            <a:r>
              <a:rPr lang="zh-CN" altLang="zh-CN" sz="2800" b="0" dirty="0">
                <a:latin typeface="黑体" panose="02010609060101010101" pitchFamily="49" charset="-122"/>
                <a:ea typeface="黑体" panose="02010609060101010101" pitchFamily="49" charset="-122"/>
              </a:rPr>
              <a:t>中的内容为</a:t>
            </a:r>
            <a:r>
              <a:rPr lang="en-US" altLang="zh-CN" sz="2800" b="0" dirty="0">
                <a:latin typeface="黑体" panose="02010609060101010101" pitchFamily="49" charset="-122"/>
                <a:ea typeface="黑体" panose="02010609060101010101" pitchFamily="49" charset="-122"/>
              </a:rPr>
              <a:t>4000H</a:t>
            </a:r>
            <a:r>
              <a:rPr lang="zh-CN" altLang="zh-CN" sz="2800" b="0" dirty="0">
                <a:latin typeface="黑体" panose="02010609060101010101" pitchFamily="49" charset="-122"/>
                <a:ea typeface="黑体" panose="02010609060101010101" pitchFamily="49" charset="-122"/>
              </a:rPr>
              <a:t>，则变址寻址方式下访问到的操作数是 </a:t>
            </a:r>
            <a:endParaRPr lang="en-US" altLang="zh-CN" sz="2800" b="0" dirty="0" smtClean="0">
              <a:latin typeface="黑体" panose="02010609060101010101" pitchFamily="49" charset="-122"/>
              <a:ea typeface="黑体" panose="02010609060101010101" pitchFamily="49" charset="-122"/>
            </a:endParaRPr>
          </a:p>
          <a:p>
            <a:pPr marL="0" indent="0">
              <a:buNone/>
            </a:pPr>
            <a:r>
              <a:rPr lang="en-US" altLang="zh-CN" sz="2800" b="0" dirty="0" smtClean="0">
                <a:latin typeface="黑体" panose="02010609060101010101" pitchFamily="49" charset="-122"/>
                <a:ea typeface="黑体" panose="02010609060101010101" pitchFamily="49" charset="-122"/>
              </a:rPr>
              <a:t>     	A</a:t>
            </a:r>
            <a:r>
              <a:rPr lang="en-US" altLang="zh-CN" sz="2800" b="0" dirty="0">
                <a:latin typeface="黑体" panose="02010609060101010101" pitchFamily="49" charset="-122"/>
                <a:ea typeface="黑体" panose="02010609060101010101" pitchFamily="49" charset="-122"/>
              </a:rPr>
              <a:t>. 1000H        </a:t>
            </a:r>
            <a:r>
              <a:rPr lang="en-US" altLang="zh-CN" sz="2800" b="0" dirty="0" smtClean="0">
                <a:latin typeface="黑体" panose="02010609060101010101" pitchFamily="49" charset="-122"/>
                <a:ea typeface="黑体" panose="02010609060101010101" pitchFamily="49" charset="-122"/>
              </a:rPr>
              <a:t>	B</a:t>
            </a:r>
            <a:r>
              <a:rPr lang="en-US" altLang="zh-CN" sz="2800" b="0" dirty="0">
                <a:latin typeface="黑体" panose="02010609060101010101" pitchFamily="49" charset="-122"/>
                <a:ea typeface="黑体" panose="02010609060101010101" pitchFamily="49" charset="-122"/>
              </a:rPr>
              <a:t>. 2000H          </a:t>
            </a:r>
            <a:endParaRPr lang="en-US" altLang="zh-CN" sz="2800" b="0" dirty="0" smtClean="0">
              <a:latin typeface="黑体" panose="02010609060101010101" pitchFamily="49" charset="-122"/>
              <a:ea typeface="黑体" panose="02010609060101010101" pitchFamily="49" charset="-122"/>
            </a:endParaRPr>
          </a:p>
          <a:p>
            <a:pPr marL="0" indent="0">
              <a:buNone/>
            </a:pPr>
            <a:r>
              <a:rPr lang="en-US" altLang="zh-CN" sz="2800" b="0" dirty="0" smtClean="0">
                <a:latin typeface="黑体" panose="02010609060101010101" pitchFamily="49" charset="-122"/>
                <a:ea typeface="黑体" panose="02010609060101010101" pitchFamily="49" charset="-122"/>
              </a:rPr>
              <a:t>	C</a:t>
            </a:r>
            <a:r>
              <a:rPr lang="en-US" altLang="zh-CN" sz="2800" b="0" dirty="0">
                <a:latin typeface="黑体" panose="02010609060101010101" pitchFamily="49" charset="-122"/>
                <a:ea typeface="黑体" panose="02010609060101010101" pitchFamily="49" charset="-122"/>
              </a:rPr>
              <a:t>. 3000H       </a:t>
            </a:r>
            <a:r>
              <a:rPr lang="en-US" altLang="zh-CN" sz="2800" b="0" dirty="0" smtClean="0">
                <a:latin typeface="黑体" panose="02010609060101010101" pitchFamily="49" charset="-122"/>
                <a:ea typeface="黑体" panose="02010609060101010101" pitchFamily="49" charset="-122"/>
              </a:rPr>
              <a:t>		D</a:t>
            </a:r>
            <a:r>
              <a:rPr lang="en-US" altLang="zh-CN" sz="2800" b="0" dirty="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4000H</a:t>
            </a:r>
            <a:endParaRPr lang="zh-CN" altLang="en-US" sz="2800" b="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416964227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知识点：变址寻址</a:t>
            </a:r>
            <a:endParaRPr lang="zh-CN" altLang="en-US" dirty="0"/>
          </a:p>
        </p:txBody>
      </p:sp>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t="2882" b="31375"/>
          <a:stretch/>
        </p:blipFill>
        <p:spPr>
          <a:xfrm>
            <a:off x="488889" y="1447800"/>
            <a:ext cx="8450529" cy="1737728"/>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8800" y="3185528"/>
            <a:ext cx="6442520" cy="3505200"/>
          </a:xfrm>
          <a:prstGeom prst="rect">
            <a:avLst/>
          </a:prstGeom>
        </p:spPr>
      </p:pic>
    </p:spTree>
    <p:extLst>
      <p:ext uri="{BB962C8B-B14F-4D97-AF65-F5344CB8AC3E}">
        <p14:creationId xmlns:p14="http://schemas.microsoft.com/office/powerpoint/2010/main" val="75365877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知识点：基址寻址</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370" y="1423972"/>
            <a:ext cx="8148200" cy="2614628"/>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000" y="3962400"/>
            <a:ext cx="5105400" cy="2584388"/>
          </a:xfrm>
          <a:prstGeom prst="rect">
            <a:avLst/>
          </a:prstGeom>
        </p:spPr>
      </p:pic>
    </p:spTree>
    <p:extLst>
      <p:ext uri="{BB962C8B-B14F-4D97-AF65-F5344CB8AC3E}">
        <p14:creationId xmlns:p14="http://schemas.microsoft.com/office/powerpoint/2010/main" val="229601313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习题解答</a:t>
            </a:r>
            <a:endParaRPr lang="zh-CN" altLang="en-US" dirty="0"/>
          </a:p>
        </p:txBody>
      </p:sp>
      <p:pic>
        <p:nvPicPr>
          <p:cNvPr id="4" name="图片 3"/>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752601"/>
            <a:ext cx="6629400" cy="3276600"/>
          </a:xfrm>
          <a:prstGeom prst="rect">
            <a:avLst/>
          </a:prstGeom>
          <a:noFill/>
          <a:ln>
            <a:noFill/>
          </a:ln>
        </p:spPr>
      </p:pic>
    </p:spTree>
    <p:extLst>
      <p:ext uri="{BB962C8B-B14F-4D97-AF65-F5344CB8AC3E}">
        <p14:creationId xmlns:p14="http://schemas.microsoft.com/office/powerpoint/2010/main" val="8006806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6875" y="609600"/>
            <a:ext cx="8137525" cy="5724525"/>
          </a:xfrm>
        </p:spPr>
        <p:txBody>
          <a:bodyPr/>
          <a:lstStyle/>
          <a:p>
            <a:r>
              <a:rPr lang="en-US" altLang="zh-CN" sz="2800" b="0" dirty="0" smtClean="0">
                <a:latin typeface="黑体" panose="02010609060101010101" pitchFamily="49" charset="-122"/>
                <a:ea typeface="黑体" panose="02010609060101010101" pitchFamily="49" charset="-122"/>
              </a:rPr>
              <a:t>[2014</a:t>
            </a:r>
            <a:r>
              <a:rPr lang="zh-CN" altLang="en-US" sz="2800" b="0" dirty="0" smtClean="0">
                <a:latin typeface="黑体" panose="02010609060101010101" pitchFamily="49" charset="-122"/>
                <a:ea typeface="黑体" panose="02010609060101010101" pitchFamily="49" charset="-122"/>
              </a:rPr>
              <a:t>年考研题</a:t>
            </a:r>
            <a:r>
              <a:rPr lang="en-US" altLang="zh-CN" sz="2800" b="0" dirty="0" smtClean="0">
                <a:latin typeface="黑体" panose="02010609060101010101" pitchFamily="49" charset="-122"/>
                <a:ea typeface="黑体" panose="02010609060101010101" pitchFamily="49" charset="-122"/>
              </a:rPr>
              <a:t>]</a:t>
            </a:r>
            <a:r>
              <a:rPr lang="zh-CN" altLang="zh-CN" sz="2800" b="0" dirty="0" smtClean="0">
                <a:latin typeface="黑体" panose="02010609060101010101" pitchFamily="49" charset="-122"/>
                <a:ea typeface="黑体" panose="02010609060101010101" pitchFamily="49" charset="-122"/>
              </a:rPr>
              <a:t>某</a:t>
            </a:r>
            <a:r>
              <a:rPr lang="zh-CN" altLang="zh-CN" sz="2800" b="0" dirty="0">
                <a:latin typeface="黑体" panose="02010609060101010101" pitchFamily="49" charset="-122"/>
                <a:ea typeface="黑体" panose="02010609060101010101" pitchFamily="49" charset="-122"/>
              </a:rPr>
              <a:t>计算机</a:t>
            </a:r>
            <a:r>
              <a:rPr lang="zh-CN" altLang="zh-CN" sz="2800" b="0" dirty="0" smtClean="0">
                <a:latin typeface="黑体" panose="02010609060101010101" pitchFamily="49" charset="-122"/>
                <a:ea typeface="黑体" panose="02010609060101010101" pitchFamily="49" charset="-122"/>
              </a:rPr>
              <a:t>有</a:t>
            </a:r>
            <a:r>
              <a:rPr lang="en-US" altLang="zh-CN" sz="2800" b="0" dirty="0" smtClean="0">
                <a:latin typeface="黑体" panose="02010609060101010101" pitchFamily="49" charset="-122"/>
                <a:ea typeface="黑体" panose="02010609060101010101" pitchFamily="49" charset="-122"/>
              </a:rPr>
              <a:t>16</a:t>
            </a:r>
            <a:r>
              <a:rPr lang="zh-CN" altLang="zh-CN" sz="2800" b="0" dirty="0" smtClean="0">
                <a:latin typeface="黑体" panose="02010609060101010101" pitchFamily="49" charset="-122"/>
                <a:ea typeface="黑体" panose="02010609060101010101" pitchFamily="49" charset="-122"/>
              </a:rPr>
              <a:t>个</a:t>
            </a:r>
            <a:r>
              <a:rPr lang="zh-CN" altLang="zh-CN" sz="2800" b="0" dirty="0">
                <a:latin typeface="黑体" panose="02010609060101010101" pitchFamily="49" charset="-122"/>
                <a:ea typeface="黑体" panose="02010609060101010101" pitchFamily="49" charset="-122"/>
              </a:rPr>
              <a:t>通用寄存器，</a:t>
            </a:r>
            <a:r>
              <a:rPr lang="zh-CN" altLang="zh-CN" sz="2800" b="0" dirty="0" smtClean="0">
                <a:latin typeface="黑体" panose="02010609060101010101" pitchFamily="49" charset="-122"/>
                <a:ea typeface="黑体" panose="02010609060101010101" pitchFamily="49" charset="-122"/>
              </a:rPr>
              <a:t>采用</a:t>
            </a:r>
            <a:r>
              <a:rPr lang="en-US" altLang="zh-CN" sz="2800" b="0" dirty="0" smtClean="0">
                <a:latin typeface="黑体" panose="02010609060101010101" pitchFamily="49" charset="-122"/>
                <a:ea typeface="黑体" panose="02010609060101010101" pitchFamily="49" charset="-122"/>
              </a:rPr>
              <a:t>32</a:t>
            </a:r>
            <a:r>
              <a:rPr lang="zh-CN" altLang="zh-CN" sz="2800" b="0" dirty="0" smtClean="0">
                <a:latin typeface="黑体" panose="02010609060101010101" pitchFamily="49" charset="-122"/>
                <a:ea typeface="黑体" panose="02010609060101010101" pitchFamily="49" charset="-122"/>
              </a:rPr>
              <a:t>位</a:t>
            </a:r>
            <a:r>
              <a:rPr lang="zh-CN" altLang="zh-CN" sz="2800" b="0" dirty="0">
                <a:latin typeface="黑体" panose="02010609060101010101" pitchFamily="49" charset="-122"/>
                <a:ea typeface="黑体" panose="02010609060101010101" pitchFamily="49" charset="-122"/>
              </a:rPr>
              <a:t>定长指令字，操作码字段（含寻址方式位</a:t>
            </a:r>
            <a:r>
              <a:rPr lang="zh-CN" altLang="zh-CN" sz="2800" b="0" dirty="0" smtClean="0">
                <a:latin typeface="黑体" panose="02010609060101010101" pitchFamily="49" charset="-122"/>
                <a:ea typeface="黑体" panose="02010609060101010101" pitchFamily="49" charset="-122"/>
              </a:rPr>
              <a:t>）为</a:t>
            </a:r>
            <a:r>
              <a:rPr lang="en-US" altLang="zh-CN" sz="2800" b="0" dirty="0" smtClean="0">
                <a:latin typeface="黑体" panose="02010609060101010101" pitchFamily="49" charset="-122"/>
                <a:ea typeface="黑体" panose="02010609060101010101" pitchFamily="49" charset="-122"/>
              </a:rPr>
              <a:t>8</a:t>
            </a:r>
            <a:r>
              <a:rPr lang="zh-CN" altLang="zh-CN" sz="2800" b="0" dirty="0" smtClean="0">
                <a:latin typeface="黑体" panose="02010609060101010101" pitchFamily="49" charset="-122"/>
                <a:ea typeface="黑体" panose="02010609060101010101" pitchFamily="49" charset="-122"/>
              </a:rPr>
              <a:t>位</a:t>
            </a:r>
            <a:r>
              <a:rPr lang="zh-CN" altLang="zh-CN" sz="2800" b="0" dirty="0">
                <a:latin typeface="黑体" panose="02010609060101010101" pitchFamily="49" charset="-122"/>
                <a:ea typeface="黑体" panose="02010609060101010101" pitchFamily="49" charset="-122"/>
              </a:rPr>
              <a:t>，</a:t>
            </a:r>
            <a:r>
              <a:rPr lang="en-US" altLang="zh-CN" sz="2800" b="0" dirty="0" smtClean="0">
                <a:latin typeface="黑体" panose="02010609060101010101" pitchFamily="49" charset="-122"/>
                <a:ea typeface="黑体" panose="02010609060101010101" pitchFamily="49" charset="-122"/>
              </a:rPr>
              <a:t>Store</a:t>
            </a:r>
            <a:r>
              <a:rPr lang="zh-CN" altLang="zh-CN" sz="2800" b="0" dirty="0" smtClean="0">
                <a:latin typeface="黑体" panose="02010609060101010101" pitchFamily="49" charset="-122"/>
                <a:ea typeface="黑体" panose="02010609060101010101" pitchFamily="49" charset="-122"/>
              </a:rPr>
              <a:t>指令</a:t>
            </a:r>
            <a:r>
              <a:rPr lang="zh-CN" altLang="zh-CN" sz="2800" b="0" dirty="0">
                <a:latin typeface="黑体" panose="02010609060101010101" pitchFamily="49" charset="-122"/>
                <a:ea typeface="黑体" panose="02010609060101010101" pitchFamily="49" charset="-122"/>
              </a:rPr>
              <a:t>的源操作数和目的操作数分别采用寄存器直接寻址和基址寻址方式。若 基址寄存器可使用任一通用寄存器，且偏移量用补码表示，</a:t>
            </a:r>
            <a:r>
              <a:rPr lang="zh-CN" altLang="zh-CN" sz="2800" b="0" dirty="0" smtClean="0">
                <a:latin typeface="黑体" panose="02010609060101010101" pitchFamily="49" charset="-122"/>
                <a:ea typeface="黑体" panose="02010609060101010101" pitchFamily="49" charset="-122"/>
              </a:rPr>
              <a:t>则</a:t>
            </a:r>
            <a:r>
              <a:rPr lang="en-US" altLang="zh-CN" sz="2800" b="0" dirty="0" smtClean="0">
                <a:latin typeface="黑体" panose="02010609060101010101" pitchFamily="49" charset="-122"/>
                <a:ea typeface="黑体" panose="02010609060101010101" pitchFamily="49" charset="-122"/>
              </a:rPr>
              <a:t>Store</a:t>
            </a:r>
            <a:r>
              <a:rPr lang="zh-CN" altLang="zh-CN" sz="2800" b="0" dirty="0" smtClean="0">
                <a:latin typeface="黑体" panose="02010609060101010101" pitchFamily="49" charset="-122"/>
                <a:ea typeface="黑体" panose="02010609060101010101" pitchFamily="49" charset="-122"/>
              </a:rPr>
              <a:t>指令</a:t>
            </a:r>
            <a:r>
              <a:rPr lang="zh-CN" altLang="zh-CN" sz="2800" b="0" dirty="0">
                <a:latin typeface="黑体" panose="02010609060101010101" pitchFamily="49" charset="-122"/>
                <a:ea typeface="黑体" panose="02010609060101010101" pitchFamily="49" charset="-122"/>
              </a:rPr>
              <a:t>中偏移量的取值</a:t>
            </a:r>
            <a:r>
              <a:rPr lang="zh-CN" altLang="zh-CN" sz="2800" b="0" dirty="0" smtClean="0">
                <a:latin typeface="黑体" panose="02010609060101010101" pitchFamily="49" charset="-122"/>
                <a:ea typeface="黑体" panose="02010609060101010101" pitchFamily="49" charset="-122"/>
              </a:rPr>
              <a:t>范围是</a:t>
            </a:r>
            <a:endParaRPr lang="en-US" altLang="zh-CN" sz="2800" b="0" dirty="0">
              <a:latin typeface="黑体" panose="02010609060101010101" pitchFamily="49" charset="-122"/>
              <a:ea typeface="黑体" panose="02010609060101010101" pitchFamily="49" charset="-122"/>
            </a:endParaRPr>
          </a:p>
          <a:p>
            <a:pPr marL="0" indent="0">
              <a:buNone/>
            </a:pPr>
            <a:r>
              <a:rPr lang="en-US" altLang="zh-CN" sz="2800" b="0" dirty="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 A -</a:t>
            </a:r>
            <a:r>
              <a:rPr lang="en-US" altLang="zh-CN" sz="2800" b="0" dirty="0">
                <a:latin typeface="黑体" panose="02010609060101010101" pitchFamily="49" charset="-122"/>
                <a:ea typeface="黑体" panose="02010609060101010101" pitchFamily="49" charset="-122"/>
              </a:rPr>
              <a:t>32768 ~ +32767	</a:t>
            </a:r>
            <a:r>
              <a:rPr lang="en-US" altLang="zh-CN" sz="2800" b="0" dirty="0" smtClean="0">
                <a:latin typeface="黑体" panose="02010609060101010101" pitchFamily="49" charset="-122"/>
                <a:ea typeface="黑体" panose="02010609060101010101" pitchFamily="49" charset="-122"/>
              </a:rPr>
              <a:t>	B -</a:t>
            </a:r>
            <a:r>
              <a:rPr lang="en-US" altLang="zh-CN" sz="2800" b="0" dirty="0">
                <a:latin typeface="黑体" panose="02010609060101010101" pitchFamily="49" charset="-122"/>
                <a:ea typeface="黑体" panose="02010609060101010101" pitchFamily="49" charset="-122"/>
              </a:rPr>
              <a:t>32767 ~ +32768</a:t>
            </a:r>
            <a:endParaRPr lang="zh-CN" altLang="zh-CN" sz="2800" b="0" dirty="0">
              <a:latin typeface="黑体" panose="02010609060101010101" pitchFamily="49" charset="-122"/>
              <a:ea typeface="黑体" panose="02010609060101010101" pitchFamily="49" charset="-122"/>
            </a:endParaRPr>
          </a:p>
          <a:p>
            <a:pPr marL="0" indent="0">
              <a:buNone/>
            </a:pPr>
            <a:r>
              <a:rPr lang="en-US" altLang="zh-CN" sz="2800" b="0" dirty="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 C -</a:t>
            </a:r>
            <a:r>
              <a:rPr lang="en-US" altLang="zh-CN" sz="2800" b="0" dirty="0">
                <a:latin typeface="黑体" panose="02010609060101010101" pitchFamily="49" charset="-122"/>
                <a:ea typeface="黑体" panose="02010609060101010101" pitchFamily="49" charset="-122"/>
              </a:rPr>
              <a:t>65536 ~ +65535	</a:t>
            </a:r>
            <a:r>
              <a:rPr lang="en-US" altLang="zh-CN" sz="2800" b="0" dirty="0" smtClean="0">
                <a:latin typeface="黑体" panose="02010609060101010101" pitchFamily="49" charset="-122"/>
                <a:ea typeface="黑体" panose="02010609060101010101" pitchFamily="49" charset="-122"/>
              </a:rPr>
              <a:t>	D -</a:t>
            </a:r>
            <a:r>
              <a:rPr lang="en-US" altLang="zh-CN" sz="2800" b="0" dirty="0">
                <a:latin typeface="黑体" panose="02010609060101010101" pitchFamily="49" charset="-122"/>
                <a:ea typeface="黑体" panose="02010609060101010101" pitchFamily="49" charset="-122"/>
              </a:rPr>
              <a:t>65535 ~ +65536</a:t>
            </a:r>
            <a:endParaRPr lang="zh-CN" altLang="zh-CN" sz="2800" b="0" dirty="0">
              <a:latin typeface="黑体" panose="02010609060101010101" pitchFamily="49" charset="-122"/>
              <a:ea typeface="黑体" panose="02010609060101010101" pitchFamily="49" charset="-122"/>
            </a:endParaRPr>
          </a:p>
          <a:p>
            <a:endParaRPr lang="zh-CN" altLang="zh-CN" sz="2800" b="0" dirty="0">
              <a:latin typeface="黑体" panose="02010609060101010101" pitchFamily="49" charset="-122"/>
              <a:ea typeface="黑体" panose="02010609060101010101" pitchFamily="49" charset="-122"/>
            </a:endParaRPr>
          </a:p>
          <a:p>
            <a:endParaRPr lang="zh-CN" altLang="en-US" sz="2800" b="0" dirty="0">
              <a:latin typeface="黑体" panose="02010609060101010101" pitchFamily="49" charset="-122"/>
              <a:ea typeface="黑体" panose="02010609060101010101" pitchFamily="49" charset="-122"/>
            </a:endParaRPr>
          </a:p>
        </p:txBody>
      </p:sp>
      <p:sp>
        <p:nvSpPr>
          <p:cNvPr id="4" name="矩形 3"/>
          <p:cNvSpPr/>
          <p:nvPr/>
        </p:nvSpPr>
        <p:spPr bwMode="auto">
          <a:xfrm>
            <a:off x="838200" y="5105400"/>
            <a:ext cx="7239000" cy="914400"/>
          </a:xfrm>
          <a:prstGeom prst="rect">
            <a:avLst/>
          </a:prstGeom>
          <a:noFill/>
          <a:ln w="25400" cap="flat" cmpd="sng" algn="ctr">
            <a:solidFill>
              <a:srgbClr val="CC000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Narrow" pitchFamily="34" charset="0"/>
            </a:endParaRPr>
          </a:p>
        </p:txBody>
      </p:sp>
      <p:cxnSp>
        <p:nvCxnSpPr>
          <p:cNvPr id="6" name="直接连接符 5"/>
          <p:cNvCxnSpPr/>
          <p:nvPr/>
        </p:nvCxnSpPr>
        <p:spPr bwMode="auto">
          <a:xfrm>
            <a:off x="2362200" y="5105400"/>
            <a:ext cx="0" cy="914400"/>
          </a:xfrm>
          <a:prstGeom prst="line">
            <a:avLst/>
          </a:prstGeom>
          <a:noFill/>
          <a:ln w="25400" cap="flat" cmpd="sng" algn="ctr">
            <a:solidFill>
              <a:srgbClr val="CC0000"/>
            </a:solidFill>
            <a:prstDash val="solid"/>
            <a:round/>
            <a:headEnd type="none" w="med" len="med"/>
            <a:tailEnd type="none" w="med" len="med"/>
          </a:ln>
          <a:effectLst/>
        </p:spPr>
      </p:cxnSp>
      <p:cxnSp>
        <p:nvCxnSpPr>
          <p:cNvPr id="7" name="直接连接符 6"/>
          <p:cNvCxnSpPr/>
          <p:nvPr/>
        </p:nvCxnSpPr>
        <p:spPr bwMode="auto">
          <a:xfrm>
            <a:off x="3733800" y="5105400"/>
            <a:ext cx="0" cy="914400"/>
          </a:xfrm>
          <a:prstGeom prst="line">
            <a:avLst/>
          </a:prstGeom>
          <a:noFill/>
          <a:ln w="25400" cap="flat" cmpd="sng" algn="ctr">
            <a:solidFill>
              <a:srgbClr val="CC0000"/>
            </a:solidFill>
            <a:prstDash val="solid"/>
            <a:round/>
            <a:headEnd type="none" w="med" len="med"/>
            <a:tailEnd type="none" w="med" len="med"/>
          </a:ln>
          <a:effectLst/>
        </p:spPr>
      </p:cxnSp>
      <p:cxnSp>
        <p:nvCxnSpPr>
          <p:cNvPr id="8" name="直接连接符 7"/>
          <p:cNvCxnSpPr/>
          <p:nvPr/>
        </p:nvCxnSpPr>
        <p:spPr bwMode="auto">
          <a:xfrm>
            <a:off x="5105400" y="5105400"/>
            <a:ext cx="0" cy="914400"/>
          </a:xfrm>
          <a:prstGeom prst="line">
            <a:avLst/>
          </a:prstGeom>
          <a:noFill/>
          <a:ln w="25400" cap="flat" cmpd="sng" algn="ctr">
            <a:solidFill>
              <a:srgbClr val="CC0000"/>
            </a:solidFill>
            <a:prstDash val="solid"/>
            <a:round/>
            <a:headEnd type="none" w="med" len="med"/>
            <a:tailEnd type="none" w="med" len="med"/>
          </a:ln>
          <a:effectLst/>
        </p:spPr>
      </p:cxnSp>
    </p:spTree>
    <p:extLst>
      <p:ext uri="{BB962C8B-B14F-4D97-AF65-F5344CB8AC3E}">
        <p14:creationId xmlns:p14="http://schemas.microsoft.com/office/powerpoint/2010/main" val="212362354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6875" y="609600"/>
            <a:ext cx="8175625" cy="5724525"/>
          </a:xfrm>
        </p:spPr>
        <p:txBody>
          <a:bodyPr/>
          <a:lstStyle/>
          <a:p>
            <a:r>
              <a:rPr lang="en-US" altLang="zh-CN" sz="2800" b="0" dirty="0" smtClean="0">
                <a:latin typeface="黑体" panose="02010609060101010101" pitchFamily="49" charset="-122"/>
                <a:ea typeface="黑体" panose="02010609060101010101" pitchFamily="49" charset="-122"/>
              </a:rPr>
              <a:t>[2013</a:t>
            </a:r>
            <a:r>
              <a:rPr lang="zh-CN" altLang="en-US" sz="2800" b="0" dirty="0" smtClean="0">
                <a:latin typeface="黑体" panose="02010609060101010101" pitchFamily="49" charset="-122"/>
                <a:ea typeface="黑体" panose="02010609060101010101" pitchFamily="49" charset="-122"/>
              </a:rPr>
              <a:t>年考研题</a:t>
            </a:r>
            <a:r>
              <a:rPr lang="en-US" altLang="zh-CN" sz="2800" b="0" dirty="0" smtClean="0">
                <a:latin typeface="黑体" panose="02010609060101010101" pitchFamily="49" charset="-122"/>
                <a:ea typeface="黑体" panose="02010609060101010101" pitchFamily="49" charset="-122"/>
              </a:rPr>
              <a:t>] </a:t>
            </a:r>
            <a:r>
              <a:rPr lang="zh-CN" altLang="en-US" sz="2800" b="0" dirty="0" smtClean="0">
                <a:latin typeface="黑体" panose="02010609060101010101" pitchFamily="49" charset="-122"/>
                <a:ea typeface="黑体" panose="02010609060101010101" pitchFamily="49" charset="-122"/>
              </a:rPr>
              <a:t>某</a:t>
            </a:r>
            <a:r>
              <a:rPr lang="en-US" altLang="zh-CN" sz="2800" b="0" dirty="0">
                <a:latin typeface="黑体" panose="02010609060101010101" pitchFamily="49" charset="-122"/>
                <a:ea typeface="黑体" panose="02010609060101010101" pitchFamily="49" charset="-122"/>
              </a:rPr>
              <a:t>CPU</a:t>
            </a:r>
            <a:r>
              <a:rPr lang="zh-CN" altLang="en-US" sz="2800" b="0" dirty="0">
                <a:latin typeface="黑体" panose="02010609060101010101" pitchFamily="49" charset="-122"/>
                <a:ea typeface="黑体" panose="02010609060101010101" pitchFamily="49" charset="-122"/>
              </a:rPr>
              <a:t>主频为</a:t>
            </a:r>
            <a:r>
              <a:rPr lang="en-US" altLang="zh-CN" sz="2800" b="0" dirty="0" smtClean="0">
                <a:latin typeface="黑体" panose="02010609060101010101" pitchFamily="49" charset="-122"/>
                <a:ea typeface="黑体" panose="02010609060101010101" pitchFamily="49" charset="-122"/>
              </a:rPr>
              <a:t>1.03 GHz</a:t>
            </a:r>
            <a:r>
              <a:rPr lang="zh-CN" altLang="en-US" sz="2800" b="0" dirty="0">
                <a:latin typeface="黑体" panose="02010609060101010101" pitchFamily="49" charset="-122"/>
                <a:ea typeface="黑体" panose="02010609060101010101" pitchFamily="49" charset="-122"/>
              </a:rPr>
              <a:t>，采用</a:t>
            </a:r>
            <a:r>
              <a:rPr lang="en-US" altLang="zh-CN" sz="2800" b="0" dirty="0">
                <a:latin typeface="黑体" panose="02010609060101010101" pitchFamily="49" charset="-122"/>
                <a:ea typeface="黑体" panose="02010609060101010101" pitchFamily="49" charset="-122"/>
              </a:rPr>
              <a:t>4</a:t>
            </a:r>
            <a:r>
              <a:rPr lang="zh-CN" altLang="en-US" sz="2800" b="0" dirty="0">
                <a:latin typeface="黑体" panose="02010609060101010101" pitchFamily="49" charset="-122"/>
                <a:ea typeface="黑体" panose="02010609060101010101" pitchFamily="49" charset="-122"/>
              </a:rPr>
              <a:t>级指令流水线，每个流水段的执行需要</a:t>
            </a:r>
            <a:r>
              <a:rPr lang="en-US" altLang="zh-CN" sz="2800" b="0" dirty="0">
                <a:latin typeface="黑体" panose="02010609060101010101" pitchFamily="49" charset="-122"/>
                <a:ea typeface="黑体" panose="02010609060101010101" pitchFamily="49" charset="-122"/>
              </a:rPr>
              <a:t>1</a:t>
            </a:r>
            <a:r>
              <a:rPr lang="zh-CN" altLang="en-US" sz="2800" b="0" dirty="0">
                <a:latin typeface="黑体" panose="02010609060101010101" pitchFamily="49" charset="-122"/>
                <a:ea typeface="黑体" panose="02010609060101010101" pitchFamily="49" charset="-122"/>
              </a:rPr>
              <a:t>个时钟周期。假定</a:t>
            </a:r>
            <a:r>
              <a:rPr lang="en-US" altLang="zh-CN" sz="2800" b="0" dirty="0">
                <a:latin typeface="黑体" panose="02010609060101010101" pitchFamily="49" charset="-122"/>
                <a:ea typeface="黑体" panose="02010609060101010101" pitchFamily="49" charset="-122"/>
              </a:rPr>
              <a:t>CPU</a:t>
            </a:r>
            <a:r>
              <a:rPr lang="zh-CN" altLang="en-US" sz="2800" b="0" dirty="0">
                <a:latin typeface="黑体" panose="02010609060101010101" pitchFamily="49" charset="-122"/>
                <a:ea typeface="黑体" panose="02010609060101010101" pitchFamily="49" charset="-122"/>
              </a:rPr>
              <a:t>执行了</a:t>
            </a:r>
            <a:r>
              <a:rPr lang="en-US" altLang="zh-CN" sz="2800" b="0" dirty="0">
                <a:latin typeface="黑体" panose="02010609060101010101" pitchFamily="49" charset="-122"/>
                <a:ea typeface="黑体" panose="02010609060101010101" pitchFamily="49" charset="-122"/>
              </a:rPr>
              <a:t>100</a:t>
            </a:r>
            <a:r>
              <a:rPr lang="zh-CN" altLang="en-US" sz="2800" b="0" dirty="0">
                <a:latin typeface="黑体" panose="02010609060101010101" pitchFamily="49" charset="-122"/>
                <a:ea typeface="黑体" panose="02010609060101010101" pitchFamily="49" charset="-122"/>
              </a:rPr>
              <a:t>条指令，在其执行过程中，没有发生任何流水线阻塞，此时流水线的吞吐率</a:t>
            </a:r>
            <a:r>
              <a:rPr lang="zh-CN" altLang="en-US" sz="2800" b="0" dirty="0" smtClean="0">
                <a:latin typeface="黑体" panose="02010609060101010101" pitchFamily="49" charset="-122"/>
                <a:ea typeface="黑体" panose="02010609060101010101" pitchFamily="49" charset="-122"/>
              </a:rPr>
              <a:t>为：</a:t>
            </a:r>
            <a:endParaRPr lang="en-US" altLang="zh-CN" sz="2800" b="0" dirty="0" smtClean="0">
              <a:latin typeface="黑体" panose="02010609060101010101" pitchFamily="49" charset="-122"/>
              <a:ea typeface="黑体" panose="02010609060101010101" pitchFamily="49" charset="-122"/>
            </a:endParaRPr>
          </a:p>
          <a:p>
            <a:pPr marL="0" indent="0">
              <a:buNone/>
            </a:pPr>
            <a:endParaRPr lang="zh-CN" altLang="en-US" sz="2800" b="0" dirty="0">
              <a:latin typeface="黑体" panose="02010609060101010101" pitchFamily="49" charset="-122"/>
              <a:ea typeface="黑体" panose="02010609060101010101" pitchFamily="49" charset="-122"/>
            </a:endParaRPr>
          </a:p>
          <a:p>
            <a:pPr marL="0" indent="0">
              <a:buNone/>
            </a:pPr>
            <a:r>
              <a:rPr lang="en-US" altLang="zh-CN" sz="2800" b="0" dirty="0" smtClean="0">
                <a:latin typeface="黑体" panose="02010609060101010101" pitchFamily="49" charset="-122"/>
                <a:ea typeface="黑体" panose="02010609060101010101" pitchFamily="49" charset="-122"/>
              </a:rPr>
              <a:t>  A.0.25×109</a:t>
            </a:r>
            <a:r>
              <a:rPr lang="zh-CN" altLang="en-US" sz="2800" b="0" dirty="0">
                <a:latin typeface="黑体" panose="02010609060101010101" pitchFamily="49" charset="-122"/>
                <a:ea typeface="黑体" panose="02010609060101010101" pitchFamily="49" charset="-122"/>
              </a:rPr>
              <a:t>条指令</a:t>
            </a:r>
            <a:r>
              <a:rPr lang="en-US" altLang="zh-CN" sz="2800" b="0" dirty="0">
                <a:latin typeface="黑体" panose="02010609060101010101" pitchFamily="49" charset="-122"/>
                <a:ea typeface="黑体" panose="02010609060101010101" pitchFamily="49" charset="-122"/>
              </a:rPr>
              <a:t>/</a:t>
            </a:r>
            <a:r>
              <a:rPr lang="zh-CN" altLang="en-US" sz="2800" b="0" dirty="0">
                <a:latin typeface="黑体" panose="02010609060101010101" pitchFamily="49" charset="-122"/>
                <a:ea typeface="黑体" panose="02010609060101010101" pitchFamily="49" charset="-122"/>
              </a:rPr>
              <a:t>秒 </a:t>
            </a:r>
            <a:r>
              <a:rPr lang="zh-CN" altLang="en-US" sz="2800" b="0" dirty="0" smtClean="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B.0.97×109</a:t>
            </a:r>
            <a:r>
              <a:rPr lang="zh-CN" altLang="en-US" sz="2800" b="0" dirty="0">
                <a:latin typeface="黑体" panose="02010609060101010101" pitchFamily="49" charset="-122"/>
                <a:ea typeface="黑体" panose="02010609060101010101" pitchFamily="49" charset="-122"/>
              </a:rPr>
              <a:t>条指令</a:t>
            </a:r>
            <a:r>
              <a:rPr lang="en-US" altLang="zh-CN" sz="2800" b="0" dirty="0">
                <a:latin typeface="黑体" panose="02010609060101010101" pitchFamily="49" charset="-122"/>
                <a:ea typeface="黑体" panose="02010609060101010101" pitchFamily="49" charset="-122"/>
              </a:rPr>
              <a:t>/</a:t>
            </a:r>
            <a:r>
              <a:rPr lang="zh-CN" altLang="en-US" sz="2800" b="0" dirty="0">
                <a:latin typeface="黑体" panose="02010609060101010101" pitchFamily="49" charset="-122"/>
                <a:ea typeface="黑体" panose="02010609060101010101" pitchFamily="49" charset="-122"/>
              </a:rPr>
              <a:t>秒 </a:t>
            </a:r>
          </a:p>
          <a:p>
            <a:pPr marL="0" indent="0">
              <a:buNone/>
            </a:pPr>
            <a:r>
              <a:rPr lang="en-US" altLang="zh-CN" sz="2800" b="0" dirty="0" smtClean="0">
                <a:latin typeface="黑体" panose="02010609060101010101" pitchFamily="49" charset="-122"/>
                <a:ea typeface="黑体" panose="02010609060101010101" pitchFamily="49" charset="-122"/>
              </a:rPr>
              <a:t>  C.1.0×109</a:t>
            </a:r>
            <a:r>
              <a:rPr lang="zh-CN" altLang="en-US" sz="2800" b="0" dirty="0">
                <a:latin typeface="黑体" panose="02010609060101010101" pitchFamily="49" charset="-122"/>
                <a:ea typeface="黑体" panose="02010609060101010101" pitchFamily="49" charset="-122"/>
              </a:rPr>
              <a:t>条指令</a:t>
            </a:r>
            <a:r>
              <a:rPr lang="en-US" altLang="zh-CN" sz="2800" b="0" dirty="0">
                <a:latin typeface="黑体" panose="02010609060101010101" pitchFamily="49" charset="-122"/>
                <a:ea typeface="黑体" panose="02010609060101010101" pitchFamily="49" charset="-122"/>
              </a:rPr>
              <a:t>/</a:t>
            </a:r>
            <a:r>
              <a:rPr lang="zh-CN" altLang="en-US" sz="2800" b="0" dirty="0">
                <a:latin typeface="黑体" panose="02010609060101010101" pitchFamily="49" charset="-122"/>
                <a:ea typeface="黑体" panose="02010609060101010101" pitchFamily="49" charset="-122"/>
              </a:rPr>
              <a:t>秒   </a:t>
            </a:r>
            <a:r>
              <a:rPr lang="en-US" altLang="zh-CN" sz="2800" b="0" dirty="0" smtClean="0">
                <a:latin typeface="黑体" panose="02010609060101010101" pitchFamily="49" charset="-122"/>
                <a:ea typeface="黑体" panose="02010609060101010101" pitchFamily="49" charset="-122"/>
              </a:rPr>
              <a:t>D.1.03×109</a:t>
            </a:r>
            <a:r>
              <a:rPr lang="zh-CN" altLang="en-US" sz="2800" b="0" dirty="0">
                <a:latin typeface="黑体" panose="02010609060101010101" pitchFamily="49" charset="-122"/>
                <a:ea typeface="黑体" panose="02010609060101010101" pitchFamily="49" charset="-122"/>
              </a:rPr>
              <a:t>条指令</a:t>
            </a:r>
            <a:r>
              <a:rPr lang="en-US" altLang="zh-CN" sz="2800" b="0" dirty="0">
                <a:latin typeface="黑体" panose="02010609060101010101" pitchFamily="49" charset="-122"/>
                <a:ea typeface="黑体" panose="02010609060101010101" pitchFamily="49" charset="-122"/>
              </a:rPr>
              <a:t>/</a:t>
            </a:r>
            <a:r>
              <a:rPr lang="zh-CN" altLang="en-US" sz="2800" b="0" dirty="0">
                <a:latin typeface="黑体" panose="02010609060101010101" pitchFamily="49" charset="-122"/>
                <a:ea typeface="黑体" panose="02010609060101010101" pitchFamily="49" charset="-122"/>
              </a:rPr>
              <a:t>秒</a:t>
            </a:r>
          </a:p>
          <a:p>
            <a:endParaRPr lang="zh-CN" altLang="en-US" sz="2800" b="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28814910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知识点：流水</a:t>
            </a:r>
            <a:r>
              <a:rPr lang="en-US" altLang="zh-CN" dirty="0" smtClean="0"/>
              <a:t>CPU</a:t>
            </a:r>
            <a:endParaRPr lang="zh-CN" altLang="en-US" dirty="0"/>
          </a:p>
        </p:txBody>
      </p:sp>
      <p:sp>
        <p:nvSpPr>
          <p:cNvPr id="4" name="Rectangle 3"/>
          <p:cNvSpPr>
            <a:spLocks noGrp="1" noChangeArrowheads="1"/>
          </p:cNvSpPr>
          <p:nvPr>
            <p:ph idx="1"/>
          </p:nvPr>
        </p:nvSpPr>
        <p:spPr>
          <a:xfrm>
            <a:off x="396875" y="1362075"/>
            <a:ext cx="7896225" cy="4972050"/>
          </a:xfrm>
        </p:spPr>
        <p:txBody>
          <a:bodyPr/>
          <a:lstStyle/>
          <a:p>
            <a:pPr algn="just" eaLnBrk="1" hangingPunct="1"/>
            <a:r>
              <a:rPr lang="zh-CN" altLang="en-US" sz="3200" dirty="0" smtClean="0">
                <a:latin typeface="黑体" panose="02010609060101010101" pitchFamily="49" charset="-122"/>
                <a:ea typeface="黑体" panose="02010609060101010101" pitchFamily="49" charset="-122"/>
              </a:rPr>
              <a:t>一个具有</a:t>
            </a:r>
            <a:r>
              <a:rPr lang="en-US" altLang="zh-CN" sz="3200" dirty="0" smtClean="0">
                <a:latin typeface="黑体" panose="02010609060101010101" pitchFamily="49" charset="-122"/>
                <a:ea typeface="黑体" panose="02010609060101010101" pitchFamily="49" charset="-122"/>
                <a:cs typeface="Times New Roman" panose="02020603050405020304" pitchFamily="18" charset="0"/>
              </a:rPr>
              <a:t>k </a:t>
            </a:r>
            <a:r>
              <a:rPr lang="zh-CN" altLang="en-US" sz="3200" dirty="0" smtClean="0">
                <a:latin typeface="黑体" panose="02010609060101010101" pitchFamily="49" charset="-122"/>
                <a:ea typeface="黑体" panose="02010609060101010101" pitchFamily="49" charset="-122"/>
              </a:rPr>
              <a:t>级过程段的流水线处理</a:t>
            </a:r>
            <a:r>
              <a:rPr lang="zh-CN" altLang="en-US" sz="3200" dirty="0" smtClean="0">
                <a:latin typeface="黑体" panose="02010609060101010101" pitchFamily="49" charset="-122"/>
                <a:ea typeface="黑体" panose="02010609060101010101" pitchFamily="49" charset="-122"/>
                <a:cs typeface="Times New Roman" panose="02020603050405020304" pitchFamily="18" charset="0"/>
              </a:rPr>
              <a:t> </a:t>
            </a:r>
            <a:r>
              <a:rPr lang="en-US" altLang="zh-CN" sz="3200" dirty="0" smtClean="0">
                <a:latin typeface="黑体" panose="02010609060101010101" pitchFamily="49" charset="-122"/>
                <a:ea typeface="黑体" panose="02010609060101010101" pitchFamily="49" charset="-122"/>
                <a:cs typeface="Times New Roman" panose="02020603050405020304" pitchFamily="18" charset="0"/>
              </a:rPr>
              <a:t>n </a:t>
            </a:r>
            <a:r>
              <a:rPr lang="zh-CN" altLang="en-US" sz="3200" dirty="0" smtClean="0">
                <a:latin typeface="黑体" panose="02010609060101010101" pitchFamily="49" charset="-122"/>
                <a:ea typeface="黑体" panose="02010609060101010101" pitchFamily="49" charset="-122"/>
              </a:rPr>
              <a:t>个任务需要的时钟周期数为</a:t>
            </a:r>
            <a:r>
              <a:rPr lang="en-US" altLang="zh-CN" sz="3200" dirty="0" err="1" smtClean="0">
                <a:latin typeface="黑体" panose="02010609060101010101" pitchFamily="49" charset="-122"/>
                <a:ea typeface="黑体" panose="02010609060101010101" pitchFamily="49" charset="-122"/>
                <a:cs typeface="Times New Roman" panose="02020603050405020304" pitchFamily="18" charset="0"/>
              </a:rPr>
              <a:t>T</a:t>
            </a:r>
            <a:r>
              <a:rPr lang="en-US" altLang="zh-CN" sz="3200" baseline="-30000" dirty="0" err="1" smtClean="0">
                <a:latin typeface="黑体" panose="02010609060101010101" pitchFamily="49" charset="-122"/>
                <a:ea typeface="黑体" panose="02010609060101010101" pitchFamily="49" charset="-122"/>
                <a:cs typeface="Times New Roman" panose="02020603050405020304" pitchFamily="18" charset="0"/>
              </a:rPr>
              <a:t>k</a:t>
            </a:r>
            <a:r>
              <a:rPr lang="zh-CN" altLang="en-US" sz="3200" dirty="0" smtClean="0">
                <a:latin typeface="黑体" panose="02010609060101010101" pitchFamily="49" charset="-122"/>
                <a:ea typeface="黑体" panose="02010609060101010101" pitchFamily="49" charset="-122"/>
              </a:rPr>
              <a:t>＝</a:t>
            </a:r>
            <a:r>
              <a:rPr lang="en-US" altLang="zh-CN" sz="3200" dirty="0" smtClean="0">
                <a:latin typeface="黑体" panose="02010609060101010101" pitchFamily="49" charset="-122"/>
                <a:ea typeface="黑体" panose="02010609060101010101" pitchFamily="49" charset="-122"/>
                <a:cs typeface="Times New Roman" panose="02020603050405020304" pitchFamily="18" charset="0"/>
              </a:rPr>
              <a:t>k</a:t>
            </a:r>
            <a:r>
              <a:rPr lang="zh-CN" altLang="en-US" sz="3200" dirty="0" smtClean="0">
                <a:latin typeface="黑体" panose="02010609060101010101" pitchFamily="49" charset="-122"/>
                <a:ea typeface="黑体" panose="02010609060101010101" pitchFamily="49" charset="-122"/>
              </a:rPr>
              <a:t>＋</a:t>
            </a:r>
            <a:r>
              <a:rPr lang="en-US" altLang="zh-CN" sz="3200" dirty="0" smtClean="0">
                <a:latin typeface="黑体" panose="02010609060101010101" pitchFamily="49" charset="-122"/>
                <a:ea typeface="黑体" panose="02010609060101010101" pitchFamily="49" charset="-122"/>
                <a:cs typeface="Times New Roman" panose="02020603050405020304" pitchFamily="18" charset="0"/>
              </a:rPr>
              <a:t>(n</a:t>
            </a:r>
            <a:r>
              <a:rPr lang="zh-CN" altLang="en-US" sz="3200" dirty="0" smtClean="0">
                <a:latin typeface="黑体" panose="02010609060101010101" pitchFamily="49" charset="-122"/>
                <a:ea typeface="黑体" panose="02010609060101010101" pitchFamily="49" charset="-122"/>
              </a:rPr>
              <a:t>－</a:t>
            </a:r>
            <a:r>
              <a:rPr lang="en-US" altLang="zh-CN" sz="3200" dirty="0" smtClean="0">
                <a:latin typeface="黑体" panose="02010609060101010101" pitchFamily="49" charset="-122"/>
                <a:ea typeface="黑体" panose="02010609060101010101" pitchFamily="49" charset="-122"/>
                <a:cs typeface="Times New Roman" panose="02020603050405020304" pitchFamily="18" charset="0"/>
              </a:rPr>
              <a:t>1)</a:t>
            </a:r>
            <a:r>
              <a:rPr lang="zh-CN" altLang="en-US" sz="3200" dirty="0" smtClean="0">
                <a:latin typeface="黑体" panose="02010609060101010101" pitchFamily="49" charset="-122"/>
                <a:ea typeface="黑体" panose="02010609060101010101" pitchFamily="49" charset="-122"/>
              </a:rPr>
              <a:t>，</a:t>
            </a:r>
          </a:p>
          <a:p>
            <a:pPr lvl="1" algn="just" eaLnBrk="1" hangingPunct="1">
              <a:buFont typeface="Wingdings" panose="05000000000000000000" pitchFamily="2" charset="2"/>
              <a:buNone/>
            </a:pPr>
            <a:r>
              <a:rPr lang="zh-CN" altLang="en-US" sz="2800" dirty="0" smtClean="0">
                <a:latin typeface="黑体" panose="02010609060101010101" pitchFamily="49" charset="-122"/>
                <a:ea typeface="黑体" panose="02010609060101010101" pitchFamily="49" charset="-122"/>
              </a:rPr>
              <a:t>所需要的时间为： </a:t>
            </a:r>
            <a:r>
              <a:rPr lang="en-US" altLang="zh-CN" sz="2800" dirty="0" smtClean="0">
                <a:latin typeface="黑体" panose="02010609060101010101" pitchFamily="49" charset="-122"/>
                <a:ea typeface="黑体" panose="02010609060101010101" pitchFamily="49" charset="-122"/>
                <a:cs typeface="Times New Roman" panose="02020603050405020304" pitchFamily="18" charset="0"/>
              </a:rPr>
              <a:t>T</a:t>
            </a:r>
            <a:r>
              <a:rPr lang="zh-CN" altLang="en-US" sz="2800" dirty="0" smtClean="0">
                <a:latin typeface="黑体" panose="02010609060101010101" pitchFamily="49" charset="-122"/>
                <a:ea typeface="黑体" panose="02010609060101010101" pitchFamily="49" charset="-122"/>
              </a:rPr>
              <a:t>＝</a:t>
            </a:r>
            <a:r>
              <a:rPr lang="en-US" altLang="zh-CN" sz="2800" dirty="0" err="1" smtClean="0">
                <a:latin typeface="黑体" panose="02010609060101010101" pitchFamily="49" charset="-122"/>
                <a:ea typeface="黑体" panose="02010609060101010101" pitchFamily="49" charset="-122"/>
                <a:cs typeface="Times New Roman" panose="02020603050405020304" pitchFamily="18" charset="0"/>
              </a:rPr>
              <a:t>T</a:t>
            </a:r>
            <a:r>
              <a:rPr lang="en-US" altLang="zh-CN" sz="2800" baseline="-30000" dirty="0" err="1" smtClean="0">
                <a:latin typeface="黑体" panose="02010609060101010101" pitchFamily="49" charset="-122"/>
                <a:ea typeface="黑体" panose="02010609060101010101" pitchFamily="49" charset="-122"/>
                <a:cs typeface="Times New Roman" panose="02020603050405020304" pitchFamily="18" charset="0"/>
              </a:rPr>
              <a:t>k</a:t>
            </a:r>
            <a:r>
              <a:rPr lang="en-US" altLang="zh-CN" sz="2800" dirty="0" smtClean="0">
                <a:latin typeface="黑体" panose="02010609060101010101" pitchFamily="49" charset="-122"/>
                <a:ea typeface="黑体" panose="02010609060101010101" pitchFamily="49" charset="-122"/>
              </a:rPr>
              <a:t> × </a:t>
            </a:r>
            <a:r>
              <a:rPr lang="en-US" altLang="zh-CN" sz="2800" dirty="0" smtClean="0">
                <a:latin typeface="黑体" panose="02010609060101010101" pitchFamily="49" charset="-122"/>
                <a:ea typeface="黑体" panose="02010609060101010101" pitchFamily="49" charset="-122"/>
                <a:cs typeface="Times New Roman" panose="02020603050405020304" pitchFamily="18" charset="0"/>
              </a:rPr>
              <a:t>τ</a:t>
            </a:r>
          </a:p>
          <a:p>
            <a:pPr lvl="1" algn="just" eaLnBrk="1" hangingPunct="1">
              <a:buFont typeface="Wingdings" panose="05000000000000000000" pitchFamily="2" charset="2"/>
              <a:buNone/>
            </a:pPr>
            <a:r>
              <a:rPr lang="zh-CN" altLang="en-US" sz="2800" dirty="0" smtClean="0">
                <a:latin typeface="黑体" panose="02010609060101010101" pitchFamily="49" charset="-122"/>
                <a:ea typeface="黑体" panose="02010609060101010101" pitchFamily="49" charset="-122"/>
              </a:rPr>
              <a:t>而同时，顺序完成的时间为：</a:t>
            </a:r>
            <a:r>
              <a:rPr lang="en-US" altLang="zh-CN" sz="2800" dirty="0" smtClean="0">
                <a:latin typeface="黑体" panose="02010609060101010101" pitchFamily="49" charset="-122"/>
                <a:ea typeface="黑体" panose="02010609060101010101" pitchFamily="49" charset="-122"/>
              </a:rPr>
              <a:t>T</a:t>
            </a:r>
            <a:r>
              <a:rPr lang="zh-CN" altLang="en-US" sz="2800" dirty="0" smtClean="0">
                <a:latin typeface="黑体" panose="02010609060101010101" pitchFamily="49" charset="-122"/>
                <a:ea typeface="黑体" panose="02010609060101010101" pitchFamily="49" charset="-122"/>
              </a:rPr>
              <a:t>＝</a:t>
            </a:r>
            <a:r>
              <a:rPr lang="en-US" altLang="zh-CN" sz="2800" dirty="0" err="1" smtClean="0">
                <a:latin typeface="黑体" panose="02010609060101010101" pitchFamily="49" charset="-122"/>
                <a:ea typeface="黑体" panose="02010609060101010101" pitchFamily="49" charset="-122"/>
              </a:rPr>
              <a:t>n×k×</a:t>
            </a:r>
            <a:r>
              <a:rPr lang="en-US" altLang="zh-CN" sz="2800" dirty="0" err="1" smtClean="0">
                <a:latin typeface="黑体" panose="02010609060101010101" pitchFamily="49" charset="-122"/>
                <a:ea typeface="黑体" panose="02010609060101010101" pitchFamily="49" charset="-122"/>
                <a:cs typeface="Times New Roman" panose="02020603050405020304" pitchFamily="18" charset="0"/>
              </a:rPr>
              <a:t>τ</a:t>
            </a:r>
            <a:endParaRPr lang="en-US" altLang="zh-CN" sz="2800" dirty="0" smtClean="0">
              <a:latin typeface="黑体" panose="02010609060101010101" pitchFamily="49" charset="-122"/>
              <a:ea typeface="黑体" panose="02010609060101010101" pitchFamily="49" charset="-122"/>
              <a:cs typeface="Times New Roman" panose="02020603050405020304" pitchFamily="18" charset="0"/>
            </a:endParaRPr>
          </a:p>
          <a:p>
            <a:pPr algn="just" eaLnBrk="1" hangingPunct="1"/>
            <a:r>
              <a:rPr lang="en-US" altLang="zh-CN" sz="3200" dirty="0" smtClean="0">
                <a:latin typeface="黑体" panose="02010609060101010101" pitchFamily="49" charset="-122"/>
                <a:ea typeface="黑体" panose="02010609060101010101" pitchFamily="49" charset="-122"/>
                <a:cs typeface="Times New Roman" panose="02020603050405020304" pitchFamily="18" charset="0"/>
              </a:rPr>
              <a:t>k</a:t>
            </a:r>
            <a:r>
              <a:rPr lang="zh-CN" altLang="en-US" sz="3200" dirty="0" smtClean="0">
                <a:latin typeface="黑体" panose="02010609060101010101" pitchFamily="49" charset="-122"/>
                <a:ea typeface="黑体" panose="02010609060101010101" pitchFamily="49" charset="-122"/>
              </a:rPr>
              <a:t>级线性流水线的加速比：</a:t>
            </a:r>
            <a:endParaRPr lang="zh-CN" altLang="en-US" sz="3200" dirty="0" smtClean="0">
              <a:latin typeface="黑体" panose="02010609060101010101" pitchFamily="49" charset="-122"/>
              <a:ea typeface="黑体" panose="02010609060101010101" pitchFamily="49" charset="-122"/>
              <a:cs typeface="Times New Roman" panose="02020603050405020304" pitchFamily="18" charset="0"/>
            </a:endParaRPr>
          </a:p>
          <a:p>
            <a:pPr algn="just" eaLnBrk="1" hangingPunct="1">
              <a:buFont typeface="Wingdings" panose="05000000000000000000" pitchFamily="2" charset="2"/>
              <a:buNone/>
            </a:pPr>
            <a:r>
              <a:rPr lang="en-US" altLang="zh-CN" sz="3200" dirty="0" err="1" smtClean="0">
                <a:latin typeface="黑体" panose="02010609060101010101" pitchFamily="49" charset="-122"/>
                <a:ea typeface="黑体" panose="02010609060101010101" pitchFamily="49" charset="-122"/>
                <a:cs typeface="Times New Roman" panose="02020603050405020304" pitchFamily="18" charset="0"/>
              </a:rPr>
              <a:t>C</a:t>
            </a:r>
            <a:r>
              <a:rPr lang="en-US" altLang="zh-CN" sz="3200" baseline="-30000" dirty="0" err="1" smtClean="0">
                <a:latin typeface="黑体" panose="02010609060101010101" pitchFamily="49" charset="-122"/>
                <a:ea typeface="黑体" panose="02010609060101010101" pitchFamily="49" charset="-122"/>
                <a:cs typeface="Times New Roman" panose="02020603050405020304" pitchFamily="18" charset="0"/>
              </a:rPr>
              <a:t>k</a:t>
            </a:r>
            <a:r>
              <a:rPr lang="en-US" altLang="zh-CN" sz="3200" baseline="-30000" dirty="0" smtClean="0">
                <a:latin typeface="黑体" panose="02010609060101010101" pitchFamily="49" charset="-122"/>
                <a:ea typeface="黑体" panose="02010609060101010101" pitchFamily="49" charset="-122"/>
                <a:cs typeface="Times New Roman" panose="02020603050405020304" pitchFamily="18" charset="0"/>
              </a:rPr>
              <a:t> </a:t>
            </a:r>
            <a:r>
              <a:rPr lang="zh-CN" altLang="en-US" sz="3200" baseline="-25000" dirty="0" smtClean="0">
                <a:latin typeface="黑体" panose="02010609060101010101" pitchFamily="49" charset="-122"/>
                <a:ea typeface="黑体" panose="02010609060101010101" pitchFamily="49" charset="-122"/>
              </a:rPr>
              <a:t>＝  </a:t>
            </a:r>
            <a:r>
              <a:rPr lang="en-US" altLang="zh-CN" sz="3200" u="sng" dirty="0" smtClean="0">
                <a:latin typeface="黑体" panose="02010609060101010101" pitchFamily="49" charset="-122"/>
                <a:ea typeface="黑体" panose="02010609060101010101" pitchFamily="49" charset="-122"/>
                <a:cs typeface="Times New Roman" panose="02020603050405020304" pitchFamily="18" charset="0"/>
              </a:rPr>
              <a:t>TL</a:t>
            </a:r>
            <a:r>
              <a:rPr lang="en-US" altLang="zh-CN" sz="3200" dirty="0" smtClean="0">
                <a:latin typeface="黑体" panose="02010609060101010101" pitchFamily="49" charset="-122"/>
                <a:ea typeface="黑体" panose="02010609060101010101" pitchFamily="49" charset="-122"/>
                <a:cs typeface="Times New Roman" panose="02020603050405020304" pitchFamily="18" charset="0"/>
              </a:rPr>
              <a:t>  </a:t>
            </a:r>
            <a:r>
              <a:rPr lang="zh-CN" altLang="en-US" sz="3200" baseline="-25000" dirty="0" smtClean="0">
                <a:latin typeface="黑体" panose="02010609060101010101" pitchFamily="49" charset="-122"/>
                <a:ea typeface="黑体" panose="02010609060101010101" pitchFamily="49" charset="-122"/>
              </a:rPr>
              <a:t>＝   </a:t>
            </a:r>
            <a:r>
              <a:rPr lang="zh-CN" altLang="en-US" sz="3200" u="sng" dirty="0" smtClean="0">
                <a:latin typeface="黑体" panose="02010609060101010101" pitchFamily="49" charset="-122"/>
                <a:ea typeface="黑体" panose="02010609060101010101" pitchFamily="49" charset="-122"/>
              </a:rPr>
              <a:t>　</a:t>
            </a:r>
            <a:r>
              <a:rPr lang="en-US" altLang="zh-CN" sz="3200" u="sng" dirty="0" err="1" smtClean="0">
                <a:latin typeface="黑体" panose="02010609060101010101" pitchFamily="49" charset="-122"/>
                <a:ea typeface="黑体" panose="02010609060101010101" pitchFamily="49" charset="-122"/>
                <a:cs typeface="Times New Roman" panose="02020603050405020304" pitchFamily="18" charset="0"/>
              </a:rPr>
              <a:t>n·k</a:t>
            </a:r>
            <a:r>
              <a:rPr lang="zh-CN" altLang="en-US" sz="3200" u="sng" dirty="0" smtClean="0">
                <a:latin typeface="黑体" panose="02010609060101010101" pitchFamily="49" charset="-122"/>
                <a:ea typeface="黑体" panose="02010609060101010101" pitchFamily="49" charset="-122"/>
              </a:rPr>
              <a:t>　</a:t>
            </a:r>
            <a:r>
              <a:rPr lang="zh-CN" altLang="en-US" sz="3200" dirty="0" smtClean="0">
                <a:latin typeface="黑体" panose="02010609060101010101" pitchFamily="49" charset="-122"/>
                <a:ea typeface="黑体" panose="02010609060101010101" pitchFamily="49" charset="-122"/>
                <a:cs typeface="Times New Roman" panose="02020603050405020304" pitchFamily="18" charset="0"/>
              </a:rPr>
              <a:t>    </a:t>
            </a:r>
          </a:p>
          <a:p>
            <a:pPr algn="just" eaLnBrk="1" hangingPunct="1">
              <a:buFont typeface="Wingdings" panose="05000000000000000000" pitchFamily="2" charset="2"/>
              <a:buNone/>
            </a:pPr>
            <a:r>
              <a:rPr lang="zh-CN" altLang="en-US" sz="3200" dirty="0" smtClean="0">
                <a:latin typeface="黑体" panose="02010609060101010101" pitchFamily="49" charset="-122"/>
                <a:ea typeface="黑体" panose="02010609060101010101" pitchFamily="49" charset="-122"/>
                <a:cs typeface="Times New Roman" panose="02020603050405020304" pitchFamily="18" charset="0"/>
              </a:rPr>
              <a:t>     </a:t>
            </a:r>
            <a:r>
              <a:rPr lang="en-US" altLang="zh-CN" sz="3200" dirty="0" err="1" smtClean="0">
                <a:latin typeface="黑体" panose="02010609060101010101" pitchFamily="49" charset="-122"/>
                <a:ea typeface="黑体" panose="02010609060101010101" pitchFamily="49" charset="-122"/>
                <a:cs typeface="Times New Roman" panose="02020603050405020304" pitchFamily="18" charset="0"/>
              </a:rPr>
              <a:t>Tk</a:t>
            </a:r>
            <a:r>
              <a:rPr lang="en-US" altLang="zh-CN" sz="3200" dirty="0" smtClean="0">
                <a:latin typeface="黑体" panose="02010609060101010101" pitchFamily="49" charset="-122"/>
                <a:ea typeface="黑体" panose="02010609060101010101" pitchFamily="49" charset="-122"/>
                <a:cs typeface="Times New Roman" panose="02020603050405020304" pitchFamily="18" charset="0"/>
              </a:rPr>
              <a:t>     k</a:t>
            </a:r>
            <a:r>
              <a:rPr lang="zh-CN" altLang="en-US" sz="3200" dirty="0" smtClean="0">
                <a:latin typeface="黑体" panose="02010609060101010101" pitchFamily="49" charset="-122"/>
                <a:ea typeface="黑体" panose="02010609060101010101" pitchFamily="49" charset="-122"/>
              </a:rPr>
              <a:t>＋</a:t>
            </a:r>
            <a:r>
              <a:rPr lang="en-US" altLang="zh-CN" sz="3200" dirty="0" smtClean="0">
                <a:latin typeface="黑体" panose="02010609060101010101" pitchFamily="49" charset="-122"/>
                <a:ea typeface="黑体" panose="02010609060101010101" pitchFamily="49" charset="-122"/>
                <a:cs typeface="Times New Roman" panose="02020603050405020304" pitchFamily="18" charset="0"/>
              </a:rPr>
              <a:t>(n</a:t>
            </a:r>
            <a:r>
              <a:rPr lang="zh-CN" altLang="en-US" sz="3200" dirty="0" smtClean="0">
                <a:latin typeface="黑体" panose="02010609060101010101" pitchFamily="49" charset="-122"/>
                <a:ea typeface="黑体" panose="02010609060101010101" pitchFamily="49" charset="-122"/>
              </a:rPr>
              <a:t>－</a:t>
            </a:r>
            <a:r>
              <a:rPr lang="en-US" altLang="zh-CN" sz="3200" dirty="0" smtClean="0">
                <a:latin typeface="黑体" panose="02010609060101010101" pitchFamily="49" charset="-122"/>
                <a:ea typeface="黑体" panose="02010609060101010101" pitchFamily="49" charset="-122"/>
                <a:cs typeface="Times New Roman" panose="02020603050405020304" pitchFamily="18" charset="0"/>
              </a:rPr>
              <a:t>1)</a:t>
            </a:r>
          </a:p>
        </p:txBody>
      </p:sp>
      <p:pic>
        <p:nvPicPr>
          <p:cNvPr id="5" name="Picture 7" descr="D:\jinerwork\组成\白中英版改编\Chap05\Images\5.38(c).gif"/>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4876799" y="4091872"/>
            <a:ext cx="4262319" cy="2766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3341960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习题解答</a:t>
            </a:r>
            <a:endParaRPr lang="zh-CN" altLang="en-US" dirty="0"/>
          </a:p>
        </p:txBody>
      </p:sp>
      <p:sp>
        <p:nvSpPr>
          <p:cNvPr id="4" name="内容占位符 2"/>
          <p:cNvSpPr>
            <a:spLocks noGrp="1"/>
          </p:cNvSpPr>
          <p:nvPr>
            <p:ph idx="1"/>
          </p:nvPr>
        </p:nvSpPr>
        <p:spPr>
          <a:xfrm>
            <a:off x="228600" y="1447800"/>
            <a:ext cx="8747125" cy="4886325"/>
          </a:xfrm>
        </p:spPr>
        <p:txBody>
          <a:bodyPr/>
          <a:lstStyle/>
          <a:p>
            <a:r>
              <a:rPr lang="en-US" altLang="zh-CN" sz="2800" b="0" dirty="0" smtClean="0">
                <a:latin typeface="黑体" panose="02010609060101010101" pitchFamily="49" charset="-122"/>
                <a:ea typeface="黑体" panose="02010609060101010101" pitchFamily="49" charset="-122"/>
              </a:rPr>
              <a:t>[2013</a:t>
            </a:r>
            <a:r>
              <a:rPr lang="zh-CN" altLang="en-US" sz="2800" b="0" dirty="0" smtClean="0">
                <a:latin typeface="黑体" panose="02010609060101010101" pitchFamily="49" charset="-122"/>
                <a:ea typeface="黑体" panose="02010609060101010101" pitchFamily="49" charset="-122"/>
              </a:rPr>
              <a:t>年考研题</a:t>
            </a:r>
            <a:r>
              <a:rPr lang="en-US" altLang="zh-CN" sz="2800" b="0" dirty="0" smtClean="0">
                <a:latin typeface="黑体" panose="02010609060101010101" pitchFamily="49" charset="-122"/>
                <a:ea typeface="黑体" panose="02010609060101010101" pitchFamily="49" charset="-122"/>
              </a:rPr>
              <a:t>] </a:t>
            </a:r>
            <a:r>
              <a:rPr lang="zh-CN" altLang="en-US" sz="2800" b="0" dirty="0" smtClean="0">
                <a:latin typeface="黑体" panose="02010609060101010101" pitchFamily="49" charset="-122"/>
                <a:ea typeface="黑体" panose="02010609060101010101" pitchFamily="49" charset="-122"/>
              </a:rPr>
              <a:t>某</a:t>
            </a:r>
            <a:r>
              <a:rPr lang="en-US" altLang="zh-CN" sz="2800" b="0" dirty="0">
                <a:latin typeface="黑体" panose="02010609060101010101" pitchFamily="49" charset="-122"/>
                <a:ea typeface="黑体" panose="02010609060101010101" pitchFamily="49" charset="-122"/>
              </a:rPr>
              <a:t>CPU</a:t>
            </a:r>
            <a:r>
              <a:rPr lang="zh-CN" altLang="en-US" sz="2800" b="0" dirty="0">
                <a:latin typeface="黑体" panose="02010609060101010101" pitchFamily="49" charset="-122"/>
                <a:ea typeface="黑体" panose="02010609060101010101" pitchFamily="49" charset="-122"/>
              </a:rPr>
              <a:t>主频为</a:t>
            </a:r>
            <a:r>
              <a:rPr lang="en-US" altLang="zh-CN" sz="2800" b="0" dirty="0" smtClean="0">
                <a:latin typeface="黑体" panose="02010609060101010101" pitchFamily="49" charset="-122"/>
                <a:ea typeface="黑体" panose="02010609060101010101" pitchFamily="49" charset="-122"/>
              </a:rPr>
              <a:t>1.03 GHz</a:t>
            </a:r>
            <a:r>
              <a:rPr lang="zh-CN" altLang="en-US" sz="2800" b="0" dirty="0">
                <a:latin typeface="黑体" panose="02010609060101010101" pitchFamily="49" charset="-122"/>
                <a:ea typeface="黑体" panose="02010609060101010101" pitchFamily="49" charset="-122"/>
              </a:rPr>
              <a:t>，采用</a:t>
            </a:r>
            <a:r>
              <a:rPr lang="en-US" altLang="zh-CN" sz="2800" b="0" dirty="0">
                <a:latin typeface="黑体" panose="02010609060101010101" pitchFamily="49" charset="-122"/>
                <a:ea typeface="黑体" panose="02010609060101010101" pitchFamily="49" charset="-122"/>
              </a:rPr>
              <a:t>4</a:t>
            </a:r>
            <a:r>
              <a:rPr lang="zh-CN" altLang="en-US" sz="2800" b="0" dirty="0">
                <a:latin typeface="黑体" panose="02010609060101010101" pitchFamily="49" charset="-122"/>
                <a:ea typeface="黑体" panose="02010609060101010101" pitchFamily="49" charset="-122"/>
              </a:rPr>
              <a:t>级指令流水线，每个流水段的执行需要</a:t>
            </a:r>
            <a:r>
              <a:rPr lang="en-US" altLang="zh-CN" sz="2800" b="0" dirty="0">
                <a:latin typeface="黑体" panose="02010609060101010101" pitchFamily="49" charset="-122"/>
                <a:ea typeface="黑体" panose="02010609060101010101" pitchFamily="49" charset="-122"/>
              </a:rPr>
              <a:t>1</a:t>
            </a:r>
            <a:r>
              <a:rPr lang="zh-CN" altLang="en-US" sz="2800" b="0" dirty="0">
                <a:latin typeface="黑体" panose="02010609060101010101" pitchFamily="49" charset="-122"/>
                <a:ea typeface="黑体" panose="02010609060101010101" pitchFamily="49" charset="-122"/>
              </a:rPr>
              <a:t>个时钟周期。假定</a:t>
            </a:r>
            <a:r>
              <a:rPr lang="en-US" altLang="zh-CN" sz="2800" b="0" dirty="0">
                <a:latin typeface="黑体" panose="02010609060101010101" pitchFamily="49" charset="-122"/>
                <a:ea typeface="黑体" panose="02010609060101010101" pitchFamily="49" charset="-122"/>
              </a:rPr>
              <a:t>CPU</a:t>
            </a:r>
            <a:r>
              <a:rPr lang="zh-CN" altLang="en-US" sz="2800" b="0" dirty="0">
                <a:latin typeface="黑体" panose="02010609060101010101" pitchFamily="49" charset="-122"/>
                <a:ea typeface="黑体" panose="02010609060101010101" pitchFamily="49" charset="-122"/>
              </a:rPr>
              <a:t>执行了</a:t>
            </a:r>
            <a:r>
              <a:rPr lang="en-US" altLang="zh-CN" sz="2800" b="0" dirty="0">
                <a:latin typeface="黑体" panose="02010609060101010101" pitchFamily="49" charset="-122"/>
                <a:ea typeface="黑体" panose="02010609060101010101" pitchFamily="49" charset="-122"/>
              </a:rPr>
              <a:t>100</a:t>
            </a:r>
            <a:r>
              <a:rPr lang="zh-CN" altLang="en-US" sz="2800" b="0" dirty="0">
                <a:latin typeface="黑体" panose="02010609060101010101" pitchFamily="49" charset="-122"/>
                <a:ea typeface="黑体" panose="02010609060101010101" pitchFamily="49" charset="-122"/>
              </a:rPr>
              <a:t>条指令，在其执行过程中，没有发生任何流水线阻塞，此时流水线的吞吐率</a:t>
            </a:r>
            <a:r>
              <a:rPr lang="zh-CN" altLang="en-US" sz="2800" b="0" dirty="0" smtClean="0">
                <a:latin typeface="黑体" panose="02010609060101010101" pitchFamily="49" charset="-122"/>
                <a:ea typeface="黑体" panose="02010609060101010101" pitchFamily="49" charset="-122"/>
              </a:rPr>
              <a:t>为：</a:t>
            </a:r>
            <a:endParaRPr lang="zh-CN" altLang="en-US" sz="2800" b="0" dirty="0">
              <a:latin typeface="黑体" panose="02010609060101010101" pitchFamily="49" charset="-122"/>
              <a:ea typeface="黑体" panose="02010609060101010101" pitchFamily="49" charset="-122"/>
            </a:endParaRPr>
          </a:p>
          <a:p>
            <a:pPr marL="0" indent="0">
              <a:buNone/>
            </a:pPr>
            <a:r>
              <a:rPr lang="en-US" altLang="zh-CN" sz="2800" b="0" dirty="0" smtClean="0">
                <a:latin typeface="黑体" panose="02010609060101010101" pitchFamily="49" charset="-122"/>
                <a:ea typeface="黑体" panose="02010609060101010101" pitchFamily="49" charset="-122"/>
              </a:rPr>
              <a:t>  A.0.25×10</a:t>
            </a:r>
            <a:r>
              <a:rPr lang="en-US" altLang="zh-CN" sz="2800" b="0" baseline="30000" dirty="0" smtClean="0">
                <a:latin typeface="黑体" panose="02010609060101010101" pitchFamily="49" charset="-122"/>
                <a:ea typeface="黑体" panose="02010609060101010101" pitchFamily="49" charset="-122"/>
              </a:rPr>
              <a:t>9</a:t>
            </a:r>
            <a:r>
              <a:rPr lang="zh-CN" altLang="en-US" sz="2800" b="0" dirty="0">
                <a:latin typeface="黑体" panose="02010609060101010101" pitchFamily="49" charset="-122"/>
                <a:ea typeface="黑体" panose="02010609060101010101" pitchFamily="49" charset="-122"/>
              </a:rPr>
              <a:t>条指令</a:t>
            </a:r>
            <a:r>
              <a:rPr lang="en-US" altLang="zh-CN" sz="2800" b="0" dirty="0">
                <a:latin typeface="黑体" panose="02010609060101010101" pitchFamily="49" charset="-122"/>
                <a:ea typeface="黑体" panose="02010609060101010101" pitchFamily="49" charset="-122"/>
              </a:rPr>
              <a:t>/</a:t>
            </a:r>
            <a:r>
              <a:rPr lang="zh-CN" altLang="en-US" sz="2800" b="0" dirty="0">
                <a:latin typeface="黑体" panose="02010609060101010101" pitchFamily="49" charset="-122"/>
                <a:ea typeface="黑体" panose="02010609060101010101" pitchFamily="49" charset="-122"/>
              </a:rPr>
              <a:t>秒 </a:t>
            </a:r>
            <a:r>
              <a:rPr lang="zh-CN" altLang="en-US" sz="2800" b="0" dirty="0" smtClean="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B.0.97×10</a:t>
            </a:r>
            <a:r>
              <a:rPr lang="en-US" altLang="zh-CN" sz="2800" b="0" baseline="30000" dirty="0" smtClean="0">
                <a:latin typeface="黑体" panose="02010609060101010101" pitchFamily="49" charset="-122"/>
                <a:ea typeface="黑体" panose="02010609060101010101" pitchFamily="49" charset="-122"/>
              </a:rPr>
              <a:t>9</a:t>
            </a:r>
            <a:r>
              <a:rPr lang="zh-CN" altLang="en-US" sz="2800" b="0" dirty="0">
                <a:latin typeface="黑体" panose="02010609060101010101" pitchFamily="49" charset="-122"/>
                <a:ea typeface="黑体" panose="02010609060101010101" pitchFamily="49" charset="-122"/>
              </a:rPr>
              <a:t>条指令</a:t>
            </a:r>
            <a:r>
              <a:rPr lang="en-US" altLang="zh-CN" sz="2800" b="0" dirty="0">
                <a:latin typeface="黑体" panose="02010609060101010101" pitchFamily="49" charset="-122"/>
                <a:ea typeface="黑体" panose="02010609060101010101" pitchFamily="49" charset="-122"/>
              </a:rPr>
              <a:t>/</a:t>
            </a:r>
            <a:r>
              <a:rPr lang="zh-CN" altLang="en-US" sz="2800" b="0" dirty="0">
                <a:latin typeface="黑体" panose="02010609060101010101" pitchFamily="49" charset="-122"/>
                <a:ea typeface="黑体" panose="02010609060101010101" pitchFamily="49" charset="-122"/>
              </a:rPr>
              <a:t>秒 </a:t>
            </a:r>
          </a:p>
          <a:p>
            <a:pPr marL="0" indent="0">
              <a:buNone/>
            </a:pPr>
            <a:r>
              <a:rPr lang="en-US" altLang="zh-CN" sz="2800" b="0" dirty="0" smtClean="0">
                <a:latin typeface="黑体" panose="02010609060101010101" pitchFamily="49" charset="-122"/>
                <a:ea typeface="黑体" panose="02010609060101010101" pitchFamily="49" charset="-122"/>
              </a:rPr>
              <a:t>  C.1.0×10</a:t>
            </a:r>
            <a:r>
              <a:rPr lang="en-US" altLang="zh-CN" sz="2800" b="0" baseline="30000" dirty="0" smtClean="0">
                <a:latin typeface="黑体" panose="02010609060101010101" pitchFamily="49" charset="-122"/>
                <a:ea typeface="黑体" panose="02010609060101010101" pitchFamily="49" charset="-122"/>
              </a:rPr>
              <a:t>9</a:t>
            </a:r>
            <a:r>
              <a:rPr lang="zh-CN" altLang="en-US" sz="2800" b="0" dirty="0">
                <a:latin typeface="黑体" panose="02010609060101010101" pitchFamily="49" charset="-122"/>
                <a:ea typeface="黑体" panose="02010609060101010101" pitchFamily="49" charset="-122"/>
              </a:rPr>
              <a:t>条指令</a:t>
            </a:r>
            <a:r>
              <a:rPr lang="en-US" altLang="zh-CN" sz="2800" b="0" dirty="0">
                <a:latin typeface="黑体" panose="02010609060101010101" pitchFamily="49" charset="-122"/>
                <a:ea typeface="黑体" panose="02010609060101010101" pitchFamily="49" charset="-122"/>
              </a:rPr>
              <a:t>/</a:t>
            </a:r>
            <a:r>
              <a:rPr lang="zh-CN" altLang="en-US" sz="2800" b="0" dirty="0">
                <a:latin typeface="黑体" panose="02010609060101010101" pitchFamily="49" charset="-122"/>
                <a:ea typeface="黑体" panose="02010609060101010101" pitchFamily="49" charset="-122"/>
              </a:rPr>
              <a:t>秒   </a:t>
            </a:r>
            <a:r>
              <a:rPr lang="en-US" altLang="zh-CN" sz="2800" b="0" dirty="0" smtClean="0">
                <a:latin typeface="黑体" panose="02010609060101010101" pitchFamily="49" charset="-122"/>
                <a:ea typeface="黑体" panose="02010609060101010101" pitchFamily="49" charset="-122"/>
              </a:rPr>
              <a:t>D.1.03×10</a:t>
            </a:r>
            <a:r>
              <a:rPr lang="en-US" altLang="zh-CN" sz="2800" b="0" baseline="30000" dirty="0" smtClean="0">
                <a:latin typeface="黑体" panose="02010609060101010101" pitchFamily="49" charset="-122"/>
                <a:ea typeface="黑体" panose="02010609060101010101" pitchFamily="49" charset="-122"/>
              </a:rPr>
              <a:t>9</a:t>
            </a:r>
            <a:r>
              <a:rPr lang="zh-CN" altLang="en-US" sz="2800" b="0" dirty="0">
                <a:latin typeface="黑体" panose="02010609060101010101" pitchFamily="49" charset="-122"/>
                <a:ea typeface="黑体" panose="02010609060101010101" pitchFamily="49" charset="-122"/>
              </a:rPr>
              <a:t>条指令</a:t>
            </a:r>
            <a:r>
              <a:rPr lang="en-US" altLang="zh-CN" sz="2800" b="0" dirty="0">
                <a:latin typeface="黑体" panose="02010609060101010101" pitchFamily="49" charset="-122"/>
                <a:ea typeface="黑体" panose="02010609060101010101" pitchFamily="49" charset="-122"/>
              </a:rPr>
              <a:t>/</a:t>
            </a:r>
            <a:r>
              <a:rPr lang="zh-CN" altLang="en-US" sz="2800" b="0" dirty="0">
                <a:latin typeface="黑体" panose="02010609060101010101" pitchFamily="49" charset="-122"/>
                <a:ea typeface="黑体" panose="02010609060101010101" pitchFamily="49" charset="-122"/>
              </a:rPr>
              <a:t>秒</a:t>
            </a:r>
          </a:p>
          <a:p>
            <a:r>
              <a:rPr lang="zh-CN" altLang="en-US" sz="2800" b="0" dirty="0">
                <a:solidFill>
                  <a:srgbClr val="B20E12"/>
                </a:solidFill>
                <a:latin typeface="黑体" panose="02010609060101010101" pitchFamily="49" charset="-122"/>
                <a:ea typeface="黑体" panose="02010609060101010101" pitchFamily="49" charset="-122"/>
              </a:rPr>
              <a:t>采用</a:t>
            </a:r>
            <a:r>
              <a:rPr lang="en-US" altLang="zh-CN" sz="2800" b="0" dirty="0">
                <a:solidFill>
                  <a:srgbClr val="B20E12"/>
                </a:solidFill>
                <a:latin typeface="黑体" panose="02010609060101010101" pitchFamily="49" charset="-122"/>
                <a:ea typeface="黑体" panose="02010609060101010101" pitchFamily="49" charset="-122"/>
              </a:rPr>
              <a:t>4 </a:t>
            </a:r>
            <a:r>
              <a:rPr lang="zh-CN" altLang="en-US" sz="2800" b="0" dirty="0">
                <a:solidFill>
                  <a:srgbClr val="B20E12"/>
                </a:solidFill>
                <a:latin typeface="黑体" panose="02010609060101010101" pitchFamily="49" charset="-122"/>
                <a:ea typeface="黑体" panose="02010609060101010101" pitchFamily="49" charset="-122"/>
              </a:rPr>
              <a:t>级流水执行</a:t>
            </a:r>
            <a:r>
              <a:rPr lang="en-US" altLang="zh-CN" sz="2800" b="0" dirty="0">
                <a:solidFill>
                  <a:srgbClr val="B20E12"/>
                </a:solidFill>
                <a:latin typeface="黑体" panose="02010609060101010101" pitchFamily="49" charset="-122"/>
                <a:ea typeface="黑体" panose="02010609060101010101" pitchFamily="49" charset="-122"/>
              </a:rPr>
              <a:t>100 </a:t>
            </a:r>
            <a:r>
              <a:rPr lang="zh-CN" altLang="en-US" sz="2800" b="0" dirty="0">
                <a:solidFill>
                  <a:srgbClr val="B20E12"/>
                </a:solidFill>
                <a:latin typeface="黑体" panose="02010609060101010101" pitchFamily="49" charset="-122"/>
                <a:ea typeface="黑体" panose="02010609060101010101" pitchFamily="49" charset="-122"/>
              </a:rPr>
              <a:t>条指令，在执行过程中共</a:t>
            </a:r>
            <a:r>
              <a:rPr lang="zh-CN" altLang="en-US" sz="2800" b="0" dirty="0" smtClean="0">
                <a:solidFill>
                  <a:srgbClr val="B20E12"/>
                </a:solidFill>
                <a:latin typeface="黑体" panose="02010609060101010101" pitchFamily="49" charset="-122"/>
                <a:ea typeface="黑体" panose="02010609060101010101" pitchFamily="49" charset="-122"/>
              </a:rPr>
              <a:t>用</a:t>
            </a:r>
            <a:r>
              <a:rPr lang="en-US" altLang="zh-CN" sz="2800" b="0" dirty="0" smtClean="0">
                <a:solidFill>
                  <a:srgbClr val="B20E12"/>
                </a:solidFill>
                <a:latin typeface="黑体" panose="02010609060101010101" pitchFamily="49" charset="-122"/>
                <a:ea typeface="黑体" panose="02010609060101010101" pitchFamily="49" charset="-122"/>
              </a:rPr>
              <a:t>4</a:t>
            </a:r>
            <a:r>
              <a:rPr lang="en-US" altLang="zh-CN" sz="2800" b="0" dirty="0">
                <a:solidFill>
                  <a:srgbClr val="B20E12"/>
                </a:solidFill>
                <a:latin typeface="黑体" panose="02010609060101010101" pitchFamily="49" charset="-122"/>
                <a:ea typeface="黑体" panose="02010609060101010101" pitchFamily="49" charset="-122"/>
              </a:rPr>
              <a:t>+(100-1)=103 </a:t>
            </a:r>
            <a:r>
              <a:rPr lang="zh-CN" altLang="en-US" sz="2800" b="0" dirty="0">
                <a:solidFill>
                  <a:srgbClr val="B20E12"/>
                </a:solidFill>
                <a:latin typeface="黑体" panose="02010609060101010101" pitchFamily="49" charset="-122"/>
                <a:ea typeface="黑体" panose="02010609060101010101" pitchFamily="49" charset="-122"/>
              </a:rPr>
              <a:t>个时钟</a:t>
            </a:r>
            <a:r>
              <a:rPr lang="zh-CN" altLang="en-US" sz="2800" b="0" dirty="0" smtClean="0">
                <a:solidFill>
                  <a:srgbClr val="B20E12"/>
                </a:solidFill>
                <a:latin typeface="黑体" panose="02010609060101010101" pitchFamily="49" charset="-122"/>
                <a:ea typeface="黑体" panose="02010609060101010101" pitchFamily="49" charset="-122"/>
              </a:rPr>
              <a:t>周期</a:t>
            </a:r>
            <a:r>
              <a:rPr lang="zh-CN" altLang="en-US" sz="2800" b="0" dirty="0">
                <a:solidFill>
                  <a:srgbClr val="B20E12"/>
                </a:solidFill>
                <a:latin typeface="黑体" panose="02010609060101010101" pitchFamily="49" charset="-122"/>
                <a:ea typeface="黑体" panose="02010609060101010101" pitchFamily="49" charset="-122"/>
              </a:rPr>
              <a:t>，</a:t>
            </a:r>
            <a:r>
              <a:rPr lang="en-US" altLang="zh-CN" sz="2800" b="0" dirty="0" smtClean="0">
                <a:solidFill>
                  <a:srgbClr val="B20E12"/>
                </a:solidFill>
                <a:latin typeface="黑体" panose="02010609060101010101" pitchFamily="49" charset="-122"/>
                <a:ea typeface="黑体" panose="02010609060101010101" pitchFamily="49" charset="-122"/>
              </a:rPr>
              <a:t>CPU</a:t>
            </a:r>
            <a:r>
              <a:rPr lang="zh-CN" altLang="en-US" sz="2800" b="0" dirty="0">
                <a:solidFill>
                  <a:srgbClr val="B20E12"/>
                </a:solidFill>
                <a:latin typeface="黑体" panose="02010609060101010101" pitchFamily="49" charset="-122"/>
                <a:ea typeface="黑体" panose="02010609060101010101" pitchFamily="49" charset="-122"/>
              </a:rPr>
              <a:t>的主频是</a:t>
            </a:r>
            <a:r>
              <a:rPr lang="en-US" altLang="zh-CN" sz="2800" b="0" dirty="0">
                <a:solidFill>
                  <a:srgbClr val="B20E12"/>
                </a:solidFill>
                <a:latin typeface="黑体" panose="02010609060101010101" pitchFamily="49" charset="-122"/>
                <a:ea typeface="黑体" panose="02010609060101010101" pitchFamily="49" charset="-122"/>
              </a:rPr>
              <a:t>1.03 GHz</a:t>
            </a:r>
            <a:r>
              <a:rPr lang="zh-CN" altLang="en-US" sz="2800" b="0" dirty="0">
                <a:solidFill>
                  <a:srgbClr val="B20E12"/>
                </a:solidFill>
                <a:latin typeface="黑体" panose="02010609060101010101" pitchFamily="49" charset="-122"/>
                <a:ea typeface="黑体" panose="02010609060101010101" pitchFamily="49" charset="-122"/>
              </a:rPr>
              <a:t>，也就是说每秒钟有</a:t>
            </a:r>
            <a:r>
              <a:rPr lang="en-US" altLang="zh-CN" sz="2800" b="0" dirty="0" smtClean="0">
                <a:solidFill>
                  <a:srgbClr val="B20E12"/>
                </a:solidFill>
                <a:latin typeface="黑体" panose="02010609060101010101" pitchFamily="49" charset="-122"/>
                <a:ea typeface="黑体" panose="02010609060101010101" pitchFamily="49" charset="-122"/>
              </a:rPr>
              <a:t>1.03 G</a:t>
            </a:r>
            <a:r>
              <a:rPr lang="zh-CN" altLang="en-US" sz="2800" b="0" dirty="0" smtClean="0">
                <a:solidFill>
                  <a:srgbClr val="B20E12"/>
                </a:solidFill>
                <a:latin typeface="黑体" panose="02010609060101010101" pitchFamily="49" charset="-122"/>
                <a:ea typeface="黑体" panose="02010609060101010101" pitchFamily="49" charset="-122"/>
              </a:rPr>
              <a:t>个</a:t>
            </a:r>
            <a:r>
              <a:rPr lang="zh-CN" altLang="en-US" sz="2800" b="0" dirty="0">
                <a:solidFill>
                  <a:srgbClr val="B20E12"/>
                </a:solidFill>
                <a:latin typeface="黑体" panose="02010609060101010101" pitchFamily="49" charset="-122"/>
                <a:ea typeface="黑体" panose="02010609060101010101" pitchFamily="49" charset="-122"/>
              </a:rPr>
              <a:t>时钟</a:t>
            </a:r>
            <a:r>
              <a:rPr lang="zh-CN" altLang="en-US" sz="2800" b="0" dirty="0" smtClean="0">
                <a:solidFill>
                  <a:srgbClr val="B20E12"/>
                </a:solidFill>
                <a:latin typeface="黑体" panose="02010609060101010101" pitchFamily="49" charset="-122"/>
                <a:ea typeface="黑体" panose="02010609060101010101" pitchFamily="49" charset="-122"/>
              </a:rPr>
              <a:t>周期</a:t>
            </a:r>
            <a:endParaRPr lang="en-US" altLang="zh-CN" sz="2800" b="0" dirty="0" smtClean="0">
              <a:solidFill>
                <a:srgbClr val="B20E12"/>
              </a:solidFill>
              <a:latin typeface="黑体" panose="02010609060101010101" pitchFamily="49" charset="-122"/>
              <a:ea typeface="黑体" panose="02010609060101010101" pitchFamily="49" charset="-122"/>
            </a:endParaRPr>
          </a:p>
          <a:p>
            <a:r>
              <a:rPr lang="zh-CN" altLang="en-US" sz="2800" b="0" dirty="0" smtClean="0">
                <a:solidFill>
                  <a:srgbClr val="B20E12"/>
                </a:solidFill>
                <a:latin typeface="黑体" panose="02010609060101010101" pitchFamily="49" charset="-122"/>
                <a:ea typeface="黑体" panose="02010609060101010101" pitchFamily="49" charset="-122"/>
              </a:rPr>
              <a:t>流水线</a:t>
            </a:r>
            <a:r>
              <a:rPr lang="zh-CN" altLang="en-US" sz="2800" b="0" dirty="0">
                <a:solidFill>
                  <a:srgbClr val="B20E12"/>
                </a:solidFill>
                <a:latin typeface="黑体" panose="02010609060101010101" pitchFamily="49" charset="-122"/>
                <a:ea typeface="黑体" panose="02010609060101010101" pitchFamily="49" charset="-122"/>
              </a:rPr>
              <a:t>的吞吐率为</a:t>
            </a:r>
            <a:r>
              <a:rPr lang="en-US" altLang="zh-CN" sz="2800" b="0" dirty="0">
                <a:solidFill>
                  <a:srgbClr val="B20E12"/>
                </a:solidFill>
                <a:latin typeface="黑体" panose="02010609060101010101" pitchFamily="49" charset="-122"/>
                <a:ea typeface="黑体" panose="02010609060101010101" pitchFamily="49" charset="-122"/>
              </a:rPr>
              <a:t>1.03G*100/103=1.0*109</a:t>
            </a:r>
            <a:r>
              <a:rPr lang="zh-CN" altLang="en-US" sz="2800" b="0" dirty="0">
                <a:solidFill>
                  <a:srgbClr val="B20E12"/>
                </a:solidFill>
                <a:latin typeface="黑体" panose="02010609060101010101" pitchFamily="49" charset="-122"/>
                <a:ea typeface="黑体" panose="02010609060101010101" pitchFamily="49" charset="-122"/>
              </a:rPr>
              <a:t>条指令</a:t>
            </a:r>
            <a:r>
              <a:rPr lang="en-US" altLang="zh-CN" sz="2800" b="0" dirty="0">
                <a:solidFill>
                  <a:srgbClr val="B20E12"/>
                </a:solidFill>
                <a:latin typeface="黑体" panose="02010609060101010101" pitchFamily="49" charset="-122"/>
                <a:ea typeface="黑体" panose="02010609060101010101" pitchFamily="49" charset="-122"/>
              </a:rPr>
              <a:t>/</a:t>
            </a:r>
            <a:r>
              <a:rPr lang="zh-CN" altLang="en-US" sz="2800" b="0" dirty="0" smtClean="0">
                <a:solidFill>
                  <a:srgbClr val="B20E12"/>
                </a:solidFill>
                <a:latin typeface="黑体" panose="02010609060101010101" pitchFamily="49" charset="-122"/>
                <a:ea typeface="黑体" panose="02010609060101010101" pitchFamily="49" charset="-122"/>
              </a:rPr>
              <a:t>秒</a:t>
            </a:r>
            <a:endParaRPr lang="zh-CN" altLang="en-US" sz="2800" b="0" dirty="0">
              <a:solidFill>
                <a:srgbClr val="B20E12"/>
              </a:solidFill>
              <a:latin typeface="黑体" panose="02010609060101010101" pitchFamily="49" charset="-122"/>
              <a:ea typeface="黑体" panose="02010609060101010101" pitchFamily="49" charset="-122"/>
            </a:endParaRPr>
          </a:p>
          <a:p>
            <a:endParaRPr lang="zh-CN" altLang="en-US" sz="2800" b="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90818546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6875" y="609600"/>
            <a:ext cx="7832725" cy="5724525"/>
          </a:xfrm>
        </p:spPr>
        <p:txBody>
          <a:bodyPr/>
          <a:lstStyle/>
          <a:p>
            <a:r>
              <a:rPr lang="en-US" altLang="zh-CN" sz="2800" b="0" dirty="0" smtClean="0">
                <a:latin typeface="黑体" panose="02010609060101010101" pitchFamily="49" charset="-122"/>
                <a:ea typeface="黑体" panose="02010609060101010101" pitchFamily="49" charset="-122"/>
              </a:rPr>
              <a:t>[2014</a:t>
            </a:r>
            <a:r>
              <a:rPr lang="zh-CN" altLang="en-US" sz="2800" b="0" dirty="0" smtClean="0">
                <a:latin typeface="黑体" panose="02010609060101010101" pitchFamily="49" charset="-122"/>
                <a:ea typeface="黑体" panose="02010609060101010101" pitchFamily="49" charset="-122"/>
              </a:rPr>
              <a:t>年考研题</a:t>
            </a:r>
            <a:r>
              <a:rPr lang="en-US" altLang="zh-CN" sz="2800" b="0" dirty="0" smtClean="0">
                <a:latin typeface="黑体" panose="02010609060101010101" pitchFamily="49" charset="-122"/>
                <a:ea typeface="黑体" panose="02010609060101010101" pitchFamily="49" charset="-122"/>
              </a:rPr>
              <a:t>]</a:t>
            </a:r>
            <a:r>
              <a:rPr lang="zh-CN" altLang="zh-CN" sz="2800" b="0" dirty="0" smtClean="0">
                <a:latin typeface="黑体" panose="02010609060101010101" pitchFamily="49" charset="-122"/>
                <a:ea typeface="黑体" panose="02010609060101010101" pitchFamily="49" charset="-122"/>
              </a:rPr>
              <a:t>某</a:t>
            </a:r>
            <a:r>
              <a:rPr lang="zh-CN" altLang="zh-CN" sz="2800" b="0" dirty="0">
                <a:latin typeface="黑体" panose="02010609060101010101" pitchFamily="49" charset="-122"/>
                <a:ea typeface="黑体" panose="02010609060101010101" pitchFamily="49" charset="-122"/>
              </a:rPr>
              <a:t>同步总线采用数据线和地址线复用方式，其中地址</a:t>
            </a:r>
            <a:r>
              <a:rPr lang="en-US" altLang="zh-CN" sz="2800" b="0" dirty="0">
                <a:latin typeface="黑体" panose="02010609060101010101" pitchFamily="49" charset="-122"/>
                <a:ea typeface="黑体" panose="02010609060101010101" pitchFamily="49" charset="-122"/>
              </a:rPr>
              <a:t>/</a:t>
            </a:r>
            <a:r>
              <a:rPr lang="zh-CN" altLang="zh-CN" sz="2800" b="0" dirty="0">
                <a:latin typeface="黑体" panose="02010609060101010101" pitchFamily="49" charset="-122"/>
                <a:ea typeface="黑体" panose="02010609060101010101" pitchFamily="49" charset="-122"/>
              </a:rPr>
              <a:t>数据线有 </a:t>
            </a:r>
            <a:r>
              <a:rPr lang="en-US" altLang="zh-CN" sz="2800" b="0" dirty="0">
                <a:latin typeface="黑体" panose="02010609060101010101" pitchFamily="49" charset="-122"/>
                <a:ea typeface="黑体" panose="02010609060101010101" pitchFamily="49" charset="-122"/>
              </a:rPr>
              <a:t>32 </a:t>
            </a:r>
            <a:r>
              <a:rPr lang="zh-CN" altLang="zh-CN" sz="2800" b="0" dirty="0">
                <a:latin typeface="黑体" panose="02010609060101010101" pitchFamily="49" charset="-122"/>
                <a:ea typeface="黑体" panose="02010609060101010101" pitchFamily="49" charset="-122"/>
              </a:rPr>
              <a:t>根，总线</a:t>
            </a:r>
            <a:r>
              <a:rPr lang="zh-CN" altLang="zh-CN" sz="2800" b="0" dirty="0" smtClean="0">
                <a:latin typeface="黑体" panose="02010609060101010101" pitchFamily="49" charset="-122"/>
                <a:ea typeface="黑体" panose="02010609060101010101" pitchFamily="49" charset="-122"/>
              </a:rPr>
              <a:t>时钟频率</a:t>
            </a:r>
            <a:r>
              <a:rPr lang="en-US" altLang="zh-CN" sz="2800" b="0" dirty="0" smtClean="0">
                <a:latin typeface="黑体" panose="02010609060101010101" pitchFamily="49" charset="-122"/>
                <a:ea typeface="黑体" panose="02010609060101010101" pitchFamily="49" charset="-122"/>
              </a:rPr>
              <a:t>66MHz</a:t>
            </a:r>
            <a:r>
              <a:rPr lang="zh-CN" altLang="zh-CN" sz="2800" b="0" dirty="0">
                <a:latin typeface="黑体" panose="02010609060101010101" pitchFamily="49" charset="-122"/>
                <a:ea typeface="黑体" panose="02010609060101010101" pitchFamily="49" charset="-122"/>
              </a:rPr>
              <a:t>，每个时钟周期传送两次数据</a:t>
            </a:r>
            <a:r>
              <a:rPr lang="en-US" altLang="zh-CN" sz="2800" b="0" dirty="0">
                <a:latin typeface="黑体" panose="02010609060101010101" pitchFamily="49" charset="-122"/>
                <a:ea typeface="黑体" panose="02010609060101010101" pitchFamily="49" charset="-122"/>
              </a:rPr>
              <a:t>(</a:t>
            </a:r>
            <a:r>
              <a:rPr lang="zh-CN" altLang="zh-CN" sz="2800" b="0" dirty="0">
                <a:latin typeface="黑体" panose="02010609060101010101" pitchFamily="49" charset="-122"/>
                <a:ea typeface="黑体" panose="02010609060101010101" pitchFamily="49" charset="-122"/>
              </a:rPr>
              <a:t>上升沿和下降沿各传送一次数据</a:t>
            </a:r>
            <a:r>
              <a:rPr lang="en-US" altLang="zh-CN" sz="2800" b="0" dirty="0">
                <a:latin typeface="黑体" panose="02010609060101010101" pitchFamily="49" charset="-122"/>
                <a:ea typeface="黑体" panose="02010609060101010101" pitchFamily="49" charset="-122"/>
              </a:rPr>
              <a:t>)</a:t>
            </a:r>
            <a:r>
              <a:rPr lang="zh-CN" altLang="zh-CN" sz="2800" b="0" dirty="0">
                <a:latin typeface="黑体" panose="02010609060101010101" pitchFamily="49" charset="-122"/>
                <a:ea typeface="黑体" panose="02010609060101010101" pitchFamily="49" charset="-122"/>
              </a:rPr>
              <a:t>，该总线的</a:t>
            </a:r>
            <a:r>
              <a:rPr lang="zh-CN" altLang="zh-CN" sz="2800" b="0" dirty="0" smtClean="0">
                <a:latin typeface="黑体" panose="02010609060101010101" pitchFamily="49" charset="-122"/>
                <a:ea typeface="黑体" panose="02010609060101010101" pitchFamily="49" charset="-122"/>
              </a:rPr>
              <a:t>最大数据</a:t>
            </a:r>
            <a:r>
              <a:rPr lang="zh-CN" altLang="zh-CN" sz="2800" b="0" dirty="0">
                <a:latin typeface="黑体" panose="02010609060101010101" pitchFamily="49" charset="-122"/>
                <a:ea typeface="黑体" panose="02010609060101010101" pitchFamily="49" charset="-122"/>
              </a:rPr>
              <a:t>传输率</a:t>
            </a:r>
            <a:r>
              <a:rPr lang="en-US" altLang="zh-CN" sz="2800" b="0" dirty="0">
                <a:latin typeface="黑体" panose="02010609060101010101" pitchFamily="49" charset="-122"/>
                <a:ea typeface="黑体" panose="02010609060101010101" pitchFamily="49" charset="-122"/>
              </a:rPr>
              <a:t>(</a:t>
            </a:r>
            <a:r>
              <a:rPr lang="zh-CN" altLang="zh-CN" sz="2800" b="0" dirty="0">
                <a:latin typeface="黑体" panose="02010609060101010101" pitchFamily="49" charset="-122"/>
                <a:ea typeface="黑体" panose="02010609060101010101" pitchFamily="49" charset="-122"/>
              </a:rPr>
              <a:t>总线带宽</a:t>
            </a:r>
            <a:r>
              <a:rPr lang="en-US" altLang="zh-CN" sz="2800" b="0" dirty="0">
                <a:latin typeface="黑体" panose="02010609060101010101" pitchFamily="49" charset="-122"/>
                <a:ea typeface="黑体" panose="02010609060101010101" pitchFamily="49" charset="-122"/>
              </a:rPr>
              <a:t>)</a:t>
            </a:r>
            <a:r>
              <a:rPr lang="zh-CN" altLang="zh-CN" sz="2800" b="0" dirty="0" smtClean="0">
                <a:latin typeface="黑体" panose="02010609060101010101" pitchFamily="49" charset="-122"/>
                <a:ea typeface="黑体" panose="02010609060101010101" pitchFamily="49" charset="-122"/>
              </a:rPr>
              <a:t>是</a:t>
            </a:r>
            <a:r>
              <a:rPr lang="zh-CN" altLang="en-US" sz="2800" b="0" dirty="0" smtClean="0">
                <a:latin typeface="黑体" panose="02010609060101010101" pitchFamily="49" charset="-122"/>
                <a:ea typeface="黑体" panose="02010609060101010101" pitchFamily="49" charset="-122"/>
              </a:rPr>
              <a:t>：</a:t>
            </a:r>
            <a:r>
              <a:rPr lang="en-US" altLang="zh-CN" sz="2800" b="0" u="sng" dirty="0" smtClean="0">
                <a:latin typeface="黑体" panose="02010609060101010101" pitchFamily="49" charset="-122"/>
                <a:ea typeface="黑体" panose="02010609060101010101" pitchFamily="49" charset="-122"/>
              </a:rPr>
              <a:t> </a:t>
            </a:r>
            <a:endParaRPr lang="zh-CN" altLang="zh-CN" sz="2800" b="0" dirty="0">
              <a:latin typeface="黑体" panose="02010609060101010101" pitchFamily="49" charset="-122"/>
              <a:ea typeface="黑体" panose="02010609060101010101" pitchFamily="49" charset="-122"/>
            </a:endParaRPr>
          </a:p>
          <a:p>
            <a:pPr marL="0" indent="0">
              <a:buNone/>
            </a:pPr>
            <a:r>
              <a:rPr lang="en-US" altLang="zh-CN" sz="2800" b="0" dirty="0" smtClean="0">
                <a:latin typeface="黑体" panose="02010609060101010101" pitchFamily="49" charset="-122"/>
                <a:ea typeface="黑体" panose="02010609060101010101" pitchFamily="49" charset="-122"/>
              </a:rPr>
              <a:t>	A 132 </a:t>
            </a:r>
            <a:r>
              <a:rPr lang="en-US" altLang="zh-CN" sz="2800" b="0" dirty="0">
                <a:latin typeface="黑体" panose="02010609060101010101" pitchFamily="49" charset="-122"/>
                <a:ea typeface="黑体" panose="02010609060101010101" pitchFamily="49" charset="-122"/>
              </a:rPr>
              <a:t>MB/s	</a:t>
            </a:r>
            <a:r>
              <a:rPr lang="en-US" altLang="zh-CN" sz="2800" b="0" dirty="0" smtClean="0">
                <a:latin typeface="黑体" panose="02010609060101010101" pitchFamily="49" charset="-122"/>
                <a:ea typeface="黑体" panose="02010609060101010101" pitchFamily="49" charset="-122"/>
              </a:rPr>
              <a:t>	B 264 </a:t>
            </a:r>
            <a:r>
              <a:rPr lang="en-US" altLang="zh-CN" sz="2800" b="0" dirty="0">
                <a:latin typeface="黑体" panose="02010609060101010101" pitchFamily="49" charset="-122"/>
                <a:ea typeface="黑体" panose="02010609060101010101" pitchFamily="49" charset="-122"/>
              </a:rPr>
              <a:t>MB/s	</a:t>
            </a:r>
            <a:endParaRPr lang="en-US" altLang="zh-CN" sz="2800" b="0" dirty="0" smtClean="0">
              <a:latin typeface="黑体" panose="02010609060101010101" pitchFamily="49" charset="-122"/>
              <a:ea typeface="黑体" panose="02010609060101010101" pitchFamily="49" charset="-122"/>
            </a:endParaRPr>
          </a:p>
          <a:p>
            <a:pPr marL="0" indent="0">
              <a:buNone/>
            </a:pPr>
            <a:r>
              <a:rPr lang="en-US" altLang="zh-CN" sz="2800" b="0" dirty="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C 528 MB/s	</a:t>
            </a:r>
            <a:r>
              <a:rPr lang="en-US" altLang="zh-CN" sz="2800" b="0" dirty="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D 1056 </a:t>
            </a:r>
            <a:r>
              <a:rPr lang="en-US" altLang="zh-CN" sz="2800" b="0" dirty="0">
                <a:latin typeface="黑体" panose="02010609060101010101" pitchFamily="49" charset="-122"/>
                <a:ea typeface="黑体" panose="02010609060101010101" pitchFamily="49" charset="-122"/>
              </a:rPr>
              <a:t>MB/s</a:t>
            </a:r>
            <a:endParaRPr lang="zh-CN" altLang="zh-CN" sz="2800" b="0" dirty="0">
              <a:latin typeface="黑体" panose="02010609060101010101" pitchFamily="49" charset="-122"/>
              <a:ea typeface="黑体" panose="02010609060101010101" pitchFamily="49" charset="-122"/>
            </a:endParaRPr>
          </a:p>
          <a:p>
            <a:endParaRPr lang="zh-CN" altLang="en-US" sz="2800" b="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45208174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pPr eaLnBrk="1" hangingPunct="1">
              <a:defRPr/>
            </a:pPr>
            <a:r>
              <a:rPr lang="zh-CN" altLang="en-US" sz="4000" dirty="0" smtClean="0">
                <a:latin typeface="黑体" panose="02010609060101010101" pitchFamily="49" charset="-122"/>
                <a:ea typeface="黑体" panose="02010609060101010101" pitchFamily="49" charset="-122"/>
              </a:rPr>
              <a:t>知识点  总线带宽</a:t>
            </a:r>
          </a:p>
        </p:txBody>
      </p:sp>
      <p:sp>
        <p:nvSpPr>
          <p:cNvPr id="28675" name="Rectangle 3"/>
          <p:cNvSpPr>
            <a:spLocks noGrp="1" noChangeArrowheads="1"/>
          </p:cNvSpPr>
          <p:nvPr>
            <p:ph idx="1"/>
          </p:nvPr>
        </p:nvSpPr>
        <p:spPr/>
        <p:txBody>
          <a:bodyPr/>
          <a:lstStyle/>
          <a:p>
            <a:r>
              <a:rPr lang="zh-CN" altLang="en-US" sz="2800" dirty="0" smtClean="0">
                <a:solidFill>
                  <a:srgbClr val="B20E12"/>
                </a:solidFill>
                <a:latin typeface="黑体" panose="02010609060101010101" pitchFamily="49" charset="-122"/>
                <a:ea typeface="黑体" panose="02010609060101010101" pitchFamily="49" charset="-122"/>
              </a:rPr>
              <a:t>总线宽度：</a:t>
            </a:r>
            <a:r>
              <a:rPr lang="zh-CN" altLang="en-US" sz="2800" b="0" dirty="0" smtClean="0">
                <a:latin typeface="黑体" panose="02010609060101010101" pitchFamily="49" charset="-122"/>
                <a:ea typeface="黑体" panose="02010609060101010101" pitchFamily="49" charset="-122"/>
              </a:rPr>
              <a:t>又称总线位数，指数据总线每次可传输的二进制位数（通常</a:t>
            </a:r>
            <a:r>
              <a:rPr lang="en-US" altLang="zh-CN" sz="2800" b="0" dirty="0" smtClean="0">
                <a:latin typeface="黑体" panose="02010609060101010101" pitchFamily="49" charset="-122"/>
                <a:ea typeface="黑体" panose="02010609060101010101" pitchFamily="49" charset="-122"/>
              </a:rPr>
              <a:t>1</a:t>
            </a:r>
            <a:r>
              <a:rPr lang="zh-CN" altLang="en-US" sz="2800" b="0" dirty="0" smtClean="0">
                <a:latin typeface="黑体" panose="02010609060101010101" pitchFamily="49" charset="-122"/>
                <a:ea typeface="黑体" panose="02010609060101010101" pitchFamily="49" charset="-122"/>
              </a:rPr>
              <a:t>根线对应</a:t>
            </a:r>
            <a:r>
              <a:rPr lang="en-US" altLang="zh-CN" sz="2800" b="0" dirty="0" smtClean="0">
                <a:latin typeface="黑体" panose="02010609060101010101" pitchFamily="49" charset="-122"/>
                <a:ea typeface="黑体" panose="02010609060101010101" pitchFamily="49" charset="-122"/>
              </a:rPr>
              <a:t>1</a:t>
            </a:r>
            <a:r>
              <a:rPr lang="zh-CN" altLang="en-US" sz="2800" b="0" dirty="0" smtClean="0">
                <a:latin typeface="黑体" panose="02010609060101010101" pitchFamily="49" charset="-122"/>
                <a:ea typeface="黑体" panose="02010609060101010101" pitchFamily="49" charset="-122"/>
              </a:rPr>
              <a:t>位数据），常用</a:t>
            </a:r>
            <a:r>
              <a:rPr lang="en-US" altLang="zh-CN" sz="2800" b="0" dirty="0" smtClean="0">
                <a:latin typeface="黑体" panose="02010609060101010101" pitchFamily="49" charset="-122"/>
                <a:ea typeface="黑体" panose="02010609060101010101" pitchFamily="49" charset="-122"/>
              </a:rPr>
              <a:t>bit</a:t>
            </a:r>
            <a:r>
              <a:rPr lang="zh-CN" altLang="en-US" sz="2800" b="0" dirty="0" smtClean="0">
                <a:latin typeface="黑体" panose="02010609060101010101" pitchFamily="49" charset="-122"/>
                <a:ea typeface="黑体" panose="02010609060101010101" pitchFamily="49" charset="-122"/>
              </a:rPr>
              <a:t>表示</a:t>
            </a:r>
            <a:endParaRPr lang="en-US" altLang="zh-CN" sz="2800" b="0" dirty="0" smtClean="0">
              <a:latin typeface="黑体" panose="02010609060101010101" pitchFamily="49" charset="-122"/>
              <a:ea typeface="黑体" panose="02010609060101010101" pitchFamily="49" charset="-122"/>
            </a:endParaRPr>
          </a:p>
          <a:p>
            <a:pPr lvl="1"/>
            <a:r>
              <a:rPr lang="zh-CN" altLang="en-US" sz="2800" dirty="0">
                <a:latin typeface="黑体" panose="02010609060101010101" pitchFamily="49" charset="-122"/>
                <a:ea typeface="黑体" panose="02010609060101010101" pitchFamily="49" charset="-122"/>
              </a:rPr>
              <a:t>如</a:t>
            </a:r>
            <a:r>
              <a:rPr lang="en-US" altLang="zh-CN" sz="2800" dirty="0">
                <a:latin typeface="黑体" panose="02010609060101010101" pitchFamily="49" charset="-122"/>
                <a:ea typeface="黑体" panose="02010609060101010101" pitchFamily="49" charset="-122"/>
              </a:rPr>
              <a:t>S100</a:t>
            </a:r>
            <a:r>
              <a:rPr lang="zh-CN" altLang="en-US" sz="2800" dirty="0">
                <a:latin typeface="黑体" panose="02010609060101010101" pitchFamily="49" charset="-122"/>
                <a:ea typeface="黑体" panose="02010609060101010101" pitchFamily="49" charset="-122"/>
              </a:rPr>
              <a:t>为</a:t>
            </a:r>
            <a:r>
              <a:rPr lang="en-US" altLang="zh-CN" sz="2800" dirty="0">
                <a:latin typeface="黑体" panose="02010609060101010101" pitchFamily="49" charset="-122"/>
                <a:ea typeface="黑体" panose="02010609060101010101" pitchFamily="49" charset="-122"/>
              </a:rPr>
              <a:t>8</a:t>
            </a:r>
            <a:r>
              <a:rPr lang="zh-CN" altLang="en-US" sz="2800" dirty="0">
                <a:latin typeface="黑体" panose="02010609060101010101" pitchFamily="49" charset="-122"/>
                <a:ea typeface="黑体" panose="02010609060101010101" pitchFamily="49" charset="-122"/>
              </a:rPr>
              <a:t>位，</a:t>
            </a:r>
            <a:r>
              <a:rPr lang="en-US" altLang="zh-CN" sz="2800" dirty="0">
                <a:latin typeface="黑体" panose="02010609060101010101" pitchFamily="49" charset="-122"/>
                <a:ea typeface="黑体" panose="02010609060101010101" pitchFamily="49" charset="-122"/>
              </a:rPr>
              <a:t>ISA</a:t>
            </a:r>
            <a:r>
              <a:rPr lang="zh-CN" altLang="en-US" sz="2800" dirty="0">
                <a:latin typeface="黑体" panose="02010609060101010101" pitchFamily="49" charset="-122"/>
                <a:ea typeface="黑体" panose="02010609060101010101" pitchFamily="49" charset="-122"/>
              </a:rPr>
              <a:t>为</a:t>
            </a:r>
            <a:r>
              <a:rPr lang="en-US" altLang="zh-CN" sz="2800" dirty="0">
                <a:latin typeface="黑体" panose="02010609060101010101" pitchFamily="49" charset="-122"/>
                <a:ea typeface="黑体" panose="02010609060101010101" pitchFamily="49" charset="-122"/>
              </a:rPr>
              <a:t>16</a:t>
            </a:r>
            <a:r>
              <a:rPr lang="zh-CN" altLang="en-US" sz="2800" dirty="0">
                <a:latin typeface="黑体" panose="02010609060101010101" pitchFamily="49" charset="-122"/>
                <a:ea typeface="黑体" panose="02010609060101010101" pitchFamily="49" charset="-122"/>
              </a:rPr>
              <a:t>位，</a:t>
            </a:r>
            <a:r>
              <a:rPr lang="en-US" altLang="zh-CN" sz="2800" dirty="0">
                <a:latin typeface="黑体" panose="02010609060101010101" pitchFamily="49" charset="-122"/>
                <a:ea typeface="黑体" panose="02010609060101010101" pitchFamily="49" charset="-122"/>
              </a:rPr>
              <a:t>EISA</a:t>
            </a:r>
            <a:r>
              <a:rPr lang="zh-CN" altLang="en-US" sz="2800" dirty="0">
                <a:latin typeface="黑体" panose="02010609060101010101" pitchFamily="49" charset="-122"/>
                <a:ea typeface="黑体" panose="02010609060101010101" pitchFamily="49" charset="-122"/>
              </a:rPr>
              <a:t>为</a:t>
            </a:r>
            <a:r>
              <a:rPr lang="en-US" altLang="zh-CN" sz="2800" dirty="0">
                <a:latin typeface="黑体" panose="02010609060101010101" pitchFamily="49" charset="-122"/>
                <a:ea typeface="黑体" panose="02010609060101010101" pitchFamily="49" charset="-122"/>
              </a:rPr>
              <a:t>32</a:t>
            </a:r>
            <a:r>
              <a:rPr lang="zh-CN" altLang="en-US" sz="2800" dirty="0">
                <a:latin typeface="黑体" panose="02010609060101010101" pitchFamily="49" charset="-122"/>
                <a:ea typeface="黑体" panose="02010609060101010101" pitchFamily="49" charset="-122"/>
              </a:rPr>
              <a:t>位，</a:t>
            </a:r>
            <a:r>
              <a:rPr lang="en-US" altLang="zh-CN" sz="2800" dirty="0">
                <a:latin typeface="黑体" panose="02010609060101010101" pitchFamily="49" charset="-122"/>
                <a:ea typeface="黑体" panose="02010609060101010101" pitchFamily="49" charset="-122"/>
              </a:rPr>
              <a:t>PCI-2</a:t>
            </a:r>
            <a:r>
              <a:rPr lang="zh-CN" altLang="en-US" sz="2800" dirty="0">
                <a:latin typeface="黑体" panose="02010609060101010101" pitchFamily="49" charset="-122"/>
                <a:ea typeface="黑体" panose="02010609060101010101" pitchFamily="49" charset="-122"/>
              </a:rPr>
              <a:t>可达</a:t>
            </a:r>
            <a:r>
              <a:rPr lang="en-US" altLang="zh-CN" sz="2800" dirty="0">
                <a:latin typeface="黑体" panose="02010609060101010101" pitchFamily="49" charset="-122"/>
                <a:ea typeface="黑体" panose="02010609060101010101" pitchFamily="49" charset="-122"/>
              </a:rPr>
              <a:t>64</a:t>
            </a:r>
            <a:r>
              <a:rPr lang="zh-CN" altLang="en-US" sz="2800" dirty="0" smtClean="0">
                <a:latin typeface="黑体" panose="02010609060101010101" pitchFamily="49" charset="-122"/>
                <a:ea typeface="黑体" panose="02010609060101010101" pitchFamily="49" charset="-122"/>
              </a:rPr>
              <a:t>位</a:t>
            </a:r>
            <a:endParaRPr lang="en-US" altLang="zh-CN" sz="2800" dirty="0" smtClean="0">
              <a:latin typeface="黑体" panose="02010609060101010101" pitchFamily="49" charset="-122"/>
              <a:ea typeface="黑体" panose="02010609060101010101" pitchFamily="49" charset="-122"/>
            </a:endParaRPr>
          </a:p>
          <a:p>
            <a:pPr lvl="1"/>
            <a:r>
              <a:rPr lang="zh-CN" altLang="en-US" sz="2800" dirty="0">
                <a:latin typeface="黑体" panose="02010609060101010101" pitchFamily="49" charset="-122"/>
                <a:ea typeface="黑体" panose="02010609060101010101" pitchFamily="49" charset="-122"/>
              </a:rPr>
              <a:t>总线宽度不会超过微处理器外部数据总线的</a:t>
            </a:r>
            <a:r>
              <a:rPr lang="zh-CN" altLang="en-US" sz="2800" dirty="0" smtClean="0">
                <a:latin typeface="黑体" panose="02010609060101010101" pitchFamily="49" charset="-122"/>
                <a:ea typeface="黑体" panose="02010609060101010101" pitchFamily="49" charset="-122"/>
              </a:rPr>
              <a:t>宽度</a:t>
            </a:r>
            <a:endParaRPr lang="en-US" altLang="zh-CN" sz="2800" b="0" dirty="0" smtClean="0">
              <a:latin typeface="黑体" panose="02010609060101010101" pitchFamily="49" charset="-122"/>
              <a:ea typeface="黑体" panose="02010609060101010101" pitchFamily="49" charset="-122"/>
            </a:endParaRPr>
          </a:p>
          <a:p>
            <a:r>
              <a:rPr lang="zh-CN" altLang="en-US" sz="2800" dirty="0" smtClean="0">
                <a:solidFill>
                  <a:srgbClr val="B20E12"/>
                </a:solidFill>
                <a:latin typeface="黑体" panose="02010609060101010101" pitchFamily="49" charset="-122"/>
                <a:ea typeface="黑体" panose="02010609060101010101" pitchFamily="49" charset="-122"/>
              </a:rPr>
              <a:t>总线</a:t>
            </a:r>
            <a:r>
              <a:rPr lang="zh-CN" altLang="en-US" sz="2800" dirty="0">
                <a:solidFill>
                  <a:srgbClr val="B20E12"/>
                </a:solidFill>
                <a:latin typeface="黑体" panose="02010609060101010101" pitchFamily="49" charset="-122"/>
                <a:ea typeface="黑体" panose="02010609060101010101" pitchFamily="49" charset="-122"/>
              </a:rPr>
              <a:t>带宽：</a:t>
            </a:r>
            <a:r>
              <a:rPr lang="zh-CN" altLang="en-US" sz="2800" dirty="0">
                <a:latin typeface="黑体" panose="02010609060101010101" pitchFamily="49" charset="-122"/>
                <a:ea typeface="黑体" panose="02010609060101010101" pitchFamily="49" charset="-122"/>
              </a:rPr>
              <a:t>总线本身所能达到的最高</a:t>
            </a:r>
            <a:r>
              <a:rPr lang="zh-CN" altLang="en-US" sz="2800" dirty="0" smtClean="0">
                <a:latin typeface="黑体" panose="02010609060101010101" pitchFamily="49" charset="-122"/>
                <a:ea typeface="黑体" panose="02010609060101010101" pitchFamily="49" charset="-122"/>
              </a:rPr>
              <a:t>传输速率 </a:t>
            </a:r>
            <a:endParaRPr lang="zh-CN" altLang="en-US" sz="2800" dirty="0">
              <a:latin typeface="黑体" panose="02010609060101010101" pitchFamily="49" charset="-122"/>
              <a:ea typeface="黑体" panose="02010609060101010101" pitchFamily="49" charset="-122"/>
            </a:endParaRPr>
          </a:p>
          <a:p>
            <a:pPr eaLnBrk="1" hangingPunct="1">
              <a:buFont typeface="Wingdings" panose="05000000000000000000" pitchFamily="2" charset="2"/>
              <a:buNone/>
            </a:pPr>
            <a:endParaRPr lang="zh-CN" altLang="en-US" sz="2800" dirty="0" smtClean="0">
              <a:latin typeface="黑体" panose="02010609060101010101" pitchFamily="49" charset="-122"/>
              <a:ea typeface="黑体" panose="02010609060101010101" pitchFamily="49" charset="-122"/>
            </a:endParaRPr>
          </a:p>
          <a:p>
            <a:pPr eaLnBrk="1" hangingPunct="1"/>
            <a:endParaRPr lang="en-US" altLang="zh-CN" sz="2800" dirty="0" smtClean="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2468439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习题解答</a:t>
            </a:r>
            <a:endParaRPr lang="zh-CN" altLang="en-US" dirty="0"/>
          </a:p>
        </p:txBody>
      </p:sp>
      <p:sp>
        <p:nvSpPr>
          <p:cNvPr id="4" name="内容占位符 2"/>
          <p:cNvSpPr>
            <a:spLocks noGrp="1"/>
          </p:cNvSpPr>
          <p:nvPr>
            <p:ph idx="1"/>
          </p:nvPr>
        </p:nvSpPr>
        <p:spPr>
          <a:xfrm>
            <a:off x="396875" y="1197678"/>
            <a:ext cx="7832725" cy="5136447"/>
          </a:xfrm>
        </p:spPr>
        <p:txBody>
          <a:bodyPr/>
          <a:lstStyle/>
          <a:p>
            <a:r>
              <a:rPr lang="en-US" altLang="zh-CN" sz="2800" b="0" dirty="0" smtClean="0">
                <a:latin typeface="黑体" panose="02010609060101010101" pitchFamily="49" charset="-122"/>
                <a:ea typeface="黑体" panose="02010609060101010101" pitchFamily="49" charset="-122"/>
              </a:rPr>
              <a:t>[2014</a:t>
            </a:r>
            <a:r>
              <a:rPr lang="zh-CN" altLang="en-US" sz="2800" b="0" dirty="0" smtClean="0">
                <a:latin typeface="黑体" panose="02010609060101010101" pitchFamily="49" charset="-122"/>
                <a:ea typeface="黑体" panose="02010609060101010101" pitchFamily="49" charset="-122"/>
              </a:rPr>
              <a:t>年考研题</a:t>
            </a:r>
            <a:r>
              <a:rPr lang="en-US" altLang="zh-CN" sz="2800" b="0" dirty="0" smtClean="0">
                <a:latin typeface="黑体" panose="02010609060101010101" pitchFamily="49" charset="-122"/>
                <a:ea typeface="黑体" panose="02010609060101010101" pitchFamily="49" charset="-122"/>
              </a:rPr>
              <a:t>]</a:t>
            </a:r>
            <a:r>
              <a:rPr lang="zh-CN" altLang="zh-CN" sz="2800" b="0" dirty="0" smtClean="0">
                <a:latin typeface="黑体" panose="02010609060101010101" pitchFamily="49" charset="-122"/>
                <a:ea typeface="黑体" panose="02010609060101010101" pitchFamily="49" charset="-122"/>
              </a:rPr>
              <a:t>某</a:t>
            </a:r>
            <a:r>
              <a:rPr lang="zh-CN" altLang="zh-CN" sz="2800" b="0" dirty="0">
                <a:latin typeface="黑体" panose="02010609060101010101" pitchFamily="49" charset="-122"/>
                <a:ea typeface="黑体" panose="02010609060101010101" pitchFamily="49" charset="-122"/>
              </a:rPr>
              <a:t>同步总线采用数据线和地址线复用方式，其中地址</a:t>
            </a:r>
            <a:r>
              <a:rPr lang="en-US" altLang="zh-CN" sz="2800" b="0" dirty="0">
                <a:latin typeface="黑体" panose="02010609060101010101" pitchFamily="49" charset="-122"/>
                <a:ea typeface="黑体" panose="02010609060101010101" pitchFamily="49" charset="-122"/>
              </a:rPr>
              <a:t>/</a:t>
            </a:r>
            <a:r>
              <a:rPr lang="zh-CN" altLang="zh-CN" sz="2800" b="0" dirty="0">
                <a:latin typeface="黑体" panose="02010609060101010101" pitchFamily="49" charset="-122"/>
                <a:ea typeface="黑体" panose="02010609060101010101" pitchFamily="49" charset="-122"/>
              </a:rPr>
              <a:t>数据线有 </a:t>
            </a:r>
            <a:r>
              <a:rPr lang="en-US" altLang="zh-CN" sz="2800" b="0" dirty="0">
                <a:latin typeface="黑体" panose="02010609060101010101" pitchFamily="49" charset="-122"/>
                <a:ea typeface="黑体" panose="02010609060101010101" pitchFamily="49" charset="-122"/>
              </a:rPr>
              <a:t>32 </a:t>
            </a:r>
            <a:r>
              <a:rPr lang="zh-CN" altLang="zh-CN" sz="2800" b="0" dirty="0">
                <a:latin typeface="黑体" panose="02010609060101010101" pitchFamily="49" charset="-122"/>
                <a:ea typeface="黑体" panose="02010609060101010101" pitchFamily="49" charset="-122"/>
              </a:rPr>
              <a:t>根，总线</a:t>
            </a:r>
            <a:r>
              <a:rPr lang="zh-CN" altLang="zh-CN" sz="2800" b="0" dirty="0" smtClean="0">
                <a:latin typeface="黑体" panose="02010609060101010101" pitchFamily="49" charset="-122"/>
                <a:ea typeface="黑体" panose="02010609060101010101" pitchFamily="49" charset="-122"/>
              </a:rPr>
              <a:t>时钟频率</a:t>
            </a:r>
            <a:r>
              <a:rPr lang="en-US" altLang="zh-CN" sz="2800" b="0" dirty="0" smtClean="0">
                <a:latin typeface="黑体" panose="02010609060101010101" pitchFamily="49" charset="-122"/>
                <a:ea typeface="黑体" panose="02010609060101010101" pitchFamily="49" charset="-122"/>
              </a:rPr>
              <a:t>66MHz</a:t>
            </a:r>
            <a:r>
              <a:rPr lang="zh-CN" altLang="zh-CN" sz="2800" b="0" dirty="0">
                <a:latin typeface="黑体" panose="02010609060101010101" pitchFamily="49" charset="-122"/>
                <a:ea typeface="黑体" panose="02010609060101010101" pitchFamily="49" charset="-122"/>
              </a:rPr>
              <a:t>，每个时钟周期传送两次数据</a:t>
            </a:r>
            <a:r>
              <a:rPr lang="en-US" altLang="zh-CN" sz="2800" b="0" dirty="0">
                <a:latin typeface="黑体" panose="02010609060101010101" pitchFamily="49" charset="-122"/>
                <a:ea typeface="黑体" panose="02010609060101010101" pitchFamily="49" charset="-122"/>
              </a:rPr>
              <a:t>(</a:t>
            </a:r>
            <a:r>
              <a:rPr lang="zh-CN" altLang="zh-CN" sz="2800" b="0" dirty="0">
                <a:latin typeface="黑体" panose="02010609060101010101" pitchFamily="49" charset="-122"/>
                <a:ea typeface="黑体" panose="02010609060101010101" pitchFamily="49" charset="-122"/>
              </a:rPr>
              <a:t>上升沿和下降沿各传送一次数据</a:t>
            </a:r>
            <a:r>
              <a:rPr lang="en-US" altLang="zh-CN" sz="2800" b="0" dirty="0">
                <a:latin typeface="黑体" panose="02010609060101010101" pitchFamily="49" charset="-122"/>
                <a:ea typeface="黑体" panose="02010609060101010101" pitchFamily="49" charset="-122"/>
              </a:rPr>
              <a:t>)</a:t>
            </a:r>
            <a:r>
              <a:rPr lang="zh-CN" altLang="zh-CN" sz="2800" b="0" dirty="0">
                <a:latin typeface="黑体" panose="02010609060101010101" pitchFamily="49" charset="-122"/>
                <a:ea typeface="黑体" panose="02010609060101010101" pitchFamily="49" charset="-122"/>
              </a:rPr>
              <a:t>，该总线的</a:t>
            </a:r>
            <a:r>
              <a:rPr lang="zh-CN" altLang="zh-CN" sz="2800" b="0" dirty="0" smtClean="0">
                <a:latin typeface="黑体" panose="02010609060101010101" pitchFamily="49" charset="-122"/>
                <a:ea typeface="黑体" panose="02010609060101010101" pitchFamily="49" charset="-122"/>
              </a:rPr>
              <a:t>最大数据</a:t>
            </a:r>
            <a:r>
              <a:rPr lang="zh-CN" altLang="zh-CN" sz="2800" b="0" dirty="0">
                <a:latin typeface="黑体" panose="02010609060101010101" pitchFamily="49" charset="-122"/>
                <a:ea typeface="黑体" panose="02010609060101010101" pitchFamily="49" charset="-122"/>
              </a:rPr>
              <a:t>传输率</a:t>
            </a:r>
            <a:r>
              <a:rPr lang="en-US" altLang="zh-CN" sz="2800" b="0" dirty="0">
                <a:latin typeface="黑体" panose="02010609060101010101" pitchFamily="49" charset="-122"/>
                <a:ea typeface="黑体" panose="02010609060101010101" pitchFamily="49" charset="-122"/>
              </a:rPr>
              <a:t>(</a:t>
            </a:r>
            <a:r>
              <a:rPr lang="zh-CN" altLang="zh-CN" sz="2800" b="0" dirty="0">
                <a:latin typeface="黑体" panose="02010609060101010101" pitchFamily="49" charset="-122"/>
                <a:ea typeface="黑体" panose="02010609060101010101" pitchFamily="49" charset="-122"/>
              </a:rPr>
              <a:t>总线带宽</a:t>
            </a:r>
            <a:r>
              <a:rPr lang="en-US" altLang="zh-CN" sz="2800" b="0" dirty="0">
                <a:latin typeface="黑体" panose="02010609060101010101" pitchFamily="49" charset="-122"/>
                <a:ea typeface="黑体" panose="02010609060101010101" pitchFamily="49" charset="-122"/>
              </a:rPr>
              <a:t>)</a:t>
            </a:r>
            <a:r>
              <a:rPr lang="zh-CN" altLang="zh-CN" sz="2800" b="0" dirty="0" smtClean="0">
                <a:latin typeface="黑体" panose="02010609060101010101" pitchFamily="49" charset="-122"/>
                <a:ea typeface="黑体" panose="02010609060101010101" pitchFamily="49" charset="-122"/>
              </a:rPr>
              <a:t>是</a:t>
            </a:r>
            <a:r>
              <a:rPr lang="zh-CN" altLang="en-US" sz="2800" b="0" dirty="0" smtClean="0">
                <a:latin typeface="黑体" panose="02010609060101010101" pitchFamily="49" charset="-122"/>
                <a:ea typeface="黑体" panose="02010609060101010101" pitchFamily="49" charset="-122"/>
              </a:rPr>
              <a:t>：</a:t>
            </a:r>
            <a:r>
              <a:rPr lang="en-US" altLang="zh-CN" sz="2800" b="0" u="sng" dirty="0" smtClean="0">
                <a:latin typeface="黑体" panose="02010609060101010101" pitchFamily="49" charset="-122"/>
                <a:ea typeface="黑体" panose="02010609060101010101" pitchFamily="49" charset="-122"/>
              </a:rPr>
              <a:t> </a:t>
            </a:r>
            <a:endParaRPr lang="zh-CN" altLang="zh-CN" sz="2800" b="0" dirty="0">
              <a:latin typeface="黑体" panose="02010609060101010101" pitchFamily="49" charset="-122"/>
              <a:ea typeface="黑体" panose="02010609060101010101" pitchFamily="49" charset="-122"/>
            </a:endParaRPr>
          </a:p>
          <a:p>
            <a:pPr marL="0" indent="0">
              <a:buNone/>
            </a:pPr>
            <a:r>
              <a:rPr lang="en-US" altLang="zh-CN" sz="2800" b="0" dirty="0" smtClean="0">
                <a:latin typeface="黑体" panose="02010609060101010101" pitchFamily="49" charset="-122"/>
                <a:ea typeface="黑体" panose="02010609060101010101" pitchFamily="49" charset="-122"/>
              </a:rPr>
              <a:t>	A 132 </a:t>
            </a:r>
            <a:r>
              <a:rPr lang="en-US" altLang="zh-CN" sz="2800" b="0" dirty="0">
                <a:latin typeface="黑体" panose="02010609060101010101" pitchFamily="49" charset="-122"/>
                <a:ea typeface="黑体" panose="02010609060101010101" pitchFamily="49" charset="-122"/>
              </a:rPr>
              <a:t>MB/s	</a:t>
            </a:r>
            <a:r>
              <a:rPr lang="en-US" altLang="zh-CN" sz="2800" b="0" dirty="0" smtClean="0">
                <a:latin typeface="黑体" panose="02010609060101010101" pitchFamily="49" charset="-122"/>
                <a:ea typeface="黑体" panose="02010609060101010101" pitchFamily="49" charset="-122"/>
              </a:rPr>
              <a:t>	B 264 </a:t>
            </a:r>
            <a:r>
              <a:rPr lang="en-US" altLang="zh-CN" sz="2800" b="0" dirty="0">
                <a:latin typeface="黑体" panose="02010609060101010101" pitchFamily="49" charset="-122"/>
                <a:ea typeface="黑体" panose="02010609060101010101" pitchFamily="49" charset="-122"/>
              </a:rPr>
              <a:t>MB/s	</a:t>
            </a:r>
            <a:endParaRPr lang="en-US" altLang="zh-CN" sz="2800" b="0" dirty="0" smtClean="0">
              <a:latin typeface="黑体" panose="02010609060101010101" pitchFamily="49" charset="-122"/>
              <a:ea typeface="黑体" panose="02010609060101010101" pitchFamily="49" charset="-122"/>
            </a:endParaRPr>
          </a:p>
          <a:p>
            <a:pPr marL="0" indent="0">
              <a:buNone/>
            </a:pPr>
            <a:r>
              <a:rPr lang="en-US" altLang="zh-CN" sz="2800" b="0" dirty="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C 528 MB/s	</a:t>
            </a:r>
            <a:r>
              <a:rPr lang="en-US" altLang="zh-CN" sz="2800" b="0" dirty="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D 1056 </a:t>
            </a:r>
            <a:r>
              <a:rPr lang="en-US" altLang="zh-CN" sz="2800" b="0" dirty="0">
                <a:latin typeface="黑体" panose="02010609060101010101" pitchFamily="49" charset="-122"/>
                <a:ea typeface="黑体" panose="02010609060101010101" pitchFamily="49" charset="-122"/>
              </a:rPr>
              <a:t>MB/s</a:t>
            </a:r>
            <a:endParaRPr lang="zh-CN" altLang="zh-CN" sz="2800" b="0" dirty="0">
              <a:latin typeface="黑体" panose="02010609060101010101" pitchFamily="49" charset="-122"/>
              <a:ea typeface="黑体" panose="02010609060101010101" pitchFamily="49" charset="-122"/>
            </a:endParaRPr>
          </a:p>
          <a:p>
            <a:endParaRPr lang="en-US" altLang="zh-CN" sz="2800" kern="1200" dirty="0" smtClean="0">
              <a:latin typeface="Times New Roman" pitchFamily="18" charset="0"/>
            </a:endParaRPr>
          </a:p>
          <a:p>
            <a:r>
              <a:rPr lang="en-US" altLang="zh-CN" sz="3200" kern="1200" dirty="0" smtClean="0">
                <a:solidFill>
                  <a:srgbClr val="B20E12"/>
                </a:solidFill>
                <a:latin typeface="+mn-ea"/>
              </a:rPr>
              <a:t>66M×2×4B=528MB</a:t>
            </a:r>
            <a:endParaRPr lang="zh-CN" altLang="en-US" sz="3200" b="0" dirty="0">
              <a:solidFill>
                <a:srgbClr val="B20E12"/>
              </a:solidFill>
              <a:latin typeface="+mn-ea"/>
            </a:endParaRPr>
          </a:p>
        </p:txBody>
      </p:sp>
    </p:spTree>
    <p:extLst>
      <p:ext uri="{BB962C8B-B14F-4D97-AF65-F5344CB8AC3E}">
        <p14:creationId xmlns:p14="http://schemas.microsoft.com/office/powerpoint/2010/main" val="164568079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6875" y="457200"/>
            <a:ext cx="7896225" cy="5876925"/>
          </a:xfrm>
        </p:spPr>
        <p:txBody>
          <a:bodyPr/>
          <a:lstStyle/>
          <a:p>
            <a:r>
              <a:rPr lang="en-US" altLang="zh-CN" sz="2800" b="0" dirty="0" smtClean="0">
                <a:latin typeface="黑体" panose="02010609060101010101" pitchFamily="49" charset="-122"/>
                <a:ea typeface="黑体" panose="02010609060101010101" pitchFamily="49" charset="-122"/>
              </a:rPr>
              <a:t>[2014</a:t>
            </a:r>
            <a:r>
              <a:rPr lang="zh-CN" altLang="en-US" sz="2800" b="0" dirty="0" smtClean="0">
                <a:latin typeface="黑体" panose="02010609060101010101" pitchFamily="49" charset="-122"/>
                <a:ea typeface="黑体" panose="02010609060101010101" pitchFamily="49" charset="-122"/>
              </a:rPr>
              <a:t>年考研题</a:t>
            </a:r>
            <a:r>
              <a:rPr lang="en-US" altLang="zh-CN" sz="2800" b="0" dirty="0" smtClean="0">
                <a:latin typeface="黑体" panose="02010609060101010101" pitchFamily="49" charset="-122"/>
                <a:ea typeface="黑体" panose="02010609060101010101" pitchFamily="49" charset="-122"/>
              </a:rPr>
              <a:t>] </a:t>
            </a:r>
            <a:r>
              <a:rPr lang="zh-CN" altLang="zh-CN" sz="2800" b="0" dirty="0" smtClean="0">
                <a:latin typeface="黑体" panose="02010609060101010101" pitchFamily="49" charset="-122"/>
                <a:ea typeface="黑体" panose="02010609060101010101" pitchFamily="49" charset="-122"/>
              </a:rPr>
              <a:t>一</a:t>
            </a:r>
            <a:r>
              <a:rPr lang="zh-CN" altLang="zh-CN" sz="2800" b="0" dirty="0">
                <a:latin typeface="黑体" panose="02010609060101010101" pitchFamily="49" charset="-122"/>
                <a:ea typeface="黑体" panose="02010609060101010101" pitchFamily="49" charset="-122"/>
              </a:rPr>
              <a:t>次总线事务中，主设备只需给出一个首地址，从设备就能从首地址开始的若干连 续单元读出或写入多个数据。这种总线事务方式</a:t>
            </a:r>
            <a:r>
              <a:rPr lang="zh-CN" altLang="zh-CN" sz="2800" b="0" dirty="0" smtClean="0">
                <a:latin typeface="黑体" panose="02010609060101010101" pitchFamily="49" charset="-122"/>
                <a:ea typeface="黑体" panose="02010609060101010101" pitchFamily="49" charset="-122"/>
              </a:rPr>
              <a:t>称为</a:t>
            </a:r>
            <a:endParaRPr lang="zh-CN" altLang="zh-CN" sz="2800" b="0" dirty="0">
              <a:latin typeface="黑体" panose="02010609060101010101" pitchFamily="49" charset="-122"/>
              <a:ea typeface="黑体" panose="02010609060101010101" pitchFamily="49" charset="-122"/>
            </a:endParaRPr>
          </a:p>
          <a:p>
            <a:pPr marL="0" indent="0">
              <a:buNone/>
            </a:pPr>
            <a:r>
              <a:rPr lang="en-US" altLang="zh-CN" sz="2800" b="0" dirty="0" smtClean="0">
                <a:latin typeface="黑体" panose="02010609060101010101" pitchFamily="49" charset="-122"/>
                <a:ea typeface="黑体" panose="02010609060101010101" pitchFamily="49" charset="-122"/>
              </a:rPr>
              <a:t>	A</a:t>
            </a:r>
            <a:r>
              <a:rPr lang="zh-CN" altLang="zh-CN" sz="2800" b="0" dirty="0">
                <a:latin typeface="黑体" panose="02010609060101010101" pitchFamily="49" charset="-122"/>
                <a:ea typeface="黑体" panose="02010609060101010101" pitchFamily="49" charset="-122"/>
              </a:rPr>
              <a:t>．并行传输</a:t>
            </a:r>
            <a:r>
              <a:rPr lang="en-US" altLang="zh-CN" sz="2800" b="0" dirty="0">
                <a:latin typeface="黑体" panose="02010609060101010101" pitchFamily="49" charset="-122"/>
                <a:ea typeface="黑体" panose="02010609060101010101" pitchFamily="49" charset="-122"/>
              </a:rPr>
              <a:t>	B</a:t>
            </a:r>
            <a:r>
              <a:rPr lang="zh-CN" altLang="zh-CN" sz="2800" b="0" dirty="0">
                <a:latin typeface="黑体" panose="02010609060101010101" pitchFamily="49" charset="-122"/>
                <a:ea typeface="黑体" panose="02010609060101010101" pitchFamily="49" charset="-122"/>
              </a:rPr>
              <a:t>．串行传输</a:t>
            </a:r>
            <a:r>
              <a:rPr lang="en-US" altLang="zh-CN" sz="2800" b="0" dirty="0">
                <a:latin typeface="黑体" panose="02010609060101010101" pitchFamily="49" charset="-122"/>
                <a:ea typeface="黑体" panose="02010609060101010101" pitchFamily="49" charset="-122"/>
              </a:rPr>
              <a:t>	</a:t>
            </a:r>
            <a:endParaRPr lang="en-US" altLang="zh-CN" sz="2800" b="0" dirty="0" smtClean="0">
              <a:latin typeface="黑体" panose="02010609060101010101" pitchFamily="49" charset="-122"/>
              <a:ea typeface="黑体" panose="02010609060101010101" pitchFamily="49" charset="-122"/>
            </a:endParaRPr>
          </a:p>
          <a:p>
            <a:pPr marL="0" indent="0">
              <a:buNone/>
            </a:pPr>
            <a:r>
              <a:rPr lang="en-US" altLang="zh-CN" sz="2800" b="0" dirty="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C</a:t>
            </a:r>
            <a:r>
              <a:rPr lang="zh-CN" altLang="zh-CN" sz="2800" b="0" dirty="0">
                <a:latin typeface="黑体" panose="02010609060101010101" pitchFamily="49" charset="-122"/>
                <a:ea typeface="黑体" panose="02010609060101010101" pitchFamily="49" charset="-122"/>
              </a:rPr>
              <a:t>．突发传输</a:t>
            </a:r>
            <a:r>
              <a:rPr lang="en-US" altLang="zh-CN" sz="2800" b="0" dirty="0">
                <a:latin typeface="黑体" panose="02010609060101010101" pitchFamily="49" charset="-122"/>
                <a:ea typeface="黑体" panose="02010609060101010101" pitchFamily="49" charset="-122"/>
              </a:rPr>
              <a:t>	D</a:t>
            </a:r>
            <a:r>
              <a:rPr lang="zh-CN" altLang="zh-CN" sz="2800" b="0" dirty="0">
                <a:latin typeface="黑体" panose="02010609060101010101" pitchFamily="49" charset="-122"/>
                <a:ea typeface="黑体" panose="02010609060101010101" pitchFamily="49" charset="-122"/>
              </a:rPr>
              <a:t>．同步传输</a:t>
            </a:r>
          </a:p>
          <a:p>
            <a:endParaRPr lang="zh-CN" altLang="en-US" sz="2800" b="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33041503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idx="4294967295"/>
          </p:nvPr>
        </p:nvSpPr>
        <p:spPr/>
        <p:txBody>
          <a:bodyPr anchorCtr="0"/>
          <a:lstStyle/>
          <a:p>
            <a:r>
              <a:rPr lang="zh-CN" altLang="en-US" dirty="0" smtClean="0">
                <a:latin typeface="黑体" panose="02010609060101010101" pitchFamily="49" charset="-122"/>
                <a:ea typeface="黑体" panose="02010609060101010101" pitchFamily="49" charset="-122"/>
              </a:rPr>
              <a:t>知识点  总线</a:t>
            </a:r>
            <a:r>
              <a:rPr lang="zh-CN" altLang="en-US" dirty="0">
                <a:latin typeface="黑体" panose="02010609060101010101" pitchFamily="49" charset="-122"/>
                <a:ea typeface="黑体" panose="02010609060101010101" pitchFamily="49" charset="-122"/>
              </a:rPr>
              <a:t>数据传送模式</a:t>
            </a:r>
            <a:endParaRPr lang="zh-CN" altLang="en-US" dirty="0"/>
          </a:p>
        </p:txBody>
      </p:sp>
      <p:sp>
        <p:nvSpPr>
          <p:cNvPr id="17413" name="Rectangle 3"/>
          <p:cNvSpPr>
            <a:spLocks noGrp="1" noChangeArrowheads="1"/>
          </p:cNvSpPr>
          <p:nvPr>
            <p:ph type="body" idx="4294967295"/>
          </p:nvPr>
        </p:nvSpPr>
        <p:spPr/>
        <p:txBody>
          <a:bodyPr/>
          <a:lstStyle/>
          <a:p>
            <a:r>
              <a:rPr lang="zh-CN" altLang="en-US" sz="2800" b="0" dirty="0">
                <a:latin typeface="黑体" panose="02010609060101010101" pitchFamily="49" charset="-122"/>
                <a:ea typeface="黑体" panose="02010609060101010101" pitchFamily="49" charset="-122"/>
              </a:rPr>
              <a:t>块传送操作：</a:t>
            </a:r>
          </a:p>
          <a:p>
            <a:pPr lvl="1"/>
            <a:r>
              <a:rPr lang="zh-CN" altLang="en-US" sz="2800" dirty="0">
                <a:latin typeface="黑体" panose="02010609060101010101" pitchFamily="49" charset="-122"/>
                <a:ea typeface="黑体" panose="02010609060101010101" pitchFamily="49" charset="-122"/>
              </a:rPr>
              <a:t>给出块的起始地址</a:t>
            </a:r>
          </a:p>
          <a:p>
            <a:pPr lvl="1"/>
            <a:r>
              <a:rPr lang="zh-CN" altLang="en-US" sz="2800" dirty="0">
                <a:latin typeface="黑体" panose="02010609060101010101" pitchFamily="49" charset="-122"/>
                <a:ea typeface="黑体" panose="02010609060101010101" pitchFamily="49" charset="-122"/>
              </a:rPr>
              <a:t>然后对固定块长度的数据一个接一个地读出或</a:t>
            </a:r>
            <a:r>
              <a:rPr lang="zh-CN" altLang="en-US" sz="2800" dirty="0" smtClean="0">
                <a:latin typeface="黑体" panose="02010609060101010101" pitchFamily="49" charset="-122"/>
                <a:ea typeface="黑体" panose="02010609060101010101" pitchFamily="49" charset="-122"/>
              </a:rPr>
              <a:t>写入</a:t>
            </a:r>
            <a:endParaRPr lang="zh-CN" altLang="en-US" sz="2800" dirty="0">
              <a:latin typeface="黑体" panose="02010609060101010101" pitchFamily="49" charset="-122"/>
              <a:ea typeface="黑体" panose="02010609060101010101" pitchFamily="49" charset="-122"/>
            </a:endParaRPr>
          </a:p>
          <a:p>
            <a:pPr lvl="1"/>
            <a:r>
              <a:rPr lang="zh-CN" altLang="en-US" sz="2800" dirty="0">
                <a:latin typeface="黑体" panose="02010609060101010101" pitchFamily="49" charset="-122"/>
                <a:ea typeface="黑体" panose="02010609060101010101" pitchFamily="49" charset="-122"/>
              </a:rPr>
              <a:t>对于</a:t>
            </a:r>
            <a:r>
              <a:rPr lang="en-US" altLang="zh-CN" sz="2800" dirty="0">
                <a:latin typeface="黑体" panose="02010609060101010101" pitchFamily="49" charset="-122"/>
                <a:ea typeface="黑体" panose="02010609060101010101" pitchFamily="49" charset="-122"/>
              </a:rPr>
              <a:t>CPU</a:t>
            </a:r>
            <a:r>
              <a:rPr lang="zh-CN" altLang="en-US" sz="2800" dirty="0">
                <a:latin typeface="黑体" panose="02010609060101010101" pitchFamily="49" charset="-122"/>
                <a:ea typeface="黑体" panose="02010609060101010101" pitchFamily="49" charset="-122"/>
              </a:rPr>
              <a:t>（主方）存储器（从方）而言的块传送，常称为</a:t>
            </a:r>
            <a:r>
              <a:rPr lang="zh-CN" altLang="en-US" sz="2800" dirty="0">
                <a:solidFill>
                  <a:srgbClr val="B20E12"/>
                </a:solidFill>
                <a:latin typeface="黑体" panose="02010609060101010101" pitchFamily="49" charset="-122"/>
                <a:ea typeface="黑体" panose="02010609060101010101" pitchFamily="49" charset="-122"/>
              </a:rPr>
              <a:t>猝发式传送</a:t>
            </a:r>
          </a:p>
          <a:p>
            <a:pPr lvl="1"/>
            <a:r>
              <a:rPr lang="zh-CN" altLang="en-US" sz="2800" dirty="0">
                <a:latin typeface="黑体" panose="02010609060101010101" pitchFamily="49" charset="-122"/>
                <a:ea typeface="黑体" panose="02010609060101010101" pitchFamily="49" charset="-122"/>
              </a:rPr>
              <a:t>块长一般固定为数据线宽度（存储器字长）的</a:t>
            </a:r>
            <a:r>
              <a:rPr lang="en-US" altLang="zh-CN" sz="2800" dirty="0">
                <a:latin typeface="黑体" panose="02010609060101010101" pitchFamily="49" charset="-122"/>
                <a:ea typeface="黑体" panose="02010609060101010101" pitchFamily="49" charset="-122"/>
              </a:rPr>
              <a:t>4</a:t>
            </a:r>
            <a:r>
              <a:rPr lang="zh-CN" altLang="en-US" sz="2800" dirty="0">
                <a:latin typeface="黑体" panose="02010609060101010101" pitchFamily="49" charset="-122"/>
                <a:ea typeface="黑体" panose="02010609060101010101" pitchFamily="49" charset="-122"/>
              </a:rPr>
              <a:t>倍。例如一个</a:t>
            </a:r>
            <a:r>
              <a:rPr lang="en-US" altLang="zh-CN" sz="2800" dirty="0">
                <a:latin typeface="黑体" panose="02010609060101010101" pitchFamily="49" charset="-122"/>
                <a:ea typeface="黑体" panose="02010609060101010101" pitchFamily="49" charset="-122"/>
              </a:rPr>
              <a:t>64</a:t>
            </a:r>
            <a:r>
              <a:rPr lang="zh-CN" altLang="en-US" sz="2800" dirty="0">
                <a:latin typeface="黑体" panose="02010609060101010101" pitchFamily="49" charset="-122"/>
                <a:ea typeface="黑体" panose="02010609060101010101" pitchFamily="49" charset="-122"/>
              </a:rPr>
              <a:t>位数据线的总线，一次猝发式传送可达</a:t>
            </a:r>
            <a:r>
              <a:rPr lang="en-US" altLang="zh-CN" sz="2800" dirty="0">
                <a:latin typeface="黑体" panose="02010609060101010101" pitchFamily="49" charset="-122"/>
                <a:ea typeface="黑体" panose="02010609060101010101" pitchFamily="49" charset="-122"/>
              </a:rPr>
              <a:t>256</a:t>
            </a:r>
            <a:r>
              <a:rPr lang="zh-CN" altLang="en-US" sz="2800" dirty="0">
                <a:latin typeface="黑体" panose="02010609060101010101" pitchFamily="49" charset="-122"/>
                <a:ea typeface="黑体" panose="02010609060101010101" pitchFamily="49" charset="-122"/>
              </a:rPr>
              <a:t>位。这在超标量流水中十分</a:t>
            </a:r>
            <a:r>
              <a:rPr lang="zh-CN" altLang="en-US" sz="2800" dirty="0" smtClean="0">
                <a:latin typeface="黑体" panose="02010609060101010101" pitchFamily="49" charset="-122"/>
                <a:ea typeface="黑体" panose="02010609060101010101" pitchFamily="49" charset="-122"/>
              </a:rPr>
              <a:t>有用</a:t>
            </a:r>
            <a:endParaRPr lang="zh-CN" altLang="en-US" sz="28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8978984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6875" y="457200"/>
            <a:ext cx="7896225" cy="5876925"/>
          </a:xfrm>
        </p:spPr>
        <p:txBody>
          <a:bodyPr/>
          <a:lstStyle/>
          <a:p>
            <a:r>
              <a:rPr lang="en-US" altLang="zh-CN" sz="2800" b="0" dirty="0" smtClean="0">
                <a:latin typeface="黑体" panose="02010609060101010101" pitchFamily="49" charset="-122"/>
                <a:ea typeface="黑体" panose="02010609060101010101" pitchFamily="49" charset="-122"/>
              </a:rPr>
              <a:t>[2013</a:t>
            </a:r>
            <a:r>
              <a:rPr lang="zh-CN" altLang="en-US" sz="2800" b="0" dirty="0" smtClean="0">
                <a:latin typeface="黑体" panose="02010609060101010101" pitchFamily="49" charset="-122"/>
                <a:ea typeface="黑体" panose="02010609060101010101" pitchFamily="49" charset="-122"/>
              </a:rPr>
              <a:t>年考研题</a:t>
            </a:r>
            <a:r>
              <a:rPr lang="en-US" altLang="zh-CN" sz="2800" b="0" dirty="0" smtClean="0">
                <a:latin typeface="黑体" panose="02010609060101010101" pitchFamily="49" charset="-122"/>
                <a:ea typeface="黑体" panose="02010609060101010101" pitchFamily="49" charset="-122"/>
              </a:rPr>
              <a:t>] </a:t>
            </a:r>
            <a:r>
              <a:rPr lang="zh-CN" altLang="en-US" sz="2800" b="0" dirty="0" smtClean="0">
                <a:latin typeface="黑体" panose="02010609060101010101" pitchFamily="49" charset="-122"/>
                <a:ea typeface="黑体" panose="02010609060101010101" pitchFamily="49" charset="-122"/>
              </a:rPr>
              <a:t>下列</a:t>
            </a:r>
            <a:r>
              <a:rPr lang="zh-CN" altLang="en-US" sz="2800" b="0" dirty="0">
                <a:latin typeface="黑体" panose="02010609060101010101" pitchFamily="49" charset="-122"/>
                <a:ea typeface="黑体" panose="02010609060101010101" pitchFamily="49" charset="-122"/>
              </a:rPr>
              <a:t>选项中，用于设备和设备控制器（</a:t>
            </a:r>
            <a:r>
              <a:rPr lang="en-US" altLang="zh-CN" sz="2800" b="0" dirty="0">
                <a:latin typeface="黑体" panose="02010609060101010101" pitchFamily="49" charset="-122"/>
                <a:ea typeface="黑体" panose="02010609060101010101" pitchFamily="49" charset="-122"/>
              </a:rPr>
              <a:t>I/O</a:t>
            </a:r>
            <a:r>
              <a:rPr lang="zh-CN" altLang="en-US" sz="2800" b="0" dirty="0">
                <a:latin typeface="黑体" panose="02010609060101010101" pitchFamily="49" charset="-122"/>
                <a:ea typeface="黑体" panose="02010609060101010101" pitchFamily="49" charset="-122"/>
              </a:rPr>
              <a:t>接口）之间互连的接口标准是 </a:t>
            </a:r>
          </a:p>
          <a:p>
            <a:pPr marL="0" indent="0">
              <a:buNone/>
            </a:pPr>
            <a:r>
              <a:rPr lang="en-US" altLang="zh-CN" sz="2800" b="0" dirty="0">
                <a:latin typeface="+mn-ea"/>
              </a:rPr>
              <a:t> </a:t>
            </a:r>
            <a:r>
              <a:rPr lang="en-US" altLang="zh-CN" sz="2800" b="0" dirty="0" smtClean="0">
                <a:latin typeface="+mn-ea"/>
              </a:rPr>
              <a:t>    	A</a:t>
            </a:r>
            <a:r>
              <a:rPr lang="en-US" altLang="zh-CN" sz="2800" b="0" dirty="0">
                <a:latin typeface="+mn-ea"/>
              </a:rPr>
              <a:t>. PCI        </a:t>
            </a:r>
            <a:r>
              <a:rPr lang="en-US" altLang="zh-CN" sz="2800" b="0" dirty="0" smtClean="0">
                <a:latin typeface="+mn-ea"/>
              </a:rPr>
              <a:t>	B</a:t>
            </a:r>
            <a:r>
              <a:rPr lang="en-US" altLang="zh-CN" sz="2800" b="0" dirty="0">
                <a:latin typeface="+mn-ea"/>
              </a:rPr>
              <a:t>. USB        </a:t>
            </a:r>
            <a:endParaRPr lang="en-US" altLang="zh-CN" sz="2800" b="0" dirty="0" smtClean="0">
              <a:latin typeface="+mn-ea"/>
            </a:endParaRPr>
          </a:p>
          <a:p>
            <a:pPr marL="0" indent="0">
              <a:buNone/>
            </a:pPr>
            <a:r>
              <a:rPr lang="en-US" altLang="zh-CN" sz="2800" b="0" dirty="0">
                <a:latin typeface="+mn-ea"/>
              </a:rPr>
              <a:t> </a:t>
            </a:r>
            <a:r>
              <a:rPr lang="en-US" altLang="zh-CN" sz="2800" b="0" dirty="0" smtClean="0">
                <a:latin typeface="+mn-ea"/>
              </a:rPr>
              <a:t>	C</a:t>
            </a:r>
            <a:r>
              <a:rPr lang="en-US" altLang="zh-CN" sz="2800" b="0" dirty="0">
                <a:latin typeface="+mn-ea"/>
              </a:rPr>
              <a:t>. AGP        </a:t>
            </a:r>
            <a:r>
              <a:rPr lang="en-US" altLang="zh-CN" sz="2800" b="0" dirty="0" smtClean="0">
                <a:latin typeface="+mn-ea"/>
              </a:rPr>
              <a:t>	D</a:t>
            </a:r>
            <a:r>
              <a:rPr lang="en-US" altLang="zh-CN" sz="2800" b="0" dirty="0">
                <a:latin typeface="+mn-ea"/>
              </a:rPr>
              <a:t>. </a:t>
            </a:r>
            <a:r>
              <a:rPr lang="en-US" altLang="zh-CN" sz="2800" b="0" dirty="0" smtClean="0">
                <a:latin typeface="+mn-ea"/>
              </a:rPr>
              <a:t>PCI-Express</a:t>
            </a:r>
          </a:p>
          <a:p>
            <a:pPr marL="0" indent="0">
              <a:buNone/>
            </a:pPr>
            <a:endParaRPr lang="en-US" altLang="zh-CN" sz="2800" b="0" dirty="0">
              <a:latin typeface="+mn-ea"/>
            </a:endParaRPr>
          </a:p>
          <a:p>
            <a:pPr marL="0" indent="0">
              <a:buNone/>
            </a:pPr>
            <a:endParaRPr lang="en-US" altLang="zh-CN" sz="2800" b="0" dirty="0" smtClean="0">
              <a:latin typeface="+mn-ea"/>
            </a:endParaRPr>
          </a:p>
          <a:p>
            <a:pPr marL="0" indent="0">
              <a:buNone/>
            </a:pPr>
            <a:r>
              <a:rPr lang="zh-CN" altLang="en-US" sz="2800" b="0" dirty="0" smtClean="0">
                <a:latin typeface="+mn-ea"/>
              </a:rPr>
              <a:t>系统总线</a:t>
            </a:r>
            <a:endParaRPr lang="en-US" altLang="zh-CN" sz="2800" b="0" dirty="0" smtClean="0">
              <a:latin typeface="+mn-ea"/>
            </a:endParaRPr>
          </a:p>
          <a:p>
            <a:pPr marL="0" indent="0">
              <a:buNone/>
            </a:pPr>
            <a:r>
              <a:rPr lang="zh-CN" altLang="en-US" sz="2800" b="0" dirty="0" smtClean="0">
                <a:latin typeface="+mn-ea"/>
              </a:rPr>
              <a:t>主机</a:t>
            </a:r>
            <a:r>
              <a:rPr lang="en-US" altLang="zh-CN" sz="2800" b="0" dirty="0" smtClean="0">
                <a:latin typeface="+mn-ea"/>
              </a:rPr>
              <a:t>IO</a:t>
            </a:r>
            <a:r>
              <a:rPr lang="zh-CN" altLang="en-US" sz="2800" b="0" dirty="0" smtClean="0">
                <a:latin typeface="+mn-ea"/>
              </a:rPr>
              <a:t>总线</a:t>
            </a:r>
            <a:endParaRPr lang="en-US" altLang="zh-CN" sz="2800" b="0" dirty="0" smtClean="0">
              <a:latin typeface="+mn-ea"/>
            </a:endParaRPr>
          </a:p>
          <a:p>
            <a:pPr marL="0" indent="0">
              <a:buNone/>
            </a:pPr>
            <a:r>
              <a:rPr lang="en-US" altLang="zh-CN" sz="2800" b="0" dirty="0" smtClean="0">
                <a:latin typeface="+mn-ea"/>
              </a:rPr>
              <a:t>IO</a:t>
            </a:r>
            <a:r>
              <a:rPr lang="zh-CN" altLang="en-US" sz="2800" b="0" dirty="0" smtClean="0">
                <a:latin typeface="+mn-ea"/>
              </a:rPr>
              <a:t>总线：设备和设备控制器之间互联</a:t>
            </a:r>
            <a:endParaRPr lang="zh-CN" altLang="en-US" sz="2800" b="0" dirty="0">
              <a:latin typeface="+mn-ea"/>
            </a:endParaRPr>
          </a:p>
        </p:txBody>
      </p:sp>
    </p:spTree>
    <p:extLst>
      <p:ext uri="{BB962C8B-B14F-4D97-AF65-F5344CB8AC3E}">
        <p14:creationId xmlns:p14="http://schemas.microsoft.com/office/powerpoint/2010/main" val="3417967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6875" y="457200"/>
            <a:ext cx="8213725" cy="5876925"/>
          </a:xfrm>
        </p:spPr>
        <p:txBody>
          <a:bodyPr/>
          <a:lstStyle/>
          <a:p>
            <a:r>
              <a:rPr lang="en-US" altLang="zh-CN" sz="2800" b="0" dirty="0" smtClean="0">
                <a:latin typeface="黑体" panose="02010609060101010101" pitchFamily="49" charset="-122"/>
                <a:ea typeface="黑体" panose="02010609060101010101" pitchFamily="49" charset="-122"/>
              </a:rPr>
              <a:t>[2014</a:t>
            </a:r>
            <a:r>
              <a:rPr lang="zh-CN" altLang="en-US" sz="2800" b="0" dirty="0" smtClean="0">
                <a:latin typeface="黑体" panose="02010609060101010101" pitchFamily="49" charset="-122"/>
                <a:ea typeface="黑体" panose="02010609060101010101" pitchFamily="49" charset="-122"/>
              </a:rPr>
              <a:t>年考研题</a:t>
            </a:r>
            <a:r>
              <a:rPr lang="en-US" altLang="zh-CN" sz="2800" b="0" dirty="0" smtClean="0">
                <a:latin typeface="黑体" panose="02010609060101010101" pitchFamily="49" charset="-122"/>
                <a:ea typeface="黑体" panose="02010609060101010101" pitchFamily="49" charset="-122"/>
              </a:rPr>
              <a:t>]</a:t>
            </a:r>
            <a:r>
              <a:rPr lang="zh-CN" altLang="zh-CN" sz="2800" b="0" dirty="0" smtClean="0">
                <a:latin typeface="黑体" panose="02010609060101010101" pitchFamily="49" charset="-122"/>
                <a:ea typeface="黑体" panose="02010609060101010101" pitchFamily="49" charset="-122"/>
              </a:rPr>
              <a:t>下列</a:t>
            </a:r>
            <a:r>
              <a:rPr lang="zh-CN" altLang="zh-CN" sz="2800" b="0" dirty="0">
                <a:latin typeface="黑体" panose="02010609060101010101" pitchFamily="49" charset="-122"/>
                <a:ea typeface="黑体" panose="02010609060101010101" pitchFamily="49" charset="-122"/>
              </a:rPr>
              <a:t>有关 </a:t>
            </a:r>
            <a:r>
              <a:rPr lang="en-US" altLang="zh-CN" sz="2800" b="0" dirty="0">
                <a:latin typeface="黑体" panose="02010609060101010101" pitchFamily="49" charset="-122"/>
                <a:ea typeface="黑体" panose="02010609060101010101" pitchFamily="49" charset="-122"/>
              </a:rPr>
              <a:t>I/O </a:t>
            </a:r>
            <a:r>
              <a:rPr lang="zh-CN" altLang="zh-CN" sz="2800" b="0" dirty="0">
                <a:latin typeface="黑体" panose="02010609060101010101" pitchFamily="49" charset="-122"/>
                <a:ea typeface="黑体" panose="02010609060101010101" pitchFamily="49" charset="-122"/>
              </a:rPr>
              <a:t>接口的叙述中，</a:t>
            </a:r>
            <a:r>
              <a:rPr lang="zh-CN" altLang="zh-CN" sz="2800" b="0" dirty="0" smtClean="0">
                <a:latin typeface="黑体" panose="02010609060101010101" pitchFamily="49" charset="-122"/>
                <a:ea typeface="黑体" panose="02010609060101010101" pitchFamily="49" charset="-122"/>
              </a:rPr>
              <a:t>错误的是</a:t>
            </a:r>
            <a:r>
              <a:rPr lang="zh-CN" altLang="en-US" sz="2800" b="0" dirty="0" smtClean="0">
                <a:latin typeface="黑体" panose="02010609060101010101" pitchFamily="49" charset="-122"/>
                <a:ea typeface="黑体" panose="02010609060101010101" pitchFamily="49" charset="-122"/>
              </a:rPr>
              <a:t>：</a:t>
            </a:r>
            <a:r>
              <a:rPr lang="en-US" altLang="zh-CN" sz="2800" b="0" u="sng" dirty="0" smtClean="0">
                <a:latin typeface="黑体" panose="02010609060101010101" pitchFamily="49" charset="-122"/>
                <a:ea typeface="黑体" panose="02010609060101010101" pitchFamily="49" charset="-122"/>
              </a:rPr>
              <a:t> </a:t>
            </a:r>
          </a:p>
          <a:p>
            <a:pPr marL="0" indent="0">
              <a:buNone/>
            </a:pPr>
            <a:r>
              <a:rPr lang="en-US" altLang="zh-CN" sz="2800" b="0" dirty="0" smtClean="0">
                <a:latin typeface="黑体" panose="02010609060101010101" pitchFamily="49" charset="-122"/>
                <a:ea typeface="黑体" panose="02010609060101010101" pitchFamily="49" charset="-122"/>
              </a:rPr>
              <a:t>A</a:t>
            </a:r>
            <a:r>
              <a:rPr lang="zh-CN" altLang="zh-CN" sz="2800" b="0" dirty="0">
                <a:latin typeface="黑体" panose="02010609060101010101" pitchFamily="49" charset="-122"/>
                <a:ea typeface="黑体" panose="02010609060101010101" pitchFamily="49" charset="-122"/>
              </a:rPr>
              <a:t>．状态端口和控制端口可以合用同一个寄存器 </a:t>
            </a:r>
          </a:p>
          <a:p>
            <a:pPr marL="0" indent="0">
              <a:buNone/>
            </a:pPr>
            <a:r>
              <a:rPr lang="en-US" altLang="zh-CN" sz="2800" b="0" dirty="0">
                <a:latin typeface="黑体" panose="02010609060101010101" pitchFamily="49" charset="-122"/>
                <a:ea typeface="黑体" panose="02010609060101010101" pitchFamily="49" charset="-122"/>
              </a:rPr>
              <a:t>B</a:t>
            </a:r>
            <a:r>
              <a:rPr lang="zh-CN" altLang="zh-CN" sz="2800" b="0" dirty="0">
                <a:latin typeface="黑体" panose="02010609060101010101" pitchFamily="49" charset="-122"/>
                <a:ea typeface="黑体" panose="02010609060101010101" pitchFamily="49" charset="-122"/>
              </a:rPr>
              <a:t>．</a:t>
            </a:r>
            <a:r>
              <a:rPr lang="en-US" altLang="zh-CN" sz="2800" b="0" dirty="0" smtClean="0">
                <a:latin typeface="黑体" panose="02010609060101010101" pitchFamily="49" charset="-122"/>
                <a:ea typeface="黑体" panose="02010609060101010101" pitchFamily="49" charset="-122"/>
              </a:rPr>
              <a:t>I/O</a:t>
            </a:r>
            <a:r>
              <a:rPr lang="zh-CN" altLang="zh-CN" sz="2800" b="0" dirty="0" smtClean="0">
                <a:latin typeface="黑体" panose="02010609060101010101" pitchFamily="49" charset="-122"/>
                <a:ea typeface="黑体" panose="02010609060101010101" pitchFamily="49" charset="-122"/>
              </a:rPr>
              <a:t>接口中</a:t>
            </a:r>
            <a:r>
              <a:rPr lang="en-US" altLang="zh-CN" sz="2800" b="0" dirty="0" smtClean="0">
                <a:latin typeface="黑体" panose="02010609060101010101" pitchFamily="49" charset="-122"/>
                <a:ea typeface="黑体" panose="02010609060101010101" pitchFamily="49" charset="-122"/>
              </a:rPr>
              <a:t>CPU</a:t>
            </a:r>
            <a:r>
              <a:rPr lang="zh-CN" altLang="zh-CN" sz="2800" b="0" dirty="0" smtClean="0">
                <a:latin typeface="黑体" panose="02010609060101010101" pitchFamily="49" charset="-122"/>
                <a:ea typeface="黑体" panose="02010609060101010101" pitchFamily="49" charset="-122"/>
              </a:rPr>
              <a:t>可</a:t>
            </a:r>
            <a:r>
              <a:rPr lang="zh-CN" altLang="zh-CN" sz="2800" b="0" dirty="0">
                <a:latin typeface="黑体" panose="02010609060101010101" pitchFamily="49" charset="-122"/>
                <a:ea typeface="黑体" panose="02010609060101010101" pitchFamily="49" charset="-122"/>
              </a:rPr>
              <a:t>访问的寄存器</a:t>
            </a:r>
            <a:r>
              <a:rPr lang="zh-CN" altLang="zh-CN" sz="2800" b="0" dirty="0" smtClean="0">
                <a:latin typeface="黑体" panose="02010609060101010101" pitchFamily="49" charset="-122"/>
                <a:ea typeface="黑体" panose="02010609060101010101" pitchFamily="49" charset="-122"/>
              </a:rPr>
              <a:t>称为</a:t>
            </a:r>
            <a:r>
              <a:rPr lang="en-US" altLang="zh-CN" sz="2800" b="0" dirty="0" smtClean="0">
                <a:latin typeface="黑体" panose="02010609060101010101" pitchFamily="49" charset="-122"/>
                <a:ea typeface="黑体" panose="02010609060101010101" pitchFamily="49" charset="-122"/>
              </a:rPr>
              <a:t>I/O</a:t>
            </a:r>
            <a:r>
              <a:rPr lang="zh-CN" altLang="zh-CN" sz="2800" b="0" dirty="0" smtClean="0">
                <a:latin typeface="黑体" panose="02010609060101010101" pitchFamily="49" charset="-122"/>
                <a:ea typeface="黑体" panose="02010609060101010101" pitchFamily="49" charset="-122"/>
              </a:rPr>
              <a:t>端口 </a:t>
            </a:r>
            <a:endParaRPr lang="zh-CN" altLang="zh-CN" sz="2800" b="0" dirty="0">
              <a:latin typeface="黑体" panose="02010609060101010101" pitchFamily="49" charset="-122"/>
              <a:ea typeface="黑体" panose="02010609060101010101" pitchFamily="49" charset="-122"/>
            </a:endParaRPr>
          </a:p>
          <a:p>
            <a:pPr marL="0" indent="0">
              <a:buNone/>
            </a:pPr>
            <a:r>
              <a:rPr lang="en-US" altLang="zh-CN" sz="2800" b="0" dirty="0">
                <a:latin typeface="黑体" panose="02010609060101010101" pitchFamily="49" charset="-122"/>
                <a:ea typeface="黑体" panose="02010609060101010101" pitchFamily="49" charset="-122"/>
              </a:rPr>
              <a:t>C</a:t>
            </a:r>
            <a:r>
              <a:rPr lang="zh-CN" altLang="zh-CN" sz="2800" b="0" dirty="0">
                <a:latin typeface="黑体" panose="02010609060101010101" pitchFamily="49" charset="-122"/>
                <a:ea typeface="黑体" panose="02010609060101010101" pitchFamily="49" charset="-122"/>
              </a:rPr>
              <a:t>．采用独立编址方式时，</a:t>
            </a:r>
            <a:r>
              <a:rPr lang="en-US" altLang="zh-CN" sz="2800" b="0" dirty="0">
                <a:latin typeface="黑体" panose="02010609060101010101" pitchFamily="49" charset="-122"/>
                <a:ea typeface="黑体" panose="02010609060101010101" pitchFamily="49" charset="-122"/>
              </a:rPr>
              <a:t>I/O </a:t>
            </a:r>
            <a:r>
              <a:rPr lang="zh-CN" altLang="zh-CN" sz="2800" b="0" dirty="0">
                <a:latin typeface="黑体" panose="02010609060101010101" pitchFamily="49" charset="-122"/>
                <a:ea typeface="黑体" panose="02010609060101010101" pitchFamily="49" charset="-122"/>
              </a:rPr>
              <a:t>端口地址和主存地址可能相同 </a:t>
            </a:r>
            <a:endParaRPr lang="en-US" altLang="zh-CN" sz="2800" b="0" dirty="0" smtClean="0">
              <a:latin typeface="黑体" panose="02010609060101010101" pitchFamily="49" charset="-122"/>
              <a:ea typeface="黑体" panose="02010609060101010101" pitchFamily="49" charset="-122"/>
            </a:endParaRPr>
          </a:p>
          <a:p>
            <a:pPr marL="0" indent="0">
              <a:buNone/>
            </a:pPr>
            <a:r>
              <a:rPr lang="en-US" altLang="zh-CN" sz="2800" b="0" dirty="0" smtClean="0">
                <a:latin typeface="黑体" panose="02010609060101010101" pitchFamily="49" charset="-122"/>
                <a:ea typeface="黑体" panose="02010609060101010101" pitchFamily="49" charset="-122"/>
              </a:rPr>
              <a:t>D</a:t>
            </a:r>
            <a:r>
              <a:rPr lang="zh-CN" altLang="zh-CN" sz="2800" b="0" dirty="0">
                <a:latin typeface="黑体" panose="02010609060101010101" pitchFamily="49" charset="-122"/>
                <a:ea typeface="黑体" panose="02010609060101010101" pitchFamily="49" charset="-122"/>
              </a:rPr>
              <a:t>．采用统一编址方式时，</a:t>
            </a:r>
            <a:r>
              <a:rPr lang="en-US" altLang="zh-CN" sz="2800" b="0" dirty="0" smtClean="0">
                <a:latin typeface="黑体" panose="02010609060101010101" pitchFamily="49" charset="-122"/>
                <a:ea typeface="黑体" panose="02010609060101010101" pitchFamily="49" charset="-122"/>
              </a:rPr>
              <a:t>CPU</a:t>
            </a:r>
            <a:r>
              <a:rPr lang="zh-CN" altLang="zh-CN" sz="2800" b="0" dirty="0" smtClean="0">
                <a:latin typeface="黑体" panose="02010609060101010101" pitchFamily="49" charset="-122"/>
                <a:ea typeface="黑体" panose="02010609060101010101" pitchFamily="49" charset="-122"/>
              </a:rPr>
              <a:t>不能</a:t>
            </a:r>
            <a:r>
              <a:rPr lang="zh-CN" altLang="zh-CN" sz="2800" b="0" dirty="0">
                <a:latin typeface="黑体" panose="02010609060101010101" pitchFamily="49" charset="-122"/>
                <a:ea typeface="黑体" panose="02010609060101010101" pitchFamily="49" charset="-122"/>
              </a:rPr>
              <a:t>用访存指令访问 </a:t>
            </a:r>
            <a:r>
              <a:rPr lang="en-US" altLang="zh-CN" sz="2800" b="0" dirty="0">
                <a:latin typeface="黑体" panose="02010609060101010101" pitchFamily="49" charset="-122"/>
                <a:ea typeface="黑体" panose="02010609060101010101" pitchFamily="49" charset="-122"/>
              </a:rPr>
              <a:t>I/O </a:t>
            </a:r>
            <a:r>
              <a:rPr lang="zh-CN" altLang="zh-CN" sz="2800" b="0" dirty="0" smtClean="0">
                <a:latin typeface="黑体" panose="02010609060101010101" pitchFamily="49" charset="-122"/>
                <a:ea typeface="黑体" panose="02010609060101010101" pitchFamily="49" charset="-122"/>
              </a:rPr>
              <a:t>端口</a:t>
            </a:r>
            <a:endParaRPr lang="en-US" altLang="zh-CN" sz="2800" b="0" dirty="0" smtClean="0">
              <a:latin typeface="黑体" panose="02010609060101010101" pitchFamily="49" charset="-122"/>
              <a:ea typeface="黑体" panose="02010609060101010101" pitchFamily="49" charset="-122"/>
            </a:endParaRPr>
          </a:p>
          <a:p>
            <a:pPr marL="0" indent="0">
              <a:buNone/>
            </a:pPr>
            <a:endParaRPr lang="en-US" altLang="zh-CN" sz="2800" b="0" dirty="0">
              <a:latin typeface="黑体" panose="02010609060101010101" pitchFamily="49" charset="-122"/>
              <a:ea typeface="黑体" panose="02010609060101010101" pitchFamily="49" charset="-122"/>
            </a:endParaRPr>
          </a:p>
          <a:p>
            <a:pPr marL="0" indent="0">
              <a:buNone/>
            </a:pPr>
            <a:r>
              <a:rPr lang="zh-CN" altLang="zh-CN" sz="2800" kern="1200" dirty="0">
                <a:solidFill>
                  <a:srgbClr val="B20E12"/>
                </a:solidFill>
                <a:latin typeface="黑体" panose="02010609060101010101" pitchFamily="49" charset="-122"/>
                <a:ea typeface="黑体" panose="02010609060101010101" pitchFamily="49" charset="-122"/>
              </a:rPr>
              <a:t>采用统一编址时，</a:t>
            </a:r>
            <a:r>
              <a:rPr lang="en-US" altLang="zh-CN" sz="2800" kern="1200" dirty="0">
                <a:solidFill>
                  <a:srgbClr val="B20E12"/>
                </a:solidFill>
                <a:latin typeface="黑体" panose="02010609060101010101" pitchFamily="49" charset="-122"/>
                <a:ea typeface="黑体" panose="02010609060101010101" pitchFamily="49" charset="-122"/>
              </a:rPr>
              <a:t>CPU </a:t>
            </a:r>
            <a:r>
              <a:rPr lang="zh-CN" altLang="zh-CN" sz="2800" kern="1200" dirty="0">
                <a:solidFill>
                  <a:srgbClr val="B20E12"/>
                </a:solidFill>
                <a:latin typeface="黑体" panose="02010609060101010101" pitchFamily="49" charset="-122"/>
                <a:ea typeface="黑体" panose="02010609060101010101" pitchFamily="49" charset="-122"/>
              </a:rPr>
              <a:t>访存和访问 </a:t>
            </a:r>
            <a:r>
              <a:rPr lang="en-US" altLang="zh-CN" sz="2800" kern="1200" dirty="0">
                <a:solidFill>
                  <a:srgbClr val="B20E12"/>
                </a:solidFill>
                <a:latin typeface="黑体" panose="02010609060101010101" pitchFamily="49" charset="-122"/>
                <a:ea typeface="黑体" panose="02010609060101010101" pitchFamily="49" charset="-122"/>
              </a:rPr>
              <a:t>I/O </a:t>
            </a:r>
            <a:r>
              <a:rPr lang="zh-CN" altLang="zh-CN" sz="2800" kern="1200" dirty="0">
                <a:solidFill>
                  <a:srgbClr val="B20E12"/>
                </a:solidFill>
                <a:latin typeface="黑体" panose="02010609060101010101" pitchFamily="49" charset="-122"/>
                <a:ea typeface="黑体" panose="02010609060101010101" pitchFamily="49" charset="-122"/>
              </a:rPr>
              <a:t>端口用的是一样的指令，所以访存指令可以访问 </a:t>
            </a:r>
            <a:r>
              <a:rPr lang="en-US" altLang="zh-CN" sz="2800" kern="1200" dirty="0">
                <a:solidFill>
                  <a:srgbClr val="B20E12"/>
                </a:solidFill>
                <a:latin typeface="黑体" panose="02010609060101010101" pitchFamily="49" charset="-122"/>
                <a:ea typeface="黑体" panose="02010609060101010101" pitchFamily="49" charset="-122"/>
              </a:rPr>
              <a:t>I/O </a:t>
            </a:r>
            <a:r>
              <a:rPr lang="zh-CN" altLang="zh-CN" sz="2800" kern="1200" dirty="0">
                <a:solidFill>
                  <a:srgbClr val="B20E12"/>
                </a:solidFill>
                <a:latin typeface="黑体" panose="02010609060101010101" pitchFamily="49" charset="-122"/>
                <a:ea typeface="黑体" panose="02010609060101010101" pitchFamily="49" charset="-122"/>
              </a:rPr>
              <a:t>端口</a:t>
            </a:r>
            <a:endParaRPr lang="zh-CN" altLang="zh-CN" sz="2800" b="0" dirty="0">
              <a:solidFill>
                <a:srgbClr val="B20E12"/>
              </a:solidFill>
              <a:latin typeface="黑体" panose="02010609060101010101" pitchFamily="49" charset="-122"/>
              <a:ea typeface="黑体" panose="02010609060101010101" pitchFamily="49" charset="-122"/>
            </a:endParaRPr>
          </a:p>
          <a:p>
            <a:endParaRPr lang="zh-CN" altLang="en-US" sz="2800" b="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530546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6875" y="457200"/>
            <a:ext cx="7896225" cy="5876925"/>
          </a:xfrm>
        </p:spPr>
        <p:txBody>
          <a:bodyPr/>
          <a:lstStyle/>
          <a:p>
            <a:r>
              <a:rPr lang="en-US" altLang="zh-CN" sz="2800" b="0" dirty="0" smtClean="0">
                <a:latin typeface="黑体" panose="02010609060101010101" pitchFamily="49" charset="-122"/>
                <a:ea typeface="黑体" panose="02010609060101010101" pitchFamily="49" charset="-122"/>
              </a:rPr>
              <a:t>[2013</a:t>
            </a:r>
            <a:r>
              <a:rPr lang="zh-CN" altLang="en-US" sz="2800" b="0" dirty="0" smtClean="0">
                <a:latin typeface="黑体" panose="02010609060101010101" pitchFamily="49" charset="-122"/>
                <a:ea typeface="黑体" panose="02010609060101010101" pitchFamily="49" charset="-122"/>
              </a:rPr>
              <a:t>年考研题</a:t>
            </a:r>
            <a:r>
              <a:rPr lang="en-US" altLang="zh-CN" sz="2800" b="0" dirty="0" smtClean="0">
                <a:latin typeface="黑体" panose="02010609060101010101" pitchFamily="49" charset="-122"/>
                <a:ea typeface="黑体" panose="02010609060101010101" pitchFamily="49" charset="-122"/>
              </a:rPr>
              <a:t>]</a:t>
            </a:r>
            <a:r>
              <a:rPr lang="zh-CN" altLang="en-US" sz="2800" b="0" dirty="0" smtClean="0">
                <a:latin typeface="黑体" panose="02010609060101010101" pitchFamily="49" charset="-122"/>
                <a:ea typeface="黑体" panose="02010609060101010101" pitchFamily="49" charset="-122"/>
              </a:rPr>
              <a:t>下列</a:t>
            </a:r>
            <a:r>
              <a:rPr lang="zh-CN" altLang="en-US" sz="2800" b="0" dirty="0">
                <a:latin typeface="黑体" panose="02010609060101010101" pitchFamily="49" charset="-122"/>
                <a:ea typeface="黑体" panose="02010609060101010101" pitchFamily="49" charset="-122"/>
              </a:rPr>
              <a:t>选项中，用于提高</a:t>
            </a:r>
            <a:r>
              <a:rPr lang="en-US" altLang="zh-CN" sz="2800" b="0" dirty="0">
                <a:latin typeface="黑体" panose="02010609060101010101" pitchFamily="49" charset="-122"/>
                <a:ea typeface="黑体" panose="02010609060101010101" pitchFamily="49" charset="-122"/>
              </a:rPr>
              <a:t>RAID</a:t>
            </a:r>
            <a:r>
              <a:rPr lang="zh-CN" altLang="en-US" sz="2800" b="0" dirty="0">
                <a:latin typeface="黑体" panose="02010609060101010101" pitchFamily="49" charset="-122"/>
                <a:ea typeface="黑体" panose="02010609060101010101" pitchFamily="49" charset="-122"/>
              </a:rPr>
              <a:t>可靠性的措施</a:t>
            </a:r>
            <a:r>
              <a:rPr lang="zh-CN" altLang="en-US" sz="2800" b="0" dirty="0" smtClean="0">
                <a:latin typeface="黑体" panose="02010609060101010101" pitchFamily="49" charset="-122"/>
                <a:ea typeface="黑体" panose="02010609060101010101" pitchFamily="49" charset="-122"/>
              </a:rPr>
              <a:t>有：</a:t>
            </a:r>
            <a:endParaRPr lang="zh-CN" altLang="en-US" sz="2800" b="0" dirty="0">
              <a:latin typeface="黑体" panose="02010609060101010101" pitchFamily="49" charset="-122"/>
              <a:ea typeface="黑体" panose="02010609060101010101" pitchFamily="49" charset="-122"/>
            </a:endParaRPr>
          </a:p>
          <a:p>
            <a:pPr marL="0" indent="0">
              <a:buNone/>
            </a:pPr>
            <a:r>
              <a:rPr lang="zh-CN" altLang="en-US" sz="2800" b="0" dirty="0" smtClean="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	I</a:t>
            </a:r>
            <a:r>
              <a:rPr lang="en-US" altLang="zh-CN" sz="2800" b="0" dirty="0">
                <a:latin typeface="黑体" panose="02010609060101010101" pitchFamily="49" charset="-122"/>
                <a:ea typeface="黑体" panose="02010609060101010101" pitchFamily="49" charset="-122"/>
              </a:rPr>
              <a:t>. </a:t>
            </a:r>
            <a:r>
              <a:rPr lang="zh-CN" altLang="en-US" sz="2800" b="0" dirty="0">
                <a:latin typeface="黑体" panose="02010609060101010101" pitchFamily="49" charset="-122"/>
                <a:ea typeface="黑体" panose="02010609060101010101" pitchFamily="49" charset="-122"/>
              </a:rPr>
              <a:t>磁盘镜像    </a:t>
            </a:r>
            <a:r>
              <a:rPr lang="en-US" altLang="zh-CN" sz="2800" b="0" dirty="0">
                <a:latin typeface="黑体" panose="02010609060101010101" pitchFamily="49" charset="-122"/>
                <a:ea typeface="黑体" panose="02010609060101010101" pitchFamily="49" charset="-122"/>
              </a:rPr>
              <a:t>II. </a:t>
            </a:r>
            <a:r>
              <a:rPr lang="zh-CN" altLang="en-US" sz="2800" b="0" dirty="0">
                <a:latin typeface="黑体" panose="02010609060101010101" pitchFamily="49" charset="-122"/>
                <a:ea typeface="黑体" panose="02010609060101010101" pitchFamily="49" charset="-122"/>
              </a:rPr>
              <a:t>条带化     </a:t>
            </a:r>
            <a:endParaRPr lang="en-US" altLang="zh-CN" sz="2800" b="0" dirty="0" smtClean="0">
              <a:latin typeface="黑体" panose="02010609060101010101" pitchFamily="49" charset="-122"/>
              <a:ea typeface="黑体" panose="02010609060101010101" pitchFamily="49" charset="-122"/>
            </a:endParaRPr>
          </a:p>
          <a:p>
            <a:pPr marL="0" indent="0">
              <a:buNone/>
            </a:pPr>
            <a:r>
              <a:rPr lang="en-US" altLang="zh-CN" sz="2800" b="0" dirty="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III</a:t>
            </a:r>
            <a:r>
              <a:rPr lang="en-US" altLang="zh-CN" sz="2800" b="0" dirty="0">
                <a:latin typeface="黑体" panose="02010609060101010101" pitchFamily="49" charset="-122"/>
                <a:ea typeface="黑体" panose="02010609060101010101" pitchFamily="49" charset="-122"/>
              </a:rPr>
              <a:t>. </a:t>
            </a:r>
            <a:r>
              <a:rPr lang="zh-CN" altLang="en-US" sz="2800" b="0" dirty="0">
                <a:latin typeface="黑体" panose="02010609060101010101" pitchFamily="49" charset="-122"/>
                <a:ea typeface="黑体" panose="02010609060101010101" pitchFamily="49" charset="-122"/>
              </a:rPr>
              <a:t>奇偶校验  </a:t>
            </a:r>
            <a:r>
              <a:rPr lang="en-US" altLang="zh-CN" sz="2800" b="0" dirty="0" smtClean="0">
                <a:latin typeface="黑体" panose="02010609060101010101" pitchFamily="49" charset="-122"/>
                <a:ea typeface="黑体" panose="02010609060101010101" pitchFamily="49" charset="-122"/>
              </a:rPr>
              <a:t>IV</a:t>
            </a:r>
            <a:r>
              <a:rPr lang="en-US" altLang="zh-CN" sz="2800" b="0" dirty="0">
                <a:latin typeface="黑体" panose="02010609060101010101" pitchFamily="49" charset="-122"/>
                <a:ea typeface="黑体" panose="02010609060101010101" pitchFamily="49" charset="-122"/>
              </a:rPr>
              <a:t>. </a:t>
            </a:r>
            <a:r>
              <a:rPr lang="zh-CN" altLang="en-US" sz="2800" b="0" dirty="0">
                <a:latin typeface="黑体" panose="02010609060101010101" pitchFamily="49" charset="-122"/>
                <a:ea typeface="黑体" panose="02010609060101010101" pitchFamily="49" charset="-122"/>
              </a:rPr>
              <a:t>增加</a:t>
            </a:r>
            <a:r>
              <a:rPr lang="en-US" altLang="zh-CN" sz="2800" b="0" dirty="0">
                <a:latin typeface="黑体" panose="02010609060101010101" pitchFamily="49" charset="-122"/>
                <a:ea typeface="黑体" panose="02010609060101010101" pitchFamily="49" charset="-122"/>
              </a:rPr>
              <a:t>Cache</a:t>
            </a:r>
            <a:r>
              <a:rPr lang="zh-CN" altLang="en-US" sz="2800" b="0" dirty="0">
                <a:latin typeface="黑体" panose="02010609060101010101" pitchFamily="49" charset="-122"/>
                <a:ea typeface="黑体" panose="02010609060101010101" pitchFamily="49" charset="-122"/>
              </a:rPr>
              <a:t>机制 </a:t>
            </a:r>
          </a:p>
          <a:p>
            <a:pPr marL="0" indent="0">
              <a:buNone/>
            </a:pPr>
            <a:r>
              <a:rPr lang="en-US" altLang="zh-CN" sz="2800" b="0" dirty="0" smtClean="0">
                <a:latin typeface="黑体" panose="02010609060101010101" pitchFamily="49" charset="-122"/>
                <a:ea typeface="黑体" panose="02010609060101010101" pitchFamily="49" charset="-122"/>
              </a:rPr>
              <a:t> </a:t>
            </a:r>
          </a:p>
          <a:p>
            <a:pPr marL="0" indent="0">
              <a:buNone/>
            </a:pPr>
            <a:r>
              <a:rPr lang="en-US" altLang="zh-CN" sz="2800" b="0" dirty="0">
                <a:latin typeface="+mn-ea"/>
              </a:rPr>
              <a:t>	</a:t>
            </a:r>
            <a:r>
              <a:rPr lang="en-US" altLang="zh-CN" sz="2800" b="0" dirty="0" smtClean="0">
                <a:latin typeface="+mn-ea"/>
              </a:rPr>
              <a:t>A</a:t>
            </a:r>
            <a:r>
              <a:rPr lang="en-US" altLang="zh-CN" sz="2800" b="0" dirty="0">
                <a:latin typeface="+mn-ea"/>
              </a:rPr>
              <a:t>.</a:t>
            </a:r>
            <a:r>
              <a:rPr lang="zh-CN" altLang="en-US" sz="2800" b="0" dirty="0">
                <a:latin typeface="+mn-ea"/>
              </a:rPr>
              <a:t>仅</a:t>
            </a:r>
            <a:r>
              <a:rPr lang="en-US" altLang="zh-CN" sz="2800" b="0" dirty="0">
                <a:latin typeface="+mn-ea"/>
              </a:rPr>
              <a:t>I</a:t>
            </a:r>
            <a:r>
              <a:rPr lang="zh-CN" altLang="en-US" sz="2800" b="0" dirty="0">
                <a:latin typeface="+mn-ea"/>
              </a:rPr>
              <a:t>、</a:t>
            </a:r>
            <a:r>
              <a:rPr lang="en-US" altLang="zh-CN" sz="2800" b="0" dirty="0">
                <a:latin typeface="+mn-ea"/>
              </a:rPr>
              <a:t>II    </a:t>
            </a:r>
            <a:r>
              <a:rPr lang="en-US" altLang="zh-CN" sz="2800" b="0" dirty="0" smtClean="0">
                <a:latin typeface="+mn-ea"/>
              </a:rPr>
              <a:t>		B</a:t>
            </a:r>
            <a:r>
              <a:rPr lang="en-US" altLang="zh-CN" sz="2800" b="0" dirty="0">
                <a:latin typeface="+mn-ea"/>
              </a:rPr>
              <a:t>. </a:t>
            </a:r>
            <a:r>
              <a:rPr lang="zh-CN" altLang="en-US" sz="2800" b="0" dirty="0">
                <a:latin typeface="+mn-ea"/>
              </a:rPr>
              <a:t>仅</a:t>
            </a:r>
            <a:r>
              <a:rPr lang="en-US" altLang="zh-CN" sz="2800" b="0" dirty="0">
                <a:latin typeface="+mn-ea"/>
              </a:rPr>
              <a:t>I</a:t>
            </a:r>
            <a:r>
              <a:rPr lang="zh-CN" altLang="en-US" sz="2800" b="0" dirty="0">
                <a:latin typeface="+mn-ea"/>
              </a:rPr>
              <a:t>、</a:t>
            </a:r>
            <a:r>
              <a:rPr lang="en-US" altLang="zh-CN" sz="2800" b="0" dirty="0">
                <a:latin typeface="+mn-ea"/>
              </a:rPr>
              <a:t>III     </a:t>
            </a:r>
            <a:endParaRPr lang="en-US" altLang="zh-CN" sz="2800" b="0" dirty="0" smtClean="0">
              <a:latin typeface="+mn-ea"/>
            </a:endParaRPr>
          </a:p>
          <a:p>
            <a:pPr marL="0" indent="0">
              <a:buNone/>
            </a:pPr>
            <a:r>
              <a:rPr lang="en-US" altLang="zh-CN" sz="2800" b="0" dirty="0" smtClean="0">
                <a:latin typeface="+mn-ea"/>
              </a:rPr>
              <a:t>	C.</a:t>
            </a:r>
            <a:r>
              <a:rPr lang="zh-CN" altLang="en-US" sz="2800" b="0" dirty="0" smtClean="0">
                <a:latin typeface="+mn-ea"/>
              </a:rPr>
              <a:t>仅</a:t>
            </a:r>
            <a:r>
              <a:rPr lang="en-US" altLang="zh-CN" sz="2800" b="0" dirty="0">
                <a:latin typeface="+mn-ea"/>
              </a:rPr>
              <a:t>I</a:t>
            </a:r>
            <a:r>
              <a:rPr lang="zh-CN" altLang="en-US" sz="2800" b="0" dirty="0">
                <a:latin typeface="+mn-ea"/>
              </a:rPr>
              <a:t>、</a:t>
            </a:r>
            <a:r>
              <a:rPr lang="en-US" altLang="zh-CN" sz="2800" b="0" dirty="0">
                <a:latin typeface="+mn-ea"/>
              </a:rPr>
              <a:t>III</a:t>
            </a:r>
            <a:r>
              <a:rPr lang="zh-CN" altLang="en-US" sz="2800" b="0" dirty="0">
                <a:latin typeface="+mn-ea"/>
              </a:rPr>
              <a:t>和</a:t>
            </a:r>
            <a:r>
              <a:rPr lang="en-US" altLang="zh-CN" sz="2800" b="0" dirty="0">
                <a:latin typeface="+mn-ea"/>
              </a:rPr>
              <a:t>IV    </a:t>
            </a:r>
            <a:r>
              <a:rPr lang="en-US" altLang="zh-CN" sz="2800" b="0" dirty="0" smtClean="0">
                <a:latin typeface="+mn-ea"/>
              </a:rPr>
              <a:t>	D</a:t>
            </a:r>
            <a:r>
              <a:rPr lang="en-US" altLang="zh-CN" sz="2800" b="0" dirty="0">
                <a:latin typeface="+mn-ea"/>
              </a:rPr>
              <a:t>. </a:t>
            </a:r>
            <a:r>
              <a:rPr lang="zh-CN" altLang="en-US" sz="2800" b="0" dirty="0">
                <a:latin typeface="+mn-ea"/>
              </a:rPr>
              <a:t>仅</a:t>
            </a:r>
            <a:r>
              <a:rPr lang="en-US" altLang="zh-CN" sz="2800" b="0" dirty="0">
                <a:latin typeface="+mn-ea"/>
              </a:rPr>
              <a:t>II</a:t>
            </a:r>
            <a:r>
              <a:rPr lang="zh-CN" altLang="en-US" sz="2800" b="0" dirty="0">
                <a:latin typeface="+mn-ea"/>
              </a:rPr>
              <a:t>、</a:t>
            </a:r>
            <a:r>
              <a:rPr lang="en-US" altLang="zh-CN" sz="2800" b="0" dirty="0">
                <a:latin typeface="+mn-ea"/>
              </a:rPr>
              <a:t>III</a:t>
            </a:r>
            <a:r>
              <a:rPr lang="zh-CN" altLang="en-US" sz="2800" b="0" dirty="0">
                <a:latin typeface="+mn-ea"/>
              </a:rPr>
              <a:t>和</a:t>
            </a:r>
            <a:r>
              <a:rPr lang="en-US" altLang="zh-CN" sz="2800" b="0" dirty="0">
                <a:latin typeface="+mn-ea"/>
              </a:rPr>
              <a:t>IV</a:t>
            </a:r>
          </a:p>
          <a:p>
            <a:endParaRPr lang="zh-CN" altLang="en-US" sz="2800" b="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71341640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6875" y="533401"/>
            <a:ext cx="7896225" cy="2971800"/>
          </a:xfrm>
        </p:spPr>
        <p:txBody>
          <a:bodyPr/>
          <a:lstStyle/>
          <a:p>
            <a:r>
              <a:rPr lang="en-US" altLang="zh-CN" sz="2800" b="0" dirty="0" smtClean="0">
                <a:latin typeface="黑体" panose="02010609060101010101" pitchFamily="49" charset="-122"/>
                <a:ea typeface="黑体" panose="02010609060101010101" pitchFamily="49" charset="-122"/>
              </a:rPr>
              <a:t>[2013</a:t>
            </a:r>
            <a:r>
              <a:rPr lang="zh-CN" altLang="en-US" sz="2800" b="0" dirty="0" smtClean="0">
                <a:latin typeface="黑体" panose="02010609060101010101" pitchFamily="49" charset="-122"/>
                <a:ea typeface="黑体" panose="02010609060101010101" pitchFamily="49" charset="-122"/>
              </a:rPr>
              <a:t>年考研题</a:t>
            </a:r>
            <a:r>
              <a:rPr lang="en-US" altLang="zh-CN" sz="2800" b="0" dirty="0" smtClean="0">
                <a:latin typeface="黑体" panose="02010609060101010101" pitchFamily="49" charset="-122"/>
                <a:ea typeface="黑体" panose="02010609060101010101" pitchFamily="49" charset="-122"/>
              </a:rPr>
              <a:t>]</a:t>
            </a:r>
            <a:r>
              <a:rPr lang="zh-CN" altLang="zh-CN" sz="2800" b="0" dirty="0" smtClean="0">
                <a:latin typeface="黑体" panose="02010609060101010101" pitchFamily="49" charset="-122"/>
                <a:ea typeface="黑体" panose="02010609060101010101" pitchFamily="49" charset="-122"/>
              </a:rPr>
              <a:t>某</a:t>
            </a:r>
            <a:r>
              <a:rPr lang="zh-CN" altLang="zh-CN" sz="2800" b="0" dirty="0">
                <a:latin typeface="黑体" panose="02010609060101010101" pitchFamily="49" charset="-122"/>
                <a:ea typeface="黑体" panose="02010609060101010101" pitchFamily="49" charset="-122"/>
              </a:rPr>
              <a:t>磁盘的转速为</a:t>
            </a:r>
            <a:r>
              <a:rPr lang="en-US" altLang="zh-CN" sz="2800" b="0" dirty="0" smtClean="0">
                <a:latin typeface="黑体" panose="02010609060101010101" pitchFamily="49" charset="-122"/>
                <a:ea typeface="黑体" panose="02010609060101010101" pitchFamily="49" charset="-122"/>
              </a:rPr>
              <a:t>10000</a:t>
            </a:r>
            <a:r>
              <a:rPr lang="zh-CN" altLang="zh-CN" sz="2800" b="0" dirty="0">
                <a:latin typeface="黑体" panose="02010609060101010101" pitchFamily="49" charset="-122"/>
                <a:ea typeface="黑体" panose="02010609060101010101" pitchFamily="49" charset="-122"/>
              </a:rPr>
              <a:t>转</a:t>
            </a:r>
            <a:r>
              <a:rPr lang="en-US" altLang="zh-CN" sz="2800" b="0" dirty="0">
                <a:latin typeface="黑体" panose="02010609060101010101" pitchFamily="49" charset="-122"/>
                <a:ea typeface="黑体" panose="02010609060101010101" pitchFamily="49" charset="-122"/>
              </a:rPr>
              <a:t>/</a:t>
            </a:r>
            <a:r>
              <a:rPr lang="zh-CN" altLang="zh-CN" sz="2800" b="0" dirty="0">
                <a:latin typeface="黑体" panose="02010609060101010101" pitchFamily="49" charset="-122"/>
                <a:ea typeface="黑体" panose="02010609060101010101" pitchFamily="49" charset="-122"/>
              </a:rPr>
              <a:t>分，平均寻道时间是</a:t>
            </a:r>
            <a:r>
              <a:rPr lang="en-US" altLang="zh-CN" sz="2800" b="0" dirty="0" smtClean="0">
                <a:latin typeface="黑体" panose="02010609060101010101" pitchFamily="49" charset="-122"/>
                <a:ea typeface="黑体" panose="02010609060101010101" pitchFamily="49" charset="-122"/>
              </a:rPr>
              <a:t>6ms</a:t>
            </a:r>
            <a:r>
              <a:rPr lang="zh-CN" altLang="zh-CN" sz="2800" b="0" dirty="0">
                <a:latin typeface="黑体" panose="02010609060101010101" pitchFamily="49" charset="-122"/>
                <a:ea typeface="黑体" panose="02010609060101010101" pitchFamily="49" charset="-122"/>
              </a:rPr>
              <a:t>，磁盘传输速率是</a:t>
            </a:r>
            <a:r>
              <a:rPr lang="en-US" altLang="zh-CN" sz="2800" b="0" dirty="0" smtClean="0">
                <a:latin typeface="黑体" panose="02010609060101010101" pitchFamily="49" charset="-122"/>
                <a:ea typeface="黑体" panose="02010609060101010101" pitchFamily="49" charset="-122"/>
              </a:rPr>
              <a:t>20MB/s</a:t>
            </a:r>
            <a:r>
              <a:rPr lang="zh-CN" altLang="zh-CN" sz="2800" b="0" dirty="0">
                <a:latin typeface="黑体" panose="02010609060101010101" pitchFamily="49" charset="-122"/>
                <a:ea typeface="黑体" panose="02010609060101010101" pitchFamily="49" charset="-122"/>
              </a:rPr>
              <a:t>，磁盘控制器延迟为</a:t>
            </a:r>
            <a:r>
              <a:rPr lang="en-US" altLang="zh-CN" sz="2800" b="0" dirty="0" smtClean="0">
                <a:latin typeface="黑体" panose="02010609060101010101" pitchFamily="49" charset="-122"/>
                <a:ea typeface="黑体" panose="02010609060101010101" pitchFamily="49" charset="-122"/>
              </a:rPr>
              <a:t>0.2ms</a:t>
            </a:r>
            <a:r>
              <a:rPr lang="zh-CN" altLang="zh-CN" sz="2800" b="0" dirty="0">
                <a:latin typeface="黑体" panose="02010609060101010101" pitchFamily="49" charset="-122"/>
                <a:ea typeface="黑体" panose="02010609060101010101" pitchFamily="49" charset="-122"/>
              </a:rPr>
              <a:t>，读取一个</a:t>
            </a:r>
            <a:r>
              <a:rPr lang="en-US" altLang="zh-CN" sz="2800" b="0" dirty="0" smtClean="0">
                <a:latin typeface="黑体" panose="02010609060101010101" pitchFamily="49" charset="-122"/>
                <a:ea typeface="黑体" panose="02010609060101010101" pitchFamily="49" charset="-122"/>
              </a:rPr>
              <a:t>4KB</a:t>
            </a:r>
            <a:r>
              <a:rPr lang="zh-CN" altLang="zh-CN" sz="2800" b="0" dirty="0">
                <a:latin typeface="黑体" panose="02010609060101010101" pitchFamily="49" charset="-122"/>
                <a:ea typeface="黑体" panose="02010609060101010101" pitchFamily="49" charset="-122"/>
              </a:rPr>
              <a:t>的扇区所需的平均时间约</a:t>
            </a:r>
            <a:r>
              <a:rPr lang="zh-CN" altLang="zh-CN" sz="2800" b="0" dirty="0" smtClean="0">
                <a:latin typeface="黑体" panose="02010609060101010101" pitchFamily="49" charset="-122"/>
                <a:ea typeface="黑体" panose="02010609060101010101" pitchFamily="49" charset="-122"/>
              </a:rPr>
              <a:t>为</a:t>
            </a:r>
            <a:r>
              <a:rPr lang="zh-CN" altLang="en-US" sz="2800" b="0" dirty="0" smtClean="0">
                <a:latin typeface="黑体" panose="02010609060101010101" pitchFamily="49" charset="-122"/>
                <a:ea typeface="黑体" panose="02010609060101010101" pitchFamily="49" charset="-122"/>
              </a:rPr>
              <a:t>：</a:t>
            </a:r>
            <a:endParaRPr lang="en-US" altLang="zh-CN" sz="2800" b="0" dirty="0" smtClean="0">
              <a:latin typeface="黑体" panose="02010609060101010101" pitchFamily="49" charset="-122"/>
              <a:ea typeface="黑体" panose="02010609060101010101" pitchFamily="49" charset="-122"/>
            </a:endParaRPr>
          </a:p>
          <a:p>
            <a:pPr marL="0" indent="0">
              <a:buNone/>
            </a:pPr>
            <a:r>
              <a:rPr lang="en-US" altLang="zh-CN" sz="2800" b="0" dirty="0" smtClean="0">
                <a:latin typeface="黑体" panose="02010609060101010101" pitchFamily="49" charset="-122"/>
                <a:ea typeface="黑体" panose="02010609060101010101" pitchFamily="49" charset="-122"/>
              </a:rPr>
              <a:t>  	A</a:t>
            </a:r>
            <a:r>
              <a:rPr lang="en-US" altLang="zh-CN" sz="2800" b="0" dirty="0">
                <a:latin typeface="黑体" panose="02010609060101010101" pitchFamily="49" charset="-122"/>
                <a:ea typeface="黑体" panose="02010609060101010101" pitchFamily="49" charset="-122"/>
              </a:rPr>
              <a:t>. 9 </a:t>
            </a:r>
            <a:r>
              <a:rPr lang="en-US" altLang="zh-CN" sz="2800" b="0" dirty="0" err="1">
                <a:latin typeface="黑体" panose="02010609060101010101" pitchFamily="49" charset="-122"/>
                <a:ea typeface="黑体" panose="02010609060101010101" pitchFamily="49" charset="-122"/>
              </a:rPr>
              <a:t>ms</a:t>
            </a:r>
            <a:r>
              <a:rPr lang="en-US" altLang="zh-CN" sz="2800" b="0" dirty="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	B</a:t>
            </a:r>
            <a:r>
              <a:rPr lang="en-US" altLang="zh-CN" sz="2800" b="0" dirty="0">
                <a:latin typeface="黑体" panose="02010609060101010101" pitchFamily="49" charset="-122"/>
                <a:ea typeface="黑体" panose="02010609060101010101" pitchFamily="49" charset="-122"/>
              </a:rPr>
              <a:t>. 9.4 </a:t>
            </a:r>
            <a:r>
              <a:rPr lang="en-US" altLang="zh-CN" sz="2800" b="0" dirty="0" err="1">
                <a:latin typeface="黑体" panose="02010609060101010101" pitchFamily="49" charset="-122"/>
                <a:ea typeface="黑体" panose="02010609060101010101" pitchFamily="49" charset="-122"/>
              </a:rPr>
              <a:t>ms</a:t>
            </a:r>
            <a:r>
              <a:rPr lang="en-US" altLang="zh-CN" sz="2800" b="0" dirty="0">
                <a:latin typeface="黑体" panose="02010609060101010101" pitchFamily="49" charset="-122"/>
                <a:ea typeface="黑体" panose="02010609060101010101" pitchFamily="49" charset="-122"/>
              </a:rPr>
              <a:t>       </a:t>
            </a:r>
            <a:endParaRPr lang="en-US" altLang="zh-CN" sz="2800" b="0" dirty="0" smtClean="0">
              <a:latin typeface="黑体" panose="02010609060101010101" pitchFamily="49" charset="-122"/>
              <a:ea typeface="黑体" panose="02010609060101010101" pitchFamily="49" charset="-122"/>
            </a:endParaRPr>
          </a:p>
          <a:p>
            <a:pPr marL="0" indent="0">
              <a:buNone/>
            </a:pPr>
            <a:r>
              <a:rPr lang="en-US" altLang="zh-CN" sz="2800" b="0" dirty="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C</a:t>
            </a:r>
            <a:r>
              <a:rPr lang="en-US" altLang="zh-CN" sz="2800" b="0" dirty="0">
                <a:latin typeface="黑体" panose="02010609060101010101" pitchFamily="49" charset="-122"/>
                <a:ea typeface="黑体" panose="02010609060101010101" pitchFamily="49" charset="-122"/>
              </a:rPr>
              <a:t>. 12 </a:t>
            </a:r>
            <a:r>
              <a:rPr lang="en-US" altLang="zh-CN" sz="2800" b="0" dirty="0" err="1">
                <a:latin typeface="黑体" panose="02010609060101010101" pitchFamily="49" charset="-122"/>
                <a:ea typeface="黑体" panose="02010609060101010101" pitchFamily="49" charset="-122"/>
              </a:rPr>
              <a:t>ms</a:t>
            </a:r>
            <a:r>
              <a:rPr lang="en-US" altLang="zh-CN" sz="2800" b="0" dirty="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	D</a:t>
            </a:r>
            <a:r>
              <a:rPr lang="en-US" altLang="zh-CN" sz="2800" b="0" dirty="0">
                <a:latin typeface="黑体" panose="02010609060101010101" pitchFamily="49" charset="-122"/>
                <a:ea typeface="黑体" panose="02010609060101010101" pitchFamily="49" charset="-122"/>
              </a:rPr>
              <a:t>. 12.4 </a:t>
            </a:r>
            <a:r>
              <a:rPr lang="en-US" altLang="zh-CN" sz="2800" b="0" dirty="0" err="1">
                <a:latin typeface="黑体" panose="02010609060101010101" pitchFamily="49" charset="-122"/>
                <a:ea typeface="黑体" panose="02010609060101010101" pitchFamily="49" charset="-122"/>
              </a:rPr>
              <a:t>ms</a:t>
            </a:r>
            <a:r>
              <a:rPr lang="en-US" altLang="zh-CN" sz="2800" b="0" dirty="0">
                <a:latin typeface="黑体" panose="02010609060101010101" pitchFamily="49" charset="-122"/>
                <a:ea typeface="黑体" panose="02010609060101010101" pitchFamily="49" charset="-122"/>
              </a:rPr>
              <a:t> </a:t>
            </a:r>
            <a:endParaRPr lang="zh-CN" altLang="en-US" sz="2800" b="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89423202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知识点  磁盘</a:t>
            </a:r>
            <a:r>
              <a:rPr lang="zh-CN" altLang="en-US" dirty="0">
                <a:latin typeface="黑体" panose="02010609060101010101" pitchFamily="49" charset="-122"/>
                <a:ea typeface="黑体" panose="02010609060101010101" pitchFamily="49" charset="-122"/>
              </a:rPr>
              <a:t>存储器的主要技术指标</a:t>
            </a:r>
            <a:endParaRPr lang="zh-CN" altLang="en-US" dirty="0"/>
          </a:p>
        </p:txBody>
      </p:sp>
      <p:sp>
        <p:nvSpPr>
          <p:cNvPr id="3" name="内容占位符 2"/>
          <p:cNvSpPr>
            <a:spLocks noGrp="1"/>
          </p:cNvSpPr>
          <p:nvPr>
            <p:ph idx="1"/>
          </p:nvPr>
        </p:nvSpPr>
        <p:spPr>
          <a:xfrm>
            <a:off x="396875" y="1362075"/>
            <a:ext cx="7908925" cy="4972050"/>
          </a:xfrm>
        </p:spPr>
        <p:txBody>
          <a:bodyPr/>
          <a:lstStyle/>
          <a:p>
            <a:r>
              <a:rPr lang="zh-CN" altLang="en-US" sz="2800" dirty="0" smtClean="0">
                <a:latin typeface="黑体" panose="02010609060101010101" pitchFamily="49" charset="-122"/>
                <a:ea typeface="黑体" panose="02010609060101010101" pitchFamily="49" charset="-122"/>
              </a:rPr>
              <a:t>存取时间</a:t>
            </a:r>
            <a:endParaRPr lang="en-US" altLang="zh-CN" sz="2800" dirty="0" smtClean="0">
              <a:latin typeface="黑体" panose="02010609060101010101" pitchFamily="49" charset="-122"/>
              <a:ea typeface="黑体" panose="02010609060101010101" pitchFamily="49" charset="-122"/>
            </a:endParaRPr>
          </a:p>
          <a:p>
            <a:pPr lvl="1"/>
            <a:r>
              <a:rPr lang="zh-CN" altLang="en-US" sz="2400" dirty="0" smtClean="0">
                <a:latin typeface="黑体" panose="02010609060101010101" pitchFamily="49" charset="-122"/>
                <a:ea typeface="黑体" panose="02010609060101010101" pitchFamily="49" charset="-122"/>
              </a:rPr>
              <a:t>从发出读写命令，磁头从某一起始位置移动至新的记录位置，到开始从盘面读出或写入信息加上传送数据所需要的时间</a:t>
            </a:r>
            <a:endParaRPr lang="en-US" altLang="zh-CN" sz="2400" dirty="0" smtClean="0">
              <a:latin typeface="黑体" panose="02010609060101010101" pitchFamily="49" charset="-122"/>
              <a:ea typeface="黑体" panose="02010609060101010101" pitchFamily="49" charset="-122"/>
            </a:endParaRPr>
          </a:p>
          <a:p>
            <a:pPr lvl="1"/>
            <a:r>
              <a:rPr lang="zh-CN" altLang="en-US" sz="2400" dirty="0">
                <a:latin typeface="黑体" panose="02010609060101010101" pitchFamily="49" charset="-122"/>
                <a:ea typeface="黑体" panose="02010609060101010101" pitchFamily="49" charset="-122"/>
              </a:rPr>
              <a:t>找</a:t>
            </a:r>
            <a:r>
              <a:rPr lang="zh-CN" altLang="en-US" sz="2400" dirty="0" smtClean="0">
                <a:latin typeface="黑体" panose="02010609060101010101" pitchFamily="49" charset="-122"/>
                <a:ea typeface="黑体" panose="02010609060101010101" pitchFamily="49" charset="-122"/>
              </a:rPr>
              <a:t>道时间：将磁头定位至所要求的磁道</a:t>
            </a:r>
            <a:endParaRPr lang="en-US" altLang="zh-CN" sz="2400" dirty="0" smtClean="0">
              <a:latin typeface="黑体" panose="02010609060101010101" pitchFamily="49" charset="-122"/>
              <a:ea typeface="黑体" panose="02010609060101010101" pitchFamily="49" charset="-122"/>
            </a:endParaRPr>
          </a:p>
          <a:p>
            <a:pPr lvl="1"/>
            <a:r>
              <a:rPr lang="zh-CN" altLang="en-US" sz="2400" dirty="0" smtClean="0">
                <a:latin typeface="黑体" panose="02010609060101010101" pitchFamily="49" charset="-122"/>
                <a:ea typeface="黑体" panose="02010609060101010101" pitchFamily="49" charset="-122"/>
              </a:rPr>
              <a:t>等待时间：找道完成至磁道上需要访问的信息到达磁头下的时间</a:t>
            </a:r>
            <a:endParaRPr lang="en-US" altLang="zh-CN" sz="2400" dirty="0" smtClean="0">
              <a:latin typeface="黑体" panose="02010609060101010101" pitchFamily="49" charset="-122"/>
              <a:ea typeface="黑体" panose="02010609060101010101" pitchFamily="49" charset="-122"/>
            </a:endParaRPr>
          </a:p>
          <a:p>
            <a:pPr fontAlgn="b">
              <a:buFontTx/>
              <a:buNone/>
            </a:pPr>
            <a:r>
              <a:rPr lang="zh-CN" altLang="en-US" dirty="0">
                <a:latin typeface="黑体" panose="02010609060101010101" pitchFamily="49" charset="-122"/>
                <a:ea typeface="黑体" panose="02010609060101010101" pitchFamily="49" charset="-122"/>
              </a:rPr>
              <a:t>	</a:t>
            </a:r>
            <a:r>
              <a:rPr lang="zh-CN" altLang="en-US" dirty="0" smtClean="0">
                <a:latin typeface="黑体" panose="02010609060101010101" pitchFamily="49" charset="-122"/>
                <a:ea typeface="黑体" panose="02010609060101010101" pitchFamily="49" charset="-122"/>
              </a:rPr>
              <a:t>     </a:t>
            </a:r>
            <a:r>
              <a:rPr lang="en-US" altLang="zh-CN" dirty="0" smtClean="0">
                <a:latin typeface="黑体" panose="02010609060101010101" pitchFamily="49" charset="-122"/>
                <a:ea typeface="黑体" panose="02010609060101010101" pitchFamily="49" charset="-122"/>
              </a:rPr>
              <a:t>	</a:t>
            </a:r>
            <a:r>
              <a:rPr lang="zh-CN" altLang="en-US" dirty="0" smtClean="0">
                <a:latin typeface="黑体" panose="02010609060101010101" pitchFamily="49" charset="-122"/>
                <a:ea typeface="黑体" panose="02010609060101010101" pitchFamily="49" charset="-122"/>
              </a:rPr>
              <a:t>例</a:t>
            </a:r>
            <a:r>
              <a:rPr lang="zh-CN" altLang="en-US" dirty="0">
                <a:latin typeface="黑体" panose="02010609060101010101" pitchFamily="49" charset="-122"/>
                <a:ea typeface="黑体" panose="02010609060101010101" pitchFamily="49" charset="-122"/>
              </a:rPr>
              <a:t>：磁盘的转速为</a:t>
            </a:r>
            <a:r>
              <a:rPr lang="en-US" altLang="zh-CN" dirty="0">
                <a:latin typeface="黑体" panose="02010609060101010101" pitchFamily="49" charset="-122"/>
                <a:ea typeface="黑体" panose="02010609060101010101" pitchFamily="49" charset="-122"/>
              </a:rPr>
              <a:t>3600r/min</a:t>
            </a:r>
            <a:r>
              <a:rPr lang="zh-CN" altLang="en-US" dirty="0">
                <a:latin typeface="黑体" panose="02010609060101010101" pitchFamily="49" charset="-122"/>
                <a:ea typeface="黑体" panose="02010609060101010101" pitchFamily="49" charset="-122"/>
              </a:rPr>
              <a:t>，则</a:t>
            </a:r>
          </a:p>
          <a:p>
            <a:pPr fontAlgn="b">
              <a:buFontTx/>
              <a:buNone/>
            </a:pPr>
            <a:r>
              <a:rPr lang="zh-CN" altLang="en-US" dirty="0">
                <a:latin typeface="黑体" panose="02010609060101010101" pitchFamily="49" charset="-122"/>
                <a:ea typeface="黑体" panose="02010609060101010101" pitchFamily="49" charset="-122"/>
              </a:rPr>
              <a:t>	</a:t>
            </a:r>
            <a:r>
              <a:rPr lang="zh-CN" altLang="en-US" dirty="0" smtClean="0">
                <a:latin typeface="黑体" panose="02010609060101010101" pitchFamily="49" charset="-122"/>
                <a:ea typeface="黑体" panose="02010609060101010101" pitchFamily="49" charset="-122"/>
              </a:rPr>
              <a:t>     </a:t>
            </a:r>
            <a:r>
              <a:rPr lang="en-US" altLang="zh-CN" dirty="0" smtClean="0">
                <a:latin typeface="黑体" panose="02010609060101010101" pitchFamily="49" charset="-122"/>
                <a:ea typeface="黑体" panose="02010609060101010101" pitchFamily="49" charset="-122"/>
              </a:rPr>
              <a:t>	</a:t>
            </a:r>
            <a:r>
              <a:rPr lang="zh-CN" altLang="en-US" dirty="0" smtClean="0">
                <a:latin typeface="黑体" panose="02010609060101010101" pitchFamily="49" charset="-122"/>
                <a:ea typeface="黑体" panose="02010609060101010101" pitchFamily="49" charset="-122"/>
              </a:rPr>
              <a:t>平均</a:t>
            </a:r>
            <a:r>
              <a:rPr lang="zh-CN" altLang="en-US" dirty="0">
                <a:latin typeface="黑体" panose="02010609060101010101" pitchFamily="49" charset="-122"/>
                <a:ea typeface="黑体" panose="02010609060101010101" pitchFamily="49" charset="-122"/>
              </a:rPr>
              <a:t>等待时间</a:t>
            </a:r>
            <a:r>
              <a:rPr lang="en-US" altLang="zh-CN" dirty="0">
                <a:latin typeface="黑体" panose="02010609060101010101" pitchFamily="49" charset="-122"/>
                <a:ea typeface="黑体" panose="02010609060101010101" pitchFamily="49" charset="-122"/>
              </a:rPr>
              <a:t>=</a:t>
            </a:r>
            <a:r>
              <a:rPr lang="en-US" altLang="zh-CN" dirty="0" smtClean="0">
                <a:latin typeface="黑体" panose="02010609060101010101" pitchFamily="49" charset="-122"/>
                <a:ea typeface="黑体" panose="02010609060101010101" pitchFamily="49" charset="-122"/>
              </a:rPr>
              <a:t>0.5×60/3600=8.3ms</a:t>
            </a:r>
            <a:endParaRPr lang="en-US" altLang="zh-CN" sz="2400" dirty="0" smtClean="0">
              <a:latin typeface="黑体" panose="02010609060101010101" pitchFamily="49" charset="-122"/>
              <a:ea typeface="黑体" panose="02010609060101010101" pitchFamily="49" charset="-122"/>
            </a:endParaRPr>
          </a:p>
          <a:p>
            <a:pPr lvl="1"/>
            <a:r>
              <a:rPr lang="zh-CN" altLang="en-US" sz="2400" dirty="0" smtClean="0">
                <a:latin typeface="黑体" panose="02010609060101010101" pitchFamily="49" charset="-122"/>
                <a:ea typeface="黑体" panose="02010609060101010101" pitchFamily="49" charset="-122"/>
              </a:rPr>
              <a:t>数据传送时间</a:t>
            </a:r>
            <a:endParaRPr lang="en-US" altLang="zh-CN" sz="2400" dirty="0" smtClean="0">
              <a:latin typeface="黑体" panose="02010609060101010101" pitchFamily="49" charset="-122"/>
              <a:ea typeface="黑体" panose="02010609060101010101" pitchFamily="49" charset="-122"/>
            </a:endParaRPr>
          </a:p>
          <a:p>
            <a:r>
              <a:rPr lang="zh-CN" altLang="en-US" sz="2800" dirty="0">
                <a:latin typeface="黑体" panose="02010609060101010101" pitchFamily="49" charset="-122"/>
                <a:ea typeface="黑体" panose="02010609060101010101" pitchFamily="49" charset="-122"/>
              </a:rPr>
              <a:t>寻址</a:t>
            </a:r>
            <a:r>
              <a:rPr lang="zh-CN" altLang="en-US" sz="2800" dirty="0" smtClean="0">
                <a:latin typeface="黑体" panose="02010609060101010101" pitchFamily="49" charset="-122"/>
                <a:ea typeface="黑体" panose="02010609060101010101" pitchFamily="49" charset="-122"/>
              </a:rPr>
              <a:t>时间 </a:t>
            </a:r>
            <a:r>
              <a:rPr lang="en-US" altLang="zh-CN" sz="2800" dirty="0" smtClean="0">
                <a:latin typeface="黑体" panose="02010609060101010101" pitchFamily="49" charset="-122"/>
                <a:ea typeface="黑体" panose="02010609060101010101" pitchFamily="49" charset="-122"/>
              </a:rPr>
              <a:t>= </a:t>
            </a:r>
            <a:r>
              <a:rPr lang="zh-CN" altLang="en-US" sz="2800" dirty="0" smtClean="0">
                <a:latin typeface="黑体" panose="02010609060101010101" pitchFamily="49" charset="-122"/>
                <a:ea typeface="黑体" panose="02010609060101010101" pitchFamily="49" charset="-122"/>
              </a:rPr>
              <a:t>寻道时间 </a:t>
            </a:r>
            <a:r>
              <a:rPr lang="en-US" altLang="zh-CN" sz="2800" dirty="0" smtClean="0">
                <a:latin typeface="黑体" panose="02010609060101010101" pitchFamily="49" charset="-122"/>
                <a:ea typeface="黑体" panose="02010609060101010101" pitchFamily="49" charset="-122"/>
              </a:rPr>
              <a:t>+ </a:t>
            </a:r>
            <a:r>
              <a:rPr lang="zh-CN" altLang="en-US" sz="2800" dirty="0" smtClean="0">
                <a:latin typeface="黑体" panose="02010609060101010101" pitchFamily="49" charset="-122"/>
                <a:ea typeface="黑体" panose="02010609060101010101" pitchFamily="49" charset="-122"/>
              </a:rPr>
              <a:t>等待时间</a:t>
            </a:r>
            <a:endParaRPr lang="zh-CN" altLang="en-US" sz="2800" dirty="0">
              <a:latin typeface="黑体" panose="02010609060101010101" pitchFamily="49" charset="-122"/>
              <a:ea typeface="黑体" panose="02010609060101010101" pitchFamily="49" charset="-122"/>
            </a:endParaRPr>
          </a:p>
          <a:p>
            <a:endParaRPr lang="zh-CN" altLang="en-US" sz="28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4288988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习题解答</a:t>
            </a:r>
            <a:endParaRPr lang="zh-CN" altLang="en-US" dirty="0"/>
          </a:p>
        </p:txBody>
      </p:sp>
      <p:sp>
        <p:nvSpPr>
          <p:cNvPr id="4" name="内容占位符 2"/>
          <p:cNvSpPr>
            <a:spLocks noGrp="1"/>
          </p:cNvSpPr>
          <p:nvPr>
            <p:ph idx="1"/>
          </p:nvPr>
        </p:nvSpPr>
        <p:spPr>
          <a:xfrm>
            <a:off x="429532" y="1121478"/>
            <a:ext cx="7896225" cy="4745921"/>
          </a:xfrm>
        </p:spPr>
        <p:txBody>
          <a:bodyPr/>
          <a:lstStyle/>
          <a:p>
            <a:r>
              <a:rPr lang="en-US" altLang="zh-CN" sz="2800" b="0" dirty="0" smtClean="0">
                <a:latin typeface="黑体" panose="02010609060101010101" pitchFamily="49" charset="-122"/>
                <a:ea typeface="黑体" panose="02010609060101010101" pitchFamily="49" charset="-122"/>
              </a:rPr>
              <a:t>[2013</a:t>
            </a:r>
            <a:r>
              <a:rPr lang="zh-CN" altLang="en-US" sz="2800" b="0" dirty="0" smtClean="0">
                <a:latin typeface="黑体" panose="02010609060101010101" pitchFamily="49" charset="-122"/>
                <a:ea typeface="黑体" panose="02010609060101010101" pitchFamily="49" charset="-122"/>
              </a:rPr>
              <a:t>年考研题</a:t>
            </a:r>
            <a:r>
              <a:rPr lang="en-US" altLang="zh-CN" sz="2800" b="0" dirty="0" smtClean="0">
                <a:latin typeface="黑体" panose="02010609060101010101" pitchFamily="49" charset="-122"/>
                <a:ea typeface="黑体" panose="02010609060101010101" pitchFamily="49" charset="-122"/>
              </a:rPr>
              <a:t>]</a:t>
            </a:r>
            <a:r>
              <a:rPr lang="zh-CN" altLang="zh-CN" sz="2800" b="0" dirty="0" smtClean="0">
                <a:latin typeface="黑体" panose="02010609060101010101" pitchFamily="49" charset="-122"/>
                <a:ea typeface="黑体" panose="02010609060101010101" pitchFamily="49" charset="-122"/>
              </a:rPr>
              <a:t>某</a:t>
            </a:r>
            <a:r>
              <a:rPr lang="zh-CN" altLang="zh-CN" sz="2800" b="0" dirty="0">
                <a:latin typeface="黑体" panose="02010609060101010101" pitchFamily="49" charset="-122"/>
                <a:ea typeface="黑体" panose="02010609060101010101" pitchFamily="49" charset="-122"/>
              </a:rPr>
              <a:t>磁盘的转速为</a:t>
            </a:r>
            <a:r>
              <a:rPr lang="en-US" altLang="zh-CN" sz="2800" b="0" dirty="0" smtClean="0">
                <a:latin typeface="黑体" panose="02010609060101010101" pitchFamily="49" charset="-122"/>
                <a:ea typeface="黑体" panose="02010609060101010101" pitchFamily="49" charset="-122"/>
              </a:rPr>
              <a:t>10000</a:t>
            </a:r>
            <a:r>
              <a:rPr lang="zh-CN" altLang="zh-CN" sz="2800" b="0" dirty="0">
                <a:latin typeface="黑体" panose="02010609060101010101" pitchFamily="49" charset="-122"/>
                <a:ea typeface="黑体" panose="02010609060101010101" pitchFamily="49" charset="-122"/>
              </a:rPr>
              <a:t>转</a:t>
            </a:r>
            <a:r>
              <a:rPr lang="en-US" altLang="zh-CN" sz="2800" b="0" dirty="0">
                <a:latin typeface="黑体" panose="02010609060101010101" pitchFamily="49" charset="-122"/>
                <a:ea typeface="黑体" panose="02010609060101010101" pitchFamily="49" charset="-122"/>
              </a:rPr>
              <a:t>/</a:t>
            </a:r>
            <a:r>
              <a:rPr lang="zh-CN" altLang="zh-CN" sz="2800" b="0" dirty="0">
                <a:latin typeface="黑体" panose="02010609060101010101" pitchFamily="49" charset="-122"/>
                <a:ea typeface="黑体" panose="02010609060101010101" pitchFamily="49" charset="-122"/>
              </a:rPr>
              <a:t>分，平均寻道时间是</a:t>
            </a:r>
            <a:r>
              <a:rPr lang="en-US" altLang="zh-CN" sz="2800" b="0" dirty="0" smtClean="0">
                <a:latin typeface="黑体" panose="02010609060101010101" pitchFamily="49" charset="-122"/>
                <a:ea typeface="黑体" panose="02010609060101010101" pitchFamily="49" charset="-122"/>
              </a:rPr>
              <a:t>6ms</a:t>
            </a:r>
            <a:r>
              <a:rPr lang="zh-CN" altLang="zh-CN" sz="2800" b="0" dirty="0">
                <a:latin typeface="黑体" panose="02010609060101010101" pitchFamily="49" charset="-122"/>
                <a:ea typeface="黑体" panose="02010609060101010101" pitchFamily="49" charset="-122"/>
              </a:rPr>
              <a:t>，磁盘传输速率是</a:t>
            </a:r>
            <a:r>
              <a:rPr lang="en-US" altLang="zh-CN" sz="2800" b="0" dirty="0" smtClean="0">
                <a:latin typeface="黑体" panose="02010609060101010101" pitchFamily="49" charset="-122"/>
                <a:ea typeface="黑体" panose="02010609060101010101" pitchFamily="49" charset="-122"/>
              </a:rPr>
              <a:t>20MB/s</a:t>
            </a:r>
            <a:r>
              <a:rPr lang="zh-CN" altLang="zh-CN" sz="2800" b="0" dirty="0">
                <a:latin typeface="黑体" panose="02010609060101010101" pitchFamily="49" charset="-122"/>
                <a:ea typeface="黑体" panose="02010609060101010101" pitchFamily="49" charset="-122"/>
              </a:rPr>
              <a:t>，磁盘控制器延迟为</a:t>
            </a:r>
            <a:r>
              <a:rPr lang="en-US" altLang="zh-CN" sz="2800" b="0" dirty="0" smtClean="0">
                <a:latin typeface="黑体" panose="02010609060101010101" pitchFamily="49" charset="-122"/>
                <a:ea typeface="黑体" panose="02010609060101010101" pitchFamily="49" charset="-122"/>
              </a:rPr>
              <a:t>0.2ms</a:t>
            </a:r>
            <a:r>
              <a:rPr lang="zh-CN" altLang="zh-CN" sz="2800" b="0" dirty="0">
                <a:latin typeface="黑体" panose="02010609060101010101" pitchFamily="49" charset="-122"/>
                <a:ea typeface="黑体" panose="02010609060101010101" pitchFamily="49" charset="-122"/>
              </a:rPr>
              <a:t>，读取一个</a:t>
            </a:r>
            <a:r>
              <a:rPr lang="en-US" altLang="zh-CN" sz="2800" b="0" dirty="0" smtClean="0">
                <a:latin typeface="黑体" panose="02010609060101010101" pitchFamily="49" charset="-122"/>
                <a:ea typeface="黑体" panose="02010609060101010101" pitchFamily="49" charset="-122"/>
              </a:rPr>
              <a:t>4KB</a:t>
            </a:r>
            <a:r>
              <a:rPr lang="zh-CN" altLang="zh-CN" sz="2800" b="0" dirty="0">
                <a:latin typeface="黑体" panose="02010609060101010101" pitchFamily="49" charset="-122"/>
                <a:ea typeface="黑体" panose="02010609060101010101" pitchFamily="49" charset="-122"/>
              </a:rPr>
              <a:t>的扇区所需的平均时间约</a:t>
            </a:r>
            <a:r>
              <a:rPr lang="zh-CN" altLang="zh-CN" sz="2800" b="0" dirty="0" smtClean="0">
                <a:latin typeface="黑体" panose="02010609060101010101" pitchFamily="49" charset="-122"/>
                <a:ea typeface="黑体" panose="02010609060101010101" pitchFamily="49" charset="-122"/>
              </a:rPr>
              <a:t>为</a:t>
            </a:r>
            <a:r>
              <a:rPr lang="zh-CN" altLang="en-US" sz="2800" b="0" dirty="0" smtClean="0">
                <a:latin typeface="黑体" panose="02010609060101010101" pitchFamily="49" charset="-122"/>
                <a:ea typeface="黑体" panose="02010609060101010101" pitchFamily="49" charset="-122"/>
              </a:rPr>
              <a:t>：</a:t>
            </a:r>
            <a:endParaRPr lang="en-US" altLang="zh-CN" sz="2800" b="0" dirty="0" smtClean="0">
              <a:latin typeface="黑体" panose="02010609060101010101" pitchFamily="49" charset="-122"/>
              <a:ea typeface="黑体" panose="02010609060101010101" pitchFamily="49" charset="-122"/>
            </a:endParaRPr>
          </a:p>
          <a:p>
            <a:pPr marL="0" indent="0">
              <a:buNone/>
            </a:pPr>
            <a:r>
              <a:rPr lang="en-US" altLang="zh-CN" sz="2800" b="0" dirty="0" smtClean="0">
                <a:latin typeface="黑体" panose="02010609060101010101" pitchFamily="49" charset="-122"/>
                <a:ea typeface="黑体" panose="02010609060101010101" pitchFamily="49" charset="-122"/>
              </a:rPr>
              <a:t>  	A</a:t>
            </a:r>
            <a:r>
              <a:rPr lang="en-US" altLang="zh-CN" sz="2800" b="0" dirty="0">
                <a:latin typeface="黑体" panose="02010609060101010101" pitchFamily="49" charset="-122"/>
                <a:ea typeface="黑体" panose="02010609060101010101" pitchFamily="49" charset="-122"/>
              </a:rPr>
              <a:t>. 9 </a:t>
            </a:r>
            <a:r>
              <a:rPr lang="en-US" altLang="zh-CN" sz="2800" b="0" dirty="0" err="1">
                <a:latin typeface="黑体" panose="02010609060101010101" pitchFamily="49" charset="-122"/>
                <a:ea typeface="黑体" panose="02010609060101010101" pitchFamily="49" charset="-122"/>
              </a:rPr>
              <a:t>ms</a:t>
            </a:r>
            <a:r>
              <a:rPr lang="en-US" altLang="zh-CN" sz="2800" b="0" dirty="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	B</a:t>
            </a:r>
            <a:r>
              <a:rPr lang="en-US" altLang="zh-CN" sz="2800" b="0" dirty="0">
                <a:latin typeface="黑体" panose="02010609060101010101" pitchFamily="49" charset="-122"/>
                <a:ea typeface="黑体" panose="02010609060101010101" pitchFamily="49" charset="-122"/>
              </a:rPr>
              <a:t>. 9.4 </a:t>
            </a:r>
            <a:r>
              <a:rPr lang="en-US" altLang="zh-CN" sz="2800" b="0" dirty="0" err="1">
                <a:latin typeface="黑体" panose="02010609060101010101" pitchFamily="49" charset="-122"/>
                <a:ea typeface="黑体" panose="02010609060101010101" pitchFamily="49" charset="-122"/>
              </a:rPr>
              <a:t>ms</a:t>
            </a:r>
            <a:r>
              <a:rPr lang="en-US" altLang="zh-CN" sz="2800" b="0" dirty="0">
                <a:latin typeface="黑体" panose="02010609060101010101" pitchFamily="49" charset="-122"/>
                <a:ea typeface="黑体" panose="02010609060101010101" pitchFamily="49" charset="-122"/>
              </a:rPr>
              <a:t>       </a:t>
            </a:r>
            <a:endParaRPr lang="en-US" altLang="zh-CN" sz="2800" b="0" dirty="0" smtClean="0">
              <a:latin typeface="黑体" panose="02010609060101010101" pitchFamily="49" charset="-122"/>
              <a:ea typeface="黑体" panose="02010609060101010101" pitchFamily="49" charset="-122"/>
            </a:endParaRPr>
          </a:p>
          <a:p>
            <a:pPr marL="0" indent="0">
              <a:buNone/>
            </a:pPr>
            <a:r>
              <a:rPr lang="en-US" altLang="zh-CN" sz="2800" b="0" dirty="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C</a:t>
            </a:r>
            <a:r>
              <a:rPr lang="en-US" altLang="zh-CN" sz="2800" b="0" dirty="0">
                <a:latin typeface="黑体" panose="02010609060101010101" pitchFamily="49" charset="-122"/>
                <a:ea typeface="黑体" panose="02010609060101010101" pitchFamily="49" charset="-122"/>
              </a:rPr>
              <a:t>. 12 </a:t>
            </a:r>
            <a:r>
              <a:rPr lang="en-US" altLang="zh-CN" sz="2800" b="0" dirty="0" err="1">
                <a:latin typeface="黑体" panose="02010609060101010101" pitchFamily="49" charset="-122"/>
                <a:ea typeface="黑体" panose="02010609060101010101" pitchFamily="49" charset="-122"/>
              </a:rPr>
              <a:t>ms</a:t>
            </a:r>
            <a:r>
              <a:rPr lang="en-US" altLang="zh-CN" sz="2800" b="0" dirty="0">
                <a:latin typeface="黑体" panose="02010609060101010101" pitchFamily="49" charset="-122"/>
                <a:ea typeface="黑体" panose="02010609060101010101" pitchFamily="49" charset="-122"/>
              </a:rPr>
              <a:t>       </a:t>
            </a:r>
            <a:r>
              <a:rPr lang="en-US" altLang="zh-CN" sz="2800" b="0" dirty="0" smtClean="0">
                <a:latin typeface="黑体" panose="02010609060101010101" pitchFamily="49" charset="-122"/>
                <a:ea typeface="黑体" panose="02010609060101010101" pitchFamily="49" charset="-122"/>
              </a:rPr>
              <a:t>	D</a:t>
            </a:r>
            <a:r>
              <a:rPr lang="en-US" altLang="zh-CN" sz="2800" b="0" dirty="0">
                <a:latin typeface="黑体" panose="02010609060101010101" pitchFamily="49" charset="-122"/>
                <a:ea typeface="黑体" panose="02010609060101010101" pitchFamily="49" charset="-122"/>
              </a:rPr>
              <a:t>. 12.4 </a:t>
            </a:r>
            <a:r>
              <a:rPr lang="en-US" altLang="zh-CN" sz="2800" b="0" dirty="0" err="1">
                <a:latin typeface="黑体" panose="02010609060101010101" pitchFamily="49" charset="-122"/>
                <a:ea typeface="黑体" panose="02010609060101010101" pitchFamily="49" charset="-122"/>
              </a:rPr>
              <a:t>ms</a:t>
            </a:r>
            <a:r>
              <a:rPr lang="en-US" altLang="zh-CN" sz="2800" b="0" dirty="0">
                <a:latin typeface="黑体" panose="02010609060101010101" pitchFamily="49" charset="-122"/>
                <a:ea typeface="黑体" panose="02010609060101010101" pitchFamily="49" charset="-122"/>
              </a:rPr>
              <a:t> </a:t>
            </a:r>
            <a:endParaRPr lang="en-US" altLang="zh-CN" sz="2800" b="0" dirty="0" smtClean="0">
              <a:latin typeface="黑体" panose="02010609060101010101" pitchFamily="49" charset="-122"/>
              <a:ea typeface="黑体" panose="02010609060101010101" pitchFamily="49" charset="-122"/>
            </a:endParaRPr>
          </a:p>
          <a:p>
            <a:pPr marL="0" indent="0">
              <a:buNone/>
            </a:pPr>
            <a:endParaRPr lang="en-US" altLang="zh-CN" sz="2800" b="0" dirty="0">
              <a:latin typeface="黑体" panose="02010609060101010101" pitchFamily="49" charset="-122"/>
              <a:ea typeface="黑体" panose="02010609060101010101" pitchFamily="49" charset="-122"/>
            </a:endParaRPr>
          </a:p>
          <a:p>
            <a:pPr marL="0" indent="0">
              <a:buNone/>
            </a:pPr>
            <a:endParaRPr lang="en-US" altLang="zh-CN" sz="2800" b="0" dirty="0" smtClean="0">
              <a:latin typeface="黑体" panose="02010609060101010101" pitchFamily="49" charset="-122"/>
              <a:ea typeface="黑体" panose="02010609060101010101" pitchFamily="49" charset="-122"/>
            </a:endParaRPr>
          </a:p>
          <a:p>
            <a:pPr marL="0" indent="0">
              <a:buNone/>
            </a:pPr>
            <a:endParaRPr lang="zh-CN" altLang="en-US" sz="2800" b="0" dirty="0">
              <a:latin typeface="黑体" panose="02010609060101010101" pitchFamily="49" charset="-122"/>
              <a:ea typeface="黑体" panose="02010609060101010101" pitchFamily="49" charset="-122"/>
            </a:endParaRPr>
          </a:p>
        </p:txBody>
      </p:sp>
      <p:sp>
        <p:nvSpPr>
          <p:cNvPr id="5" name="文本框 4"/>
          <p:cNvSpPr txBox="1"/>
          <p:nvPr/>
        </p:nvSpPr>
        <p:spPr>
          <a:xfrm>
            <a:off x="794657" y="4419600"/>
            <a:ext cx="8153400" cy="2308324"/>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平均寻道时间是</a:t>
            </a:r>
            <a:r>
              <a:rPr lang="en-US" altLang="zh-CN" dirty="0">
                <a:latin typeface="黑体" panose="02010609060101010101" pitchFamily="49" charset="-122"/>
                <a:ea typeface="黑体" panose="02010609060101010101" pitchFamily="49" charset="-122"/>
              </a:rPr>
              <a:t>6 </a:t>
            </a:r>
            <a:r>
              <a:rPr lang="en-US" altLang="zh-CN" dirty="0" err="1" smtClean="0">
                <a:latin typeface="黑体" panose="02010609060101010101" pitchFamily="49" charset="-122"/>
                <a:ea typeface="黑体" panose="02010609060101010101" pitchFamily="49" charset="-122"/>
              </a:rPr>
              <a:t>ms</a:t>
            </a:r>
            <a:endParaRPr lang="en-US" altLang="zh-CN" b="0" dirty="0" smtClean="0">
              <a:latin typeface="黑体" panose="02010609060101010101" pitchFamily="49" charset="-122"/>
              <a:ea typeface="黑体" panose="02010609060101010101" pitchFamily="49" charset="-122"/>
            </a:endParaRPr>
          </a:p>
          <a:p>
            <a:r>
              <a:rPr lang="zh-CN" altLang="en-US" b="0" dirty="0" smtClean="0">
                <a:latin typeface="黑体" panose="02010609060101010101" pitchFamily="49" charset="-122"/>
                <a:ea typeface="黑体" panose="02010609060101010101" pitchFamily="49" charset="-122"/>
              </a:rPr>
              <a:t>磁盘</a:t>
            </a:r>
            <a:r>
              <a:rPr lang="zh-CN" altLang="en-US" b="0" dirty="0">
                <a:latin typeface="黑体" panose="02010609060101010101" pitchFamily="49" charset="-122"/>
                <a:ea typeface="黑体" panose="02010609060101010101" pitchFamily="49" charset="-122"/>
              </a:rPr>
              <a:t>转速是</a:t>
            </a:r>
            <a:r>
              <a:rPr lang="en-US" altLang="zh-CN" b="0" dirty="0" smtClean="0">
                <a:latin typeface="黑体" panose="02010609060101010101" pitchFamily="49" charset="-122"/>
                <a:ea typeface="黑体" panose="02010609060101010101" pitchFamily="49" charset="-122"/>
              </a:rPr>
              <a:t>10000</a:t>
            </a:r>
            <a:r>
              <a:rPr lang="zh-CN" altLang="en-US" b="0" dirty="0">
                <a:latin typeface="黑体" panose="02010609060101010101" pitchFamily="49" charset="-122"/>
                <a:ea typeface="黑体" panose="02010609060101010101" pitchFamily="49" charset="-122"/>
              </a:rPr>
              <a:t>转</a:t>
            </a:r>
            <a:r>
              <a:rPr lang="en-US" altLang="zh-CN" b="0" dirty="0">
                <a:latin typeface="黑体" panose="02010609060101010101" pitchFamily="49" charset="-122"/>
                <a:ea typeface="黑体" panose="02010609060101010101" pitchFamily="49" charset="-122"/>
              </a:rPr>
              <a:t>/</a:t>
            </a:r>
            <a:r>
              <a:rPr lang="zh-CN" altLang="en-US" b="0" dirty="0" smtClean="0">
                <a:latin typeface="黑体" panose="02010609060101010101" pitchFamily="49" charset="-122"/>
                <a:ea typeface="黑体" panose="02010609060101010101" pitchFamily="49" charset="-122"/>
              </a:rPr>
              <a:t>分钟</a:t>
            </a:r>
            <a:endParaRPr lang="en-US" altLang="zh-CN" b="0" dirty="0" smtClean="0">
              <a:latin typeface="黑体" panose="02010609060101010101" pitchFamily="49" charset="-122"/>
              <a:ea typeface="黑体" panose="02010609060101010101" pitchFamily="49" charset="-122"/>
            </a:endParaRPr>
          </a:p>
          <a:p>
            <a:r>
              <a:rPr lang="zh-CN" altLang="en-US" b="0" dirty="0" smtClean="0">
                <a:latin typeface="黑体" panose="02010609060101010101" pitchFamily="49" charset="-122"/>
                <a:ea typeface="黑体" panose="02010609060101010101" pitchFamily="49" charset="-122"/>
              </a:rPr>
              <a:t>    </a:t>
            </a:r>
            <a:r>
              <a:rPr lang="en-US" altLang="zh-CN" b="0" dirty="0" smtClean="0">
                <a:latin typeface="黑体" panose="02010609060101010101" pitchFamily="49" charset="-122"/>
                <a:ea typeface="黑体" panose="02010609060101010101" pitchFamily="49" charset="-122"/>
              </a:rPr>
              <a:t>=&gt; </a:t>
            </a:r>
            <a:r>
              <a:rPr lang="zh-CN" altLang="en-US" b="0" dirty="0" smtClean="0">
                <a:latin typeface="黑体" panose="02010609060101010101" pitchFamily="49" charset="-122"/>
                <a:ea typeface="黑体" panose="02010609060101010101" pitchFamily="49" charset="-122"/>
              </a:rPr>
              <a:t>平均转一圈的</a:t>
            </a:r>
            <a:r>
              <a:rPr lang="zh-CN" altLang="en-US" b="0" dirty="0">
                <a:latin typeface="黑体" panose="02010609060101010101" pitchFamily="49" charset="-122"/>
                <a:ea typeface="黑体" panose="02010609060101010101" pitchFamily="49" charset="-122"/>
              </a:rPr>
              <a:t>时间是</a:t>
            </a:r>
            <a:r>
              <a:rPr lang="en-US" altLang="zh-CN" b="0" dirty="0" smtClean="0">
                <a:latin typeface="黑体" panose="02010609060101010101" pitchFamily="49" charset="-122"/>
                <a:ea typeface="黑体" panose="02010609060101010101" pitchFamily="49" charset="-122"/>
              </a:rPr>
              <a:t>6ms</a:t>
            </a:r>
          </a:p>
          <a:p>
            <a:r>
              <a:rPr lang="en-US" altLang="zh-CN" dirty="0">
                <a:latin typeface="黑体" panose="02010609060101010101" pitchFamily="49" charset="-122"/>
                <a:ea typeface="黑体" panose="02010609060101010101" pitchFamily="49" charset="-122"/>
              </a:rPr>
              <a:t> </a:t>
            </a:r>
            <a:r>
              <a:rPr lang="en-US" altLang="zh-CN" dirty="0" smtClean="0">
                <a:latin typeface="黑体" panose="02010609060101010101" pitchFamily="49" charset="-122"/>
                <a:ea typeface="黑体" panose="02010609060101010101" pitchFamily="49" charset="-122"/>
              </a:rPr>
              <a:t>   =&gt; </a:t>
            </a:r>
            <a:r>
              <a:rPr lang="zh-CN" altLang="en-US" dirty="0" smtClean="0">
                <a:latin typeface="黑体" panose="02010609060101010101" pitchFamily="49" charset="-122"/>
                <a:ea typeface="黑体" panose="02010609060101010101" pitchFamily="49" charset="-122"/>
              </a:rPr>
              <a:t>平均</a:t>
            </a:r>
            <a:r>
              <a:rPr lang="zh-CN" altLang="en-US" dirty="0">
                <a:latin typeface="黑体" panose="02010609060101010101" pitchFamily="49" charset="-122"/>
                <a:ea typeface="黑体" panose="02010609060101010101" pitchFamily="49" charset="-122"/>
              </a:rPr>
              <a:t>查询扇区的时间是</a:t>
            </a:r>
            <a:r>
              <a:rPr lang="en-US" altLang="zh-CN" dirty="0">
                <a:latin typeface="黑体" panose="02010609060101010101" pitchFamily="49" charset="-122"/>
                <a:ea typeface="黑体" panose="02010609060101010101" pitchFamily="49" charset="-122"/>
              </a:rPr>
              <a:t>3 </a:t>
            </a:r>
            <a:r>
              <a:rPr lang="en-US" altLang="zh-CN" dirty="0" err="1" smtClean="0">
                <a:latin typeface="黑体" panose="02010609060101010101" pitchFamily="49" charset="-122"/>
                <a:ea typeface="黑体" panose="02010609060101010101" pitchFamily="49" charset="-122"/>
              </a:rPr>
              <a:t>ms</a:t>
            </a:r>
            <a:r>
              <a:rPr lang="en-US" altLang="zh-CN" dirty="0" smtClean="0">
                <a:latin typeface="黑体" panose="02010609060101010101" pitchFamily="49" charset="-122"/>
                <a:ea typeface="黑体" panose="02010609060101010101" pitchFamily="49" charset="-122"/>
              </a:rPr>
              <a:t> </a:t>
            </a:r>
            <a:r>
              <a:rPr lang="zh-CN" altLang="en-US" dirty="0" smtClean="0">
                <a:latin typeface="黑体" panose="02010609060101010101" pitchFamily="49" charset="-122"/>
                <a:ea typeface="黑体" panose="02010609060101010101" pitchFamily="49" charset="-122"/>
              </a:rPr>
              <a:t>（等待时间）</a:t>
            </a:r>
            <a:endParaRPr lang="en-US" altLang="zh-CN" dirty="0" smtClean="0">
              <a:latin typeface="黑体" panose="02010609060101010101" pitchFamily="49" charset="-122"/>
              <a:ea typeface="黑体" panose="02010609060101010101" pitchFamily="49" charset="-122"/>
            </a:endParaRPr>
          </a:p>
          <a:p>
            <a:r>
              <a:rPr lang="zh-CN" altLang="en-US" b="0" dirty="0" smtClean="0">
                <a:latin typeface="黑体" panose="02010609060101010101" pitchFamily="49" charset="-122"/>
                <a:ea typeface="黑体" panose="02010609060101010101" pitchFamily="49" charset="-122"/>
              </a:rPr>
              <a:t>读取</a:t>
            </a:r>
            <a:r>
              <a:rPr lang="en-US" altLang="zh-CN" b="0" dirty="0" smtClean="0">
                <a:latin typeface="黑体" panose="02010609060101010101" pitchFamily="49" charset="-122"/>
                <a:ea typeface="黑体" panose="02010609060101010101" pitchFamily="49" charset="-122"/>
              </a:rPr>
              <a:t>4 KB</a:t>
            </a:r>
            <a:r>
              <a:rPr lang="zh-CN" altLang="en-US" b="0" dirty="0">
                <a:latin typeface="黑体" panose="02010609060101010101" pitchFamily="49" charset="-122"/>
                <a:ea typeface="黑体" panose="02010609060101010101" pitchFamily="49" charset="-122"/>
              </a:rPr>
              <a:t>扇区信息的时间</a:t>
            </a:r>
            <a:r>
              <a:rPr lang="zh-CN" altLang="en-US" b="0" dirty="0" smtClean="0">
                <a:latin typeface="黑体" panose="02010609060101010101" pitchFamily="49" charset="-122"/>
                <a:ea typeface="黑体" panose="02010609060101010101" pitchFamily="49" charset="-122"/>
              </a:rPr>
              <a:t>为</a:t>
            </a:r>
            <a:r>
              <a:rPr lang="en-US" altLang="zh-CN" b="0" dirty="0" smtClean="0">
                <a:latin typeface="黑体" panose="02010609060101010101" pitchFamily="49" charset="-122"/>
                <a:ea typeface="黑体" panose="02010609060101010101" pitchFamily="49" charset="-122"/>
              </a:rPr>
              <a:t>4KB/20MB = 0.2 </a:t>
            </a:r>
            <a:r>
              <a:rPr lang="en-US" altLang="zh-CN" b="0" dirty="0" err="1" smtClean="0">
                <a:latin typeface="黑体" panose="02010609060101010101" pitchFamily="49" charset="-122"/>
                <a:ea typeface="黑体" panose="02010609060101010101" pitchFamily="49" charset="-122"/>
              </a:rPr>
              <a:t>ms</a:t>
            </a:r>
            <a:endParaRPr lang="en-US" altLang="zh-CN" b="0" dirty="0" smtClean="0">
              <a:latin typeface="黑体" panose="02010609060101010101" pitchFamily="49" charset="-122"/>
              <a:ea typeface="黑体" panose="02010609060101010101" pitchFamily="49" charset="-122"/>
            </a:endParaRPr>
          </a:p>
          <a:p>
            <a:r>
              <a:rPr lang="zh-CN" altLang="en-US" b="0" dirty="0" smtClean="0">
                <a:latin typeface="黑体" panose="02010609060101010101" pitchFamily="49" charset="-122"/>
                <a:ea typeface="黑体" panose="02010609060101010101" pitchFamily="49" charset="-122"/>
              </a:rPr>
              <a:t>总</a:t>
            </a:r>
            <a:r>
              <a:rPr lang="zh-CN" altLang="en-US" b="0" dirty="0">
                <a:latin typeface="黑体" panose="02010609060101010101" pitchFamily="49" charset="-122"/>
                <a:ea typeface="黑体" panose="02010609060101010101" pitchFamily="49" charset="-122"/>
              </a:rPr>
              <a:t>时间为</a:t>
            </a:r>
            <a:r>
              <a:rPr lang="en-US" altLang="zh-CN" b="0" dirty="0" smtClean="0">
                <a:latin typeface="黑体" panose="02010609060101010101" pitchFamily="49" charset="-122"/>
                <a:ea typeface="黑体" panose="02010609060101010101" pitchFamily="49" charset="-122"/>
              </a:rPr>
              <a:t>3+6+0.2 + 0.2 =9.4 </a:t>
            </a:r>
            <a:r>
              <a:rPr lang="en-US" altLang="zh-CN" b="0" dirty="0" err="1" smtClean="0">
                <a:latin typeface="黑体" panose="02010609060101010101" pitchFamily="49" charset="-122"/>
                <a:ea typeface="黑体" panose="02010609060101010101" pitchFamily="49" charset="-122"/>
              </a:rPr>
              <a:t>ms</a:t>
            </a:r>
            <a:endParaRPr lang="zh-CN" altLang="en-US" b="0" dirty="0" smtClean="0">
              <a:latin typeface="黑体" panose="02010609060101010101" pitchFamily="49" charset="-122"/>
              <a:ea typeface="黑体" panose="02010609060101010101" pitchFamily="49" charset="-122"/>
            </a:endParaRPr>
          </a:p>
        </p:txBody>
      </p:sp>
      <p:sp>
        <p:nvSpPr>
          <p:cNvPr id="6" name="文本框 5"/>
          <p:cNvSpPr txBox="1"/>
          <p:nvPr/>
        </p:nvSpPr>
        <p:spPr>
          <a:xfrm>
            <a:off x="772886" y="4010327"/>
            <a:ext cx="8447314" cy="523220"/>
          </a:xfrm>
          <a:prstGeom prst="rect">
            <a:avLst/>
          </a:prstGeom>
          <a:noFill/>
        </p:spPr>
        <p:txBody>
          <a:bodyPr wrap="square" rtlCol="0">
            <a:spAutoFit/>
          </a:bodyPr>
          <a:lstStyle/>
          <a:p>
            <a:r>
              <a:rPr lang="zh-CN" altLang="en-US" sz="2800" dirty="0">
                <a:latin typeface="黑体" panose="02010609060101010101" pitchFamily="49" charset="-122"/>
                <a:ea typeface="黑体" panose="02010609060101010101" pitchFamily="49" charset="-122"/>
              </a:rPr>
              <a:t>寻道时间 </a:t>
            </a:r>
            <a:r>
              <a:rPr lang="en-US" altLang="zh-CN" sz="2800" dirty="0">
                <a:latin typeface="黑体" panose="02010609060101010101" pitchFamily="49" charset="-122"/>
                <a:ea typeface="黑体" panose="02010609060101010101" pitchFamily="49" charset="-122"/>
              </a:rPr>
              <a:t>+ </a:t>
            </a:r>
            <a:r>
              <a:rPr lang="zh-CN" altLang="en-US" sz="2800" dirty="0" smtClean="0">
                <a:latin typeface="黑体" panose="02010609060101010101" pitchFamily="49" charset="-122"/>
                <a:ea typeface="黑体" panose="02010609060101010101" pitchFamily="49" charset="-122"/>
              </a:rPr>
              <a:t>等待时间 </a:t>
            </a:r>
            <a:r>
              <a:rPr lang="en-US" altLang="zh-CN" sz="2800" dirty="0" smtClean="0">
                <a:latin typeface="黑体" panose="02010609060101010101" pitchFamily="49" charset="-122"/>
                <a:ea typeface="黑体" panose="02010609060101010101" pitchFamily="49" charset="-122"/>
              </a:rPr>
              <a:t>+ </a:t>
            </a:r>
            <a:r>
              <a:rPr lang="zh-CN" altLang="en-US" sz="2800" dirty="0" smtClean="0">
                <a:latin typeface="黑体" panose="02010609060101010101" pitchFamily="49" charset="-122"/>
                <a:ea typeface="黑体" panose="02010609060101010101" pitchFamily="49" charset="-122"/>
              </a:rPr>
              <a:t>数据传送时间 </a:t>
            </a:r>
            <a:r>
              <a:rPr lang="en-US" altLang="zh-CN" sz="2800" dirty="0" smtClean="0">
                <a:latin typeface="黑体" panose="02010609060101010101" pitchFamily="49" charset="-122"/>
                <a:ea typeface="黑体" panose="02010609060101010101" pitchFamily="49" charset="-122"/>
              </a:rPr>
              <a:t>+ </a:t>
            </a:r>
            <a:r>
              <a:rPr lang="zh-CN" altLang="en-US" sz="2800" dirty="0" smtClean="0">
                <a:latin typeface="黑体" panose="02010609060101010101" pitchFamily="49" charset="-122"/>
                <a:ea typeface="黑体" panose="02010609060101010101" pitchFamily="49" charset="-122"/>
              </a:rPr>
              <a:t>延迟</a:t>
            </a:r>
            <a:endParaRPr lang="zh-CN" altLang="en-US" sz="2800" dirty="0" smtClean="0">
              <a:latin typeface="Calibri" pitchFamily="34" charset="0"/>
            </a:endParaRPr>
          </a:p>
        </p:txBody>
      </p:sp>
    </p:spTree>
    <p:extLst>
      <p:ext uri="{BB962C8B-B14F-4D97-AF65-F5344CB8AC3E}">
        <p14:creationId xmlns:p14="http://schemas.microsoft.com/office/powerpoint/2010/main" val="304989247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期中考试详解</a:t>
            </a:r>
            <a:endParaRPr lang="zh-CN" altLang="en-US" dirty="0"/>
          </a:p>
        </p:txBody>
      </p:sp>
      <p:sp>
        <p:nvSpPr>
          <p:cNvPr id="3" name="内容占位符 2"/>
          <p:cNvSpPr>
            <a:spLocks noGrp="1"/>
          </p:cNvSpPr>
          <p:nvPr>
            <p:ph idx="1"/>
          </p:nvPr>
        </p:nvSpPr>
        <p:spPr/>
        <p:txBody>
          <a:bodyPr/>
          <a:lstStyle/>
          <a:p>
            <a:pPr marL="0" lvl="0" indent="0">
              <a:lnSpc>
                <a:spcPct val="90000"/>
              </a:lnSpc>
              <a:buClr>
                <a:srgbClr val="CC3300"/>
              </a:buClr>
              <a:buSzTx/>
              <a:buNone/>
              <a:tabLst>
                <a:tab pos="1524000" algn="l"/>
              </a:tabLst>
              <a:defRPr/>
            </a:pPr>
            <a:r>
              <a:rPr kumimoji="1" lang="zh-CN" altLang="en-US" sz="2800" b="0" dirty="0">
                <a:solidFill>
                  <a:srgbClr val="000000"/>
                </a:solidFill>
                <a:latin typeface="黑体" panose="02010609060101010101" pitchFamily="49" charset="-122"/>
                <a:ea typeface="黑体" panose="02010609060101010101" pitchFamily="49" charset="-122"/>
              </a:rPr>
              <a:t>某计算机主频为</a:t>
            </a:r>
            <a:r>
              <a:rPr kumimoji="1" lang="en-US" altLang="zh-CN" sz="2800" b="0" dirty="0">
                <a:solidFill>
                  <a:srgbClr val="000000"/>
                </a:solidFill>
                <a:latin typeface="黑体" panose="02010609060101010101" pitchFamily="49" charset="-122"/>
                <a:ea typeface="黑体" panose="02010609060101010101" pitchFamily="49" charset="-122"/>
              </a:rPr>
              <a:t>1.48GHz</a:t>
            </a:r>
            <a:r>
              <a:rPr kumimoji="1" lang="zh-CN" altLang="en-US" sz="2800" b="0" dirty="0">
                <a:solidFill>
                  <a:srgbClr val="000000"/>
                </a:solidFill>
                <a:latin typeface="黑体" panose="02010609060101010101" pitchFamily="49" charset="-122"/>
                <a:ea typeface="黑体" panose="02010609060101010101" pitchFamily="49" charset="-122"/>
              </a:rPr>
              <a:t>，其</a:t>
            </a:r>
            <a:r>
              <a:rPr kumimoji="1" lang="zh-CN" altLang="en-US" sz="2800" b="0" dirty="0" smtClean="0">
                <a:solidFill>
                  <a:srgbClr val="000000"/>
                </a:solidFill>
                <a:latin typeface="黑体" panose="02010609060101010101" pitchFamily="49" charset="-122"/>
                <a:ea typeface="黑体" panose="02010609060101010101" pitchFamily="49" charset="-122"/>
              </a:rPr>
              <a:t>指令分为</a:t>
            </a:r>
            <a:r>
              <a:rPr kumimoji="1" lang="en-US" altLang="zh-CN" sz="2800" b="0" dirty="0">
                <a:solidFill>
                  <a:srgbClr val="000000"/>
                </a:solidFill>
                <a:latin typeface="黑体" panose="02010609060101010101" pitchFamily="49" charset="-122"/>
                <a:ea typeface="黑体" panose="02010609060101010101" pitchFamily="49" charset="-122"/>
              </a:rPr>
              <a:t>3</a:t>
            </a:r>
            <a:r>
              <a:rPr kumimoji="1" lang="zh-CN" altLang="en-US" sz="2800" b="0" dirty="0">
                <a:solidFill>
                  <a:srgbClr val="000000"/>
                </a:solidFill>
                <a:latin typeface="黑体" panose="02010609060101010101" pitchFamily="49" charset="-122"/>
                <a:ea typeface="黑体" panose="02010609060101010101" pitchFamily="49" charset="-122"/>
              </a:rPr>
              <a:t>类，它们在基准程序中所占</a:t>
            </a:r>
            <a:r>
              <a:rPr kumimoji="1" lang="zh-CN" altLang="en-US" sz="2800" b="0" dirty="0" smtClean="0">
                <a:solidFill>
                  <a:srgbClr val="000000"/>
                </a:solidFill>
                <a:latin typeface="黑体" panose="02010609060101010101" pitchFamily="49" charset="-122"/>
                <a:ea typeface="黑体" panose="02010609060101010101" pitchFamily="49" charset="-122"/>
              </a:rPr>
              <a:t>比例</a:t>
            </a:r>
            <a:r>
              <a:rPr kumimoji="1" lang="zh-CN" altLang="en-US" sz="2800" b="0" dirty="0">
                <a:solidFill>
                  <a:srgbClr val="000000"/>
                </a:solidFill>
                <a:latin typeface="黑体" panose="02010609060101010101" pitchFamily="49" charset="-122"/>
                <a:ea typeface="黑体" panose="02010609060101010101" pitchFamily="49" charset="-122"/>
              </a:rPr>
              <a:t>及</a:t>
            </a:r>
            <a:r>
              <a:rPr kumimoji="1" lang="en-US" altLang="zh-CN" sz="2800" b="0" dirty="0">
                <a:solidFill>
                  <a:srgbClr val="000000"/>
                </a:solidFill>
                <a:latin typeface="黑体" panose="02010609060101010101" pitchFamily="49" charset="-122"/>
                <a:ea typeface="黑体" panose="02010609060101010101" pitchFamily="49" charset="-122"/>
              </a:rPr>
              <a:t>CPI</a:t>
            </a:r>
            <a:r>
              <a:rPr kumimoji="1" lang="zh-CN" altLang="en-US" sz="2800" b="0" dirty="0">
                <a:solidFill>
                  <a:srgbClr val="000000"/>
                </a:solidFill>
                <a:latin typeface="黑体" panose="02010609060101010101" pitchFamily="49" charset="-122"/>
                <a:ea typeface="黑体" panose="02010609060101010101" pitchFamily="49" charset="-122"/>
              </a:rPr>
              <a:t>如右表所示，请计算该</a:t>
            </a:r>
            <a:r>
              <a:rPr kumimoji="1" lang="zh-CN" altLang="en-US" sz="2800" b="0" dirty="0" smtClean="0">
                <a:solidFill>
                  <a:srgbClr val="000000"/>
                </a:solidFill>
                <a:latin typeface="黑体" panose="02010609060101010101" pitchFamily="49" charset="-122"/>
                <a:ea typeface="黑体" panose="02010609060101010101" pitchFamily="49" charset="-122"/>
              </a:rPr>
              <a:t>机的</a:t>
            </a:r>
            <a:r>
              <a:rPr kumimoji="1" lang="en-US" altLang="zh-CN" sz="2800" b="0" dirty="0">
                <a:solidFill>
                  <a:srgbClr val="000000"/>
                </a:solidFill>
                <a:latin typeface="黑体" panose="02010609060101010101" pitchFamily="49" charset="-122"/>
                <a:ea typeface="黑体" panose="02010609060101010101" pitchFamily="49" charset="-122"/>
              </a:rPr>
              <a:t>MIPS</a:t>
            </a:r>
            <a:r>
              <a:rPr kumimoji="1" lang="zh-CN" altLang="en-US" sz="2800" b="0" dirty="0" smtClean="0">
                <a:solidFill>
                  <a:srgbClr val="000000"/>
                </a:solidFill>
                <a:latin typeface="黑体" panose="02010609060101010101" pitchFamily="49" charset="-122"/>
                <a:ea typeface="黑体" panose="02010609060101010101" pitchFamily="49" charset="-122"/>
              </a:rPr>
              <a:t>数</a:t>
            </a:r>
            <a:endParaRPr kumimoji="1" lang="en-US" altLang="zh-CN" sz="2800" b="0" dirty="0">
              <a:solidFill>
                <a:srgbClr val="000000"/>
              </a:solidFill>
              <a:latin typeface="黑体" panose="02010609060101010101" pitchFamily="49" charset="-122"/>
              <a:ea typeface="黑体" panose="02010609060101010101" pitchFamily="49" charset="-122"/>
            </a:endParaRPr>
          </a:p>
          <a:p>
            <a:endParaRPr lang="zh-CN" altLang="en-US" sz="2800" b="0" dirty="0">
              <a:latin typeface="黑体" panose="02010609060101010101" pitchFamily="49" charset="-122"/>
              <a:ea typeface="黑体" panose="02010609060101010101" pitchFamily="49" charset="-122"/>
            </a:endParaRPr>
          </a:p>
        </p:txBody>
      </p:sp>
      <p:graphicFrame>
        <p:nvGraphicFramePr>
          <p:cNvPr id="4" name="表格 3"/>
          <p:cNvGraphicFramePr>
            <a:graphicFrameLocks noGrp="1"/>
          </p:cNvGraphicFramePr>
          <p:nvPr>
            <p:extLst>
              <p:ext uri="{D42A27DB-BD31-4B8C-83A1-F6EECF244321}">
                <p14:modId xmlns:p14="http://schemas.microsoft.com/office/powerpoint/2010/main" val="1412055386"/>
              </p:ext>
            </p:extLst>
          </p:nvPr>
        </p:nvGraphicFramePr>
        <p:xfrm>
          <a:off x="1676400" y="3109117"/>
          <a:ext cx="5715000" cy="2682082"/>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tblGrid>
              <a:tr h="663706">
                <a:tc>
                  <a:txBody>
                    <a:bodyPr/>
                    <a:lstStyle/>
                    <a:p>
                      <a:pPr algn="ctr"/>
                      <a:r>
                        <a:rPr lang="zh-CN" altLang="en-US" sz="2800" dirty="0" smtClean="0"/>
                        <a:t>指令类型</a:t>
                      </a:r>
                      <a:endParaRPr lang="zh-CN" altLang="en-US" sz="2800" dirty="0"/>
                    </a:p>
                  </a:txBody>
                  <a:tcPr marT="45708" marB="45708"/>
                </a:tc>
                <a:tc>
                  <a:txBody>
                    <a:bodyPr/>
                    <a:lstStyle/>
                    <a:p>
                      <a:pPr algn="ctr"/>
                      <a:r>
                        <a:rPr lang="zh-CN" altLang="en-US" sz="2800" dirty="0" smtClean="0"/>
                        <a:t>所占比例</a:t>
                      </a:r>
                      <a:endParaRPr lang="zh-CN" altLang="en-US" sz="2800" dirty="0"/>
                    </a:p>
                  </a:txBody>
                  <a:tcPr marT="45708" marB="45708"/>
                </a:tc>
                <a:tc>
                  <a:txBody>
                    <a:bodyPr/>
                    <a:lstStyle/>
                    <a:p>
                      <a:pPr algn="ctr"/>
                      <a:r>
                        <a:rPr lang="en-US" altLang="zh-CN" sz="2800" dirty="0" smtClean="0"/>
                        <a:t>CPI</a:t>
                      </a:r>
                      <a:endParaRPr lang="zh-CN" altLang="en-US" sz="2800" dirty="0"/>
                    </a:p>
                  </a:txBody>
                  <a:tcPr marT="45708" marB="45708"/>
                </a:tc>
                <a:extLst>
                  <a:ext uri="{0D108BD9-81ED-4DB2-BD59-A6C34878D82A}">
                    <a16:rowId xmlns:a16="http://schemas.microsoft.com/office/drawing/2014/main" val="10000"/>
                  </a:ext>
                </a:extLst>
              </a:tr>
              <a:tr h="672792">
                <a:tc>
                  <a:txBody>
                    <a:bodyPr/>
                    <a:lstStyle/>
                    <a:p>
                      <a:pPr algn="ctr"/>
                      <a:r>
                        <a:rPr lang="en-US" altLang="zh-CN" sz="2800" dirty="0" smtClean="0"/>
                        <a:t>A</a:t>
                      </a:r>
                      <a:endParaRPr lang="zh-CN" altLang="en-US" sz="2800" dirty="0"/>
                    </a:p>
                  </a:txBody>
                  <a:tcPr marT="45708" marB="45708"/>
                </a:tc>
                <a:tc>
                  <a:txBody>
                    <a:bodyPr/>
                    <a:lstStyle/>
                    <a:p>
                      <a:pPr algn="ctr"/>
                      <a:r>
                        <a:rPr lang="en-US" altLang="zh-CN" sz="2800" dirty="0" smtClean="0"/>
                        <a:t>50%</a:t>
                      </a:r>
                      <a:endParaRPr lang="zh-CN" altLang="en-US" sz="2800" dirty="0"/>
                    </a:p>
                  </a:txBody>
                  <a:tcPr marT="45708" marB="45708"/>
                </a:tc>
                <a:tc>
                  <a:txBody>
                    <a:bodyPr/>
                    <a:lstStyle/>
                    <a:p>
                      <a:pPr algn="ctr"/>
                      <a:r>
                        <a:rPr lang="en-US" altLang="zh-CN" sz="2800" dirty="0" smtClean="0"/>
                        <a:t>3</a:t>
                      </a:r>
                      <a:endParaRPr lang="zh-CN" altLang="en-US" sz="2800" dirty="0"/>
                    </a:p>
                  </a:txBody>
                  <a:tcPr marT="45708" marB="45708"/>
                </a:tc>
                <a:extLst>
                  <a:ext uri="{0D108BD9-81ED-4DB2-BD59-A6C34878D82A}">
                    <a16:rowId xmlns:a16="http://schemas.microsoft.com/office/drawing/2014/main" val="10001"/>
                  </a:ext>
                </a:extLst>
              </a:tr>
              <a:tr h="672792">
                <a:tc>
                  <a:txBody>
                    <a:bodyPr/>
                    <a:lstStyle/>
                    <a:p>
                      <a:pPr algn="ctr"/>
                      <a:r>
                        <a:rPr lang="en-US" altLang="zh-CN" sz="2800" dirty="0" smtClean="0"/>
                        <a:t>B</a:t>
                      </a:r>
                      <a:endParaRPr lang="zh-CN" altLang="en-US" sz="2800" dirty="0"/>
                    </a:p>
                  </a:txBody>
                  <a:tcPr marT="45708" marB="45708"/>
                </a:tc>
                <a:tc>
                  <a:txBody>
                    <a:bodyPr/>
                    <a:lstStyle/>
                    <a:p>
                      <a:pPr algn="ctr"/>
                      <a:r>
                        <a:rPr lang="en-US" altLang="zh-CN" sz="2800" dirty="0" smtClean="0"/>
                        <a:t>30%</a:t>
                      </a:r>
                      <a:endParaRPr lang="zh-CN" altLang="en-US" sz="2800" dirty="0"/>
                    </a:p>
                  </a:txBody>
                  <a:tcPr marT="45708" marB="45708"/>
                </a:tc>
                <a:tc>
                  <a:txBody>
                    <a:bodyPr/>
                    <a:lstStyle/>
                    <a:p>
                      <a:pPr algn="ctr"/>
                      <a:r>
                        <a:rPr lang="en-US" altLang="zh-CN" sz="2800" dirty="0" smtClean="0"/>
                        <a:t>4</a:t>
                      </a:r>
                      <a:endParaRPr lang="zh-CN" altLang="en-US" sz="2800" dirty="0"/>
                    </a:p>
                  </a:txBody>
                  <a:tcPr marT="45708" marB="45708"/>
                </a:tc>
                <a:extLst>
                  <a:ext uri="{0D108BD9-81ED-4DB2-BD59-A6C34878D82A}">
                    <a16:rowId xmlns:a16="http://schemas.microsoft.com/office/drawing/2014/main" val="10002"/>
                  </a:ext>
                </a:extLst>
              </a:tr>
              <a:tr h="672792">
                <a:tc>
                  <a:txBody>
                    <a:bodyPr/>
                    <a:lstStyle/>
                    <a:p>
                      <a:pPr algn="ctr"/>
                      <a:r>
                        <a:rPr lang="en-US" altLang="zh-CN" sz="2800" dirty="0" smtClean="0"/>
                        <a:t>C</a:t>
                      </a:r>
                      <a:endParaRPr lang="zh-CN" altLang="en-US" sz="2800" dirty="0"/>
                    </a:p>
                  </a:txBody>
                  <a:tcPr marT="45708" marB="45708"/>
                </a:tc>
                <a:tc>
                  <a:txBody>
                    <a:bodyPr/>
                    <a:lstStyle/>
                    <a:p>
                      <a:pPr algn="ctr"/>
                      <a:r>
                        <a:rPr lang="en-US" altLang="zh-CN" sz="2800" dirty="0" smtClean="0"/>
                        <a:t>20%</a:t>
                      </a:r>
                      <a:endParaRPr lang="zh-CN" altLang="en-US" sz="2800" dirty="0"/>
                    </a:p>
                  </a:txBody>
                  <a:tcPr marT="45708" marB="45708"/>
                </a:tc>
                <a:tc>
                  <a:txBody>
                    <a:bodyPr/>
                    <a:lstStyle/>
                    <a:p>
                      <a:pPr algn="ctr"/>
                      <a:r>
                        <a:rPr lang="en-US" altLang="zh-CN" sz="2800" dirty="0" smtClean="0"/>
                        <a:t>5</a:t>
                      </a:r>
                      <a:endParaRPr lang="zh-CN" altLang="en-US" sz="2800" dirty="0"/>
                    </a:p>
                  </a:txBody>
                  <a:tcPr marT="45708" marB="45708"/>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84994405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期中考试详解</a:t>
            </a:r>
            <a:endParaRPr lang="zh-CN" altLang="en-US" dirty="0"/>
          </a:p>
        </p:txBody>
      </p:sp>
      <p:sp>
        <p:nvSpPr>
          <p:cNvPr id="3" name="内容占位符 2"/>
          <p:cNvSpPr>
            <a:spLocks noGrp="1"/>
          </p:cNvSpPr>
          <p:nvPr>
            <p:ph idx="1"/>
          </p:nvPr>
        </p:nvSpPr>
        <p:spPr>
          <a:xfrm>
            <a:off x="396875" y="1362075"/>
            <a:ext cx="8137525" cy="4972050"/>
          </a:xfrm>
        </p:spPr>
        <p:txBody>
          <a:bodyPr/>
          <a:lstStyle/>
          <a:p>
            <a:r>
              <a:rPr lang="zh-CN" altLang="en-US" sz="2800" b="0" dirty="0" smtClean="0">
                <a:latin typeface="黑体" panose="02010609060101010101" pitchFamily="49" charset="-122"/>
                <a:ea typeface="黑体" panose="02010609060101010101" pitchFamily="49" charset="-122"/>
              </a:rPr>
              <a:t>设</a:t>
            </a:r>
            <a:r>
              <a:rPr lang="zh-CN" altLang="en-US" sz="2800" b="0" dirty="0">
                <a:latin typeface="黑体" panose="02010609060101010101" pitchFamily="49" charset="-122"/>
                <a:ea typeface="黑体" panose="02010609060101010101" pitchFamily="49" charset="-122"/>
              </a:rPr>
              <a:t>某计算机采用</a:t>
            </a:r>
            <a:r>
              <a:rPr lang="en-US" altLang="zh-CN" sz="2800" b="0" dirty="0">
                <a:latin typeface="黑体" panose="02010609060101010101" pitchFamily="49" charset="-122"/>
                <a:ea typeface="黑体" panose="02010609060101010101" pitchFamily="49" charset="-122"/>
              </a:rPr>
              <a:t>IEEE 754</a:t>
            </a:r>
            <a:r>
              <a:rPr lang="zh-CN" altLang="en-US" sz="2800" b="0" dirty="0">
                <a:latin typeface="黑体" panose="02010609060101010101" pitchFamily="49" charset="-122"/>
                <a:ea typeface="黑体" panose="02010609060101010101" pitchFamily="49" charset="-122"/>
              </a:rPr>
              <a:t>规格化数的表示方法，现有变量 </a:t>
            </a:r>
            <a:r>
              <a:rPr lang="en-US" altLang="zh-CN" sz="2800" b="0" dirty="0">
                <a:latin typeface="+mn-ea"/>
              </a:rPr>
              <a:t>float A</a:t>
            </a:r>
            <a:r>
              <a:rPr lang="zh-CN" altLang="en-US" sz="2800" b="0" dirty="0">
                <a:latin typeface="+mn-ea"/>
              </a:rPr>
              <a:t>＝</a:t>
            </a:r>
            <a:r>
              <a:rPr lang="zh-CN" altLang="en-US" sz="2800" b="0" dirty="0">
                <a:latin typeface="黑体" panose="02010609060101010101" pitchFamily="49" charset="-122"/>
                <a:ea typeface="黑体" panose="02010609060101010101" pitchFamily="49" charset="-122"/>
              </a:rPr>
              <a:t>本人学号（取十进制数的后</a:t>
            </a:r>
            <a:r>
              <a:rPr lang="en-US" altLang="zh-CN" sz="2800" b="0" dirty="0">
                <a:latin typeface="黑体" panose="02010609060101010101" pitchFamily="49" charset="-122"/>
                <a:ea typeface="黑体" panose="02010609060101010101" pitchFamily="49" charset="-122"/>
              </a:rPr>
              <a:t>3</a:t>
            </a:r>
            <a:r>
              <a:rPr lang="zh-CN" altLang="en-US" sz="2800" b="0" dirty="0">
                <a:latin typeface="黑体" panose="02010609060101010101" pitchFamily="49" charset="-122"/>
                <a:ea typeface="黑体" panose="02010609060101010101" pitchFamily="49" charset="-122"/>
              </a:rPr>
              <a:t>位）</a:t>
            </a:r>
            <a:r>
              <a:rPr lang="en-US" altLang="zh-CN" sz="2800" b="0" dirty="0">
                <a:latin typeface="黑体" panose="02010609060101010101" pitchFamily="49" charset="-122"/>
                <a:ea typeface="黑体" panose="02010609060101010101" pitchFamily="49" charset="-122"/>
              </a:rPr>
              <a:t>;</a:t>
            </a:r>
            <a:r>
              <a:rPr lang="zh-CN" altLang="en-US" sz="2800" b="0" dirty="0">
                <a:latin typeface="黑体" panose="02010609060101010101" pitchFamily="49" charset="-122"/>
                <a:ea typeface="黑体" panose="02010609060101010101" pitchFamily="49" charset="-122"/>
              </a:rPr>
              <a:t>变量 </a:t>
            </a:r>
            <a:r>
              <a:rPr lang="en-US" altLang="zh-CN" sz="2800" b="0" dirty="0">
                <a:latin typeface="+mn-ea"/>
              </a:rPr>
              <a:t>float </a:t>
            </a:r>
            <a:r>
              <a:rPr lang="en-US" altLang="zh-CN" sz="2800" b="0" dirty="0" smtClean="0">
                <a:latin typeface="+mn-ea"/>
              </a:rPr>
              <a:t>B</a:t>
            </a:r>
            <a:r>
              <a:rPr lang="zh-CN" altLang="en-US" sz="2800" b="0" dirty="0">
                <a:latin typeface="+mn-ea"/>
              </a:rPr>
              <a:t>＝</a:t>
            </a:r>
            <a:r>
              <a:rPr lang="en-US" altLang="zh-CN" sz="2800" b="0" dirty="0">
                <a:latin typeface="+mn-ea"/>
              </a:rPr>
              <a:t>1025</a:t>
            </a:r>
            <a:r>
              <a:rPr lang="zh-CN" altLang="en-US" sz="2800" b="0" dirty="0">
                <a:latin typeface="黑体" panose="02010609060101010101" pitchFamily="49" charset="-122"/>
                <a:ea typeface="黑体" panose="02010609060101010101" pitchFamily="49" charset="-122"/>
              </a:rPr>
              <a:t>；请按照计算机浮点数计算过程，给出</a:t>
            </a:r>
            <a:r>
              <a:rPr lang="en-US" altLang="zh-CN" sz="2800" b="0" dirty="0">
                <a:latin typeface="黑体" panose="02010609060101010101" pitchFamily="49" charset="-122"/>
                <a:ea typeface="黑体" panose="02010609060101010101" pitchFamily="49" charset="-122"/>
              </a:rPr>
              <a:t>A+B</a:t>
            </a:r>
            <a:r>
              <a:rPr lang="zh-CN" altLang="en-US" sz="2800" b="0" dirty="0">
                <a:latin typeface="黑体" panose="02010609060101010101" pitchFamily="49" charset="-122"/>
                <a:ea typeface="黑体" panose="02010609060101010101" pitchFamily="49" charset="-122"/>
              </a:rPr>
              <a:t>的结果并说明计算</a:t>
            </a:r>
            <a:r>
              <a:rPr lang="zh-CN" altLang="en-US" sz="2800" b="0" dirty="0" smtClean="0">
                <a:latin typeface="黑体" panose="02010609060101010101" pitchFamily="49" charset="-122"/>
                <a:ea typeface="黑体" panose="02010609060101010101" pitchFamily="49" charset="-122"/>
              </a:rPr>
              <a:t>过程</a:t>
            </a:r>
            <a:endParaRPr lang="en-US" altLang="zh-CN" sz="2800" b="0" dirty="0">
              <a:latin typeface="黑体" panose="02010609060101010101" pitchFamily="49" charset="-122"/>
              <a:ea typeface="黑体" panose="02010609060101010101" pitchFamily="49" charset="-122"/>
              <a:sym typeface="Symbol" pitchFamily="18" charset="2"/>
            </a:endParaRPr>
          </a:p>
        </p:txBody>
      </p:sp>
      <p:graphicFrame>
        <p:nvGraphicFramePr>
          <p:cNvPr id="4" name="Group 38"/>
          <p:cNvGraphicFramePr>
            <a:graphicFrameLocks noGrp="1"/>
          </p:cNvGraphicFramePr>
          <p:nvPr>
            <p:extLst>
              <p:ext uri="{D42A27DB-BD31-4B8C-83A1-F6EECF244321}">
                <p14:modId xmlns:p14="http://schemas.microsoft.com/office/powerpoint/2010/main" val="2524290419"/>
              </p:ext>
            </p:extLst>
          </p:nvPr>
        </p:nvGraphicFramePr>
        <p:xfrm>
          <a:off x="579437" y="4267200"/>
          <a:ext cx="7772400" cy="708819"/>
        </p:xfrm>
        <a:graphic>
          <a:graphicData uri="http://schemas.openxmlformats.org/drawingml/2006/table">
            <a:tbl>
              <a:tblPr/>
              <a:tblGrid>
                <a:gridCol w="1157160">
                  <a:extLst>
                    <a:ext uri="{9D8B030D-6E8A-4147-A177-3AD203B41FA5}">
                      <a16:colId xmlns:a16="http://schemas.microsoft.com/office/drawing/2014/main" val="20000"/>
                    </a:ext>
                  </a:extLst>
                </a:gridCol>
                <a:gridCol w="3544120">
                  <a:extLst>
                    <a:ext uri="{9D8B030D-6E8A-4147-A177-3AD203B41FA5}">
                      <a16:colId xmlns:a16="http://schemas.microsoft.com/office/drawing/2014/main" val="20001"/>
                    </a:ext>
                  </a:extLst>
                </a:gridCol>
                <a:gridCol w="3071120">
                  <a:extLst>
                    <a:ext uri="{9D8B030D-6E8A-4147-A177-3AD203B41FA5}">
                      <a16:colId xmlns:a16="http://schemas.microsoft.com/office/drawing/2014/main" val="20002"/>
                    </a:ext>
                  </a:extLst>
                </a:gridCol>
              </a:tblGrid>
              <a:tr h="708819">
                <a:tc>
                  <a:txBody>
                    <a:bodyPr/>
                    <a:lstStyle/>
                    <a:p>
                      <a:pPr marL="0" marR="0" lvl="0" indent="0" algn="ctr" defTabSz="914400" rtl="0" eaLnBrk="1" fontAlgn="base" latinLnBrk="0" hangingPunct="1">
                        <a:lnSpc>
                          <a:spcPct val="120000"/>
                        </a:lnSpc>
                        <a:spcBef>
                          <a:spcPct val="10000"/>
                        </a:spcBef>
                        <a:spcAft>
                          <a:spcPct val="10000"/>
                        </a:spcAft>
                        <a:buClr>
                          <a:schemeClr val="bg2"/>
                        </a:buClr>
                        <a:buSzTx/>
                        <a:buFont typeface="Wingdings" pitchFamily="2" charset="2"/>
                        <a:buNone/>
                        <a:tabLst/>
                      </a:pPr>
                      <a:r>
                        <a:rPr kumimoji="0" lang="zh-CN" altLang="en-US" sz="2000" b="1" i="0" u="none" strike="noStrike" cap="none" normalizeH="0" baseline="0" smtClean="0">
                          <a:ln>
                            <a:noFill/>
                          </a:ln>
                          <a:solidFill>
                            <a:srgbClr val="FF0000"/>
                          </a:solidFill>
                          <a:effectLst/>
                          <a:latin typeface="Arial" charset="0"/>
                          <a:ea typeface="宋体" pitchFamily="2" charset="-122"/>
                        </a:rPr>
                        <a:t>数符</a:t>
                      </a:r>
                      <a:r>
                        <a:rPr kumimoji="0" lang="en-US" altLang="zh-CN" sz="2000" b="1" i="0" u="none" strike="noStrike" cap="none" normalizeH="0" baseline="0" smtClean="0">
                          <a:ln>
                            <a:noFill/>
                          </a:ln>
                          <a:solidFill>
                            <a:srgbClr val="FF0000"/>
                          </a:solidFill>
                          <a:effectLst/>
                          <a:latin typeface="Arial" charset="0"/>
                          <a:ea typeface="宋体" pitchFamily="2" charset="-122"/>
                        </a:rPr>
                        <a:t>S</a:t>
                      </a:r>
                    </a:p>
                  </a:txBody>
                  <a:tcPr anchor="ctr" horzOverflow="overflow">
                    <a:lnL w="19050" cap="flat" cmpd="sng" algn="ctr">
                      <a:solidFill>
                        <a:schemeClr val="tx1"/>
                      </a:solidFill>
                      <a:prstDash val="solid"/>
                      <a:miter lim="800000"/>
                      <a:headEnd type="none" w="med" len="med"/>
                      <a:tailEnd type="none" w="med" len="med"/>
                    </a:lnL>
                    <a:lnR w="19050" cap="flat" cmpd="sng" algn="ctr">
                      <a:solidFill>
                        <a:schemeClr val="tx1"/>
                      </a:solidFill>
                      <a:prstDash val="solid"/>
                      <a:miter lim="800000"/>
                      <a:headEnd type="none" w="med" len="med"/>
                      <a:tailEnd type="none" w="med" len="med"/>
                    </a:lnR>
                    <a:lnT w="19050" cap="flat" cmpd="sng" algn="ctr">
                      <a:solidFill>
                        <a:schemeClr val="tx1"/>
                      </a:solidFill>
                      <a:prstDash val="solid"/>
                      <a:miter lim="800000"/>
                      <a:headEnd type="none" w="med" len="med"/>
                      <a:tailEnd type="none" w="med" len="med"/>
                    </a:lnT>
                    <a:lnB w="1905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10000"/>
                        </a:spcBef>
                        <a:spcAft>
                          <a:spcPct val="10000"/>
                        </a:spcAft>
                        <a:buClr>
                          <a:schemeClr val="bg2"/>
                        </a:buClr>
                        <a:buSzTx/>
                        <a:buFont typeface="Wingdings" pitchFamily="2" charset="2"/>
                        <a:buNone/>
                        <a:tabLst/>
                      </a:pPr>
                      <a:r>
                        <a:rPr kumimoji="0" lang="zh-CN" altLang="en-US" sz="2000" b="1" i="0" u="none" strike="noStrike" cap="none" normalizeH="0" baseline="0" dirty="0" smtClean="0">
                          <a:ln>
                            <a:noFill/>
                          </a:ln>
                          <a:solidFill>
                            <a:srgbClr val="FF0000"/>
                          </a:solidFill>
                          <a:effectLst/>
                          <a:latin typeface="Arial" charset="0"/>
                          <a:ea typeface="宋体" pitchFamily="2" charset="-122"/>
                        </a:rPr>
                        <a:t>阶码</a:t>
                      </a:r>
                      <a:r>
                        <a:rPr kumimoji="0" lang="en-US" altLang="zh-CN" sz="2000" b="1" i="0" u="none" strike="noStrike" cap="none" normalizeH="0" baseline="0" dirty="0" smtClean="0">
                          <a:ln>
                            <a:noFill/>
                          </a:ln>
                          <a:solidFill>
                            <a:srgbClr val="FF0000"/>
                          </a:solidFill>
                          <a:effectLst/>
                          <a:latin typeface="Arial" charset="0"/>
                          <a:ea typeface="宋体" pitchFamily="2" charset="-122"/>
                        </a:rPr>
                        <a:t>E</a:t>
                      </a:r>
                    </a:p>
                  </a:txBody>
                  <a:tcPr anchor="ctr" horzOverflow="overflow">
                    <a:lnL w="19050" cap="flat" cmpd="sng" algn="ctr">
                      <a:solidFill>
                        <a:schemeClr val="tx1"/>
                      </a:solidFill>
                      <a:prstDash val="solid"/>
                      <a:miter lim="800000"/>
                      <a:headEnd type="none" w="med" len="med"/>
                      <a:tailEnd type="none" w="med" len="med"/>
                    </a:lnL>
                    <a:lnR w="19050" cap="flat" cmpd="sng" algn="ctr">
                      <a:solidFill>
                        <a:schemeClr val="tx1"/>
                      </a:solidFill>
                      <a:prstDash val="solid"/>
                      <a:miter lim="800000"/>
                      <a:headEnd type="none" w="med" len="med"/>
                      <a:tailEnd type="none" w="med" len="med"/>
                    </a:lnR>
                    <a:lnT w="19050" cap="flat" cmpd="sng" algn="ctr">
                      <a:solidFill>
                        <a:schemeClr val="tx1"/>
                      </a:solidFill>
                      <a:prstDash val="solid"/>
                      <a:miter lim="800000"/>
                      <a:headEnd type="none" w="med" len="med"/>
                      <a:tailEnd type="none" w="med" len="med"/>
                    </a:lnT>
                    <a:lnB w="1905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10000"/>
                        </a:spcBef>
                        <a:spcAft>
                          <a:spcPct val="10000"/>
                        </a:spcAft>
                        <a:buClr>
                          <a:schemeClr val="bg2"/>
                        </a:buClr>
                        <a:buSzTx/>
                        <a:buFont typeface="Wingdings" pitchFamily="2" charset="2"/>
                        <a:buNone/>
                        <a:tabLst/>
                      </a:pPr>
                      <a:r>
                        <a:rPr kumimoji="0" lang="zh-CN" altLang="en-US" sz="2000" b="1" i="0" u="none" strike="noStrike" cap="none" normalizeH="0" baseline="0" dirty="0" smtClean="0">
                          <a:ln>
                            <a:noFill/>
                          </a:ln>
                          <a:solidFill>
                            <a:srgbClr val="FF0000"/>
                          </a:solidFill>
                          <a:effectLst/>
                          <a:latin typeface="Arial" charset="0"/>
                          <a:ea typeface="宋体" pitchFamily="2" charset="-122"/>
                        </a:rPr>
                        <a:t>尾数</a:t>
                      </a:r>
                      <a:r>
                        <a:rPr kumimoji="0" lang="en-US" altLang="zh-CN" sz="2000" b="1" i="0" u="none" strike="noStrike" cap="none" normalizeH="0" baseline="0" dirty="0" smtClean="0">
                          <a:ln>
                            <a:noFill/>
                          </a:ln>
                          <a:solidFill>
                            <a:srgbClr val="FF0000"/>
                          </a:solidFill>
                          <a:effectLst/>
                          <a:latin typeface="Arial" charset="0"/>
                          <a:ea typeface="宋体" pitchFamily="2" charset="-122"/>
                        </a:rPr>
                        <a:t>M</a:t>
                      </a:r>
                    </a:p>
                  </a:txBody>
                  <a:tcPr anchor="ctr" horzOverflow="overflow">
                    <a:lnL w="19050" cap="flat" cmpd="sng" algn="ctr">
                      <a:solidFill>
                        <a:schemeClr val="tx1"/>
                      </a:solidFill>
                      <a:prstDash val="solid"/>
                      <a:miter lim="800000"/>
                      <a:headEnd type="none" w="med" len="med"/>
                      <a:tailEnd type="none" w="med" len="med"/>
                    </a:lnL>
                    <a:lnR w="19050" cap="flat" cmpd="sng" algn="ctr">
                      <a:solidFill>
                        <a:schemeClr val="tx1"/>
                      </a:solidFill>
                      <a:prstDash val="solid"/>
                      <a:miter lim="800000"/>
                      <a:headEnd type="none" w="med" len="med"/>
                      <a:tailEnd type="none" w="med" len="med"/>
                    </a:lnR>
                    <a:lnT w="19050" cap="flat" cmpd="sng" algn="ctr">
                      <a:solidFill>
                        <a:schemeClr val="tx1"/>
                      </a:solidFill>
                      <a:prstDash val="solid"/>
                      <a:miter lim="800000"/>
                      <a:headEnd type="none" w="med" len="med"/>
                      <a:tailEnd type="none" w="med" len="med"/>
                    </a:lnT>
                    <a:lnB w="19050" cap="flat" cmpd="sng" algn="ctr">
                      <a:solidFill>
                        <a:schemeClr val="tx1"/>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30687620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301" name="Rectangle 3"/>
          <p:cNvSpPr>
            <a:spLocks noGrp="1" noChangeArrowheads="1"/>
          </p:cNvSpPr>
          <p:nvPr>
            <p:ph type="title"/>
          </p:nvPr>
        </p:nvSpPr>
        <p:spPr>
          <a:xfrm>
            <a:off x="526256" y="486966"/>
            <a:ext cx="5829300" cy="457200"/>
          </a:xfrm>
        </p:spPr>
        <p:txBody>
          <a:bodyPr/>
          <a:lstStyle/>
          <a:p>
            <a:pPr eaLnBrk="1" hangingPunct="1">
              <a:defRPr/>
            </a:pPr>
            <a:r>
              <a:rPr lang="zh-CN" altLang="en-US" dirty="0" smtClean="0">
                <a:latin typeface="黑体" panose="02010609060101010101" pitchFamily="49" charset="-122"/>
                <a:ea typeface="黑体" panose="02010609060101010101" pitchFamily="49" charset="-122"/>
              </a:rPr>
              <a:t>知识点 浮点数</a:t>
            </a:r>
            <a:r>
              <a:rPr lang="zh-CN" altLang="en-US" dirty="0">
                <a:latin typeface="黑体" panose="02010609060101010101" pitchFamily="49" charset="-122"/>
                <a:ea typeface="黑体" panose="02010609060101010101" pitchFamily="49" charset="-122"/>
              </a:rPr>
              <a:t>加减运算</a:t>
            </a:r>
          </a:p>
        </p:txBody>
      </p:sp>
      <p:sp>
        <p:nvSpPr>
          <p:cNvPr id="299010" name="Rectangle 2"/>
          <p:cNvSpPr>
            <a:spLocks noGrp="1" noChangeArrowheads="1"/>
          </p:cNvSpPr>
          <p:nvPr>
            <p:ph idx="1"/>
          </p:nvPr>
        </p:nvSpPr>
        <p:spPr>
          <a:xfrm>
            <a:off x="457200" y="1256482"/>
            <a:ext cx="8153400" cy="5151834"/>
          </a:xfrm>
        </p:spPr>
        <p:txBody>
          <a:bodyPr/>
          <a:lstStyle/>
          <a:p>
            <a:pPr marL="197644" indent="-197644">
              <a:lnSpc>
                <a:spcPct val="115000"/>
              </a:lnSpc>
            </a:pPr>
            <a:r>
              <a:rPr lang="zh-CN" altLang="en-US" dirty="0">
                <a:latin typeface="黑体" panose="02010609060101010101" pitchFamily="49" charset="-122"/>
                <a:ea typeface="黑体" panose="02010609060101010101" pitchFamily="49" charset="-122"/>
              </a:rPr>
              <a:t>设有两个浮点数</a:t>
            </a:r>
            <a:r>
              <a:rPr lang="en-US" altLang="zh-CN" dirty="0">
                <a:latin typeface="黑体" panose="02010609060101010101" pitchFamily="49" charset="-122"/>
                <a:ea typeface="黑体" panose="02010609060101010101" pitchFamily="49" charset="-122"/>
              </a:rPr>
              <a:t>X = M</a:t>
            </a:r>
            <a:r>
              <a:rPr lang="en-US" altLang="zh-CN" baseline="-20000"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cs typeface="Times New Roman" panose="02020603050405020304" pitchFamily="18" charset="0"/>
              </a:rPr>
              <a:t>×</a:t>
            </a:r>
            <a:r>
              <a:rPr lang="en-US" altLang="zh-CN" dirty="0">
                <a:latin typeface="黑体" panose="02010609060101010101" pitchFamily="49" charset="-122"/>
                <a:ea typeface="黑体" panose="02010609060101010101" pitchFamily="49" charset="-122"/>
              </a:rPr>
              <a:t>2</a:t>
            </a:r>
            <a:r>
              <a:rPr lang="en-US" altLang="zh-CN" baseline="30000" dirty="0">
                <a:latin typeface="黑体" panose="02010609060101010101" pitchFamily="49" charset="-122"/>
                <a:ea typeface="黑体" panose="02010609060101010101" pitchFamily="49" charset="-122"/>
              </a:rPr>
              <a:t>E</a:t>
            </a:r>
            <a:r>
              <a:rPr lang="en-US" altLang="zh-CN" baseline="14000" dirty="0">
                <a:latin typeface="黑体" panose="02010609060101010101" pitchFamily="49" charset="-122"/>
                <a:ea typeface="黑体" panose="02010609060101010101" pitchFamily="49" charset="-122"/>
              </a:rPr>
              <a:t>x  </a:t>
            </a:r>
            <a:r>
              <a:rPr lang="zh-CN" altLang="en-US" dirty="0">
                <a:latin typeface="黑体" panose="02010609060101010101" pitchFamily="49" charset="-122"/>
                <a:ea typeface="黑体" panose="02010609060101010101" pitchFamily="49" charset="-122"/>
              </a:rPr>
              <a:t>和  </a:t>
            </a:r>
            <a:r>
              <a:rPr lang="en-US" altLang="zh-CN" dirty="0">
                <a:latin typeface="黑体" panose="02010609060101010101" pitchFamily="49" charset="-122"/>
                <a:ea typeface="黑体" panose="02010609060101010101" pitchFamily="49" charset="-122"/>
              </a:rPr>
              <a:t>Y = M</a:t>
            </a:r>
            <a:r>
              <a:rPr lang="en-US" altLang="zh-CN" baseline="-18000" dirty="0">
                <a:latin typeface="黑体" panose="02010609060101010101" pitchFamily="49" charset="-122"/>
                <a:ea typeface="黑体" panose="02010609060101010101" pitchFamily="49" charset="-122"/>
              </a:rPr>
              <a:t>y</a:t>
            </a:r>
            <a:r>
              <a:rPr lang="en-US" altLang="zh-CN" dirty="0">
                <a:latin typeface="黑体" panose="02010609060101010101" pitchFamily="49" charset="-122"/>
                <a:ea typeface="黑体" panose="02010609060101010101" pitchFamily="49" charset="-122"/>
                <a:cs typeface="Times New Roman" panose="02020603050405020304" pitchFamily="18" charset="0"/>
              </a:rPr>
              <a:t>×</a:t>
            </a:r>
            <a:r>
              <a:rPr lang="en-US" altLang="zh-CN" dirty="0">
                <a:latin typeface="黑体" panose="02010609060101010101" pitchFamily="49" charset="-122"/>
                <a:ea typeface="黑体" panose="02010609060101010101" pitchFamily="49" charset="-122"/>
              </a:rPr>
              <a:t>2</a:t>
            </a:r>
            <a:r>
              <a:rPr lang="en-US" altLang="zh-CN" baseline="30000" dirty="0">
                <a:latin typeface="黑体" panose="02010609060101010101" pitchFamily="49" charset="-122"/>
                <a:ea typeface="黑体" panose="02010609060101010101" pitchFamily="49" charset="-122"/>
              </a:rPr>
              <a:t>E</a:t>
            </a:r>
            <a:r>
              <a:rPr lang="en-US" altLang="zh-CN" baseline="14000" dirty="0">
                <a:latin typeface="黑体" panose="02010609060101010101" pitchFamily="49" charset="-122"/>
                <a:ea typeface="黑体" panose="02010609060101010101" pitchFamily="49" charset="-122"/>
              </a:rPr>
              <a:t>y</a:t>
            </a:r>
            <a:r>
              <a:rPr lang="en-US" altLang="zh-CN" baseline="30000"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，且</a:t>
            </a:r>
            <a:r>
              <a:rPr lang="en-US" altLang="zh-CN" dirty="0">
                <a:latin typeface="黑体" panose="02010609060101010101" pitchFamily="49" charset="-122"/>
                <a:ea typeface="黑体" panose="02010609060101010101" pitchFamily="49" charset="-122"/>
              </a:rPr>
              <a:t>E</a:t>
            </a:r>
            <a:r>
              <a:rPr lang="en-US" altLang="zh-CN" baseline="-20000"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&gt; </a:t>
            </a:r>
            <a:r>
              <a:rPr lang="en-US" altLang="zh-CN" dirty="0" err="1">
                <a:latin typeface="黑体" panose="02010609060101010101" pitchFamily="49" charset="-122"/>
                <a:ea typeface="黑体" panose="02010609060101010101" pitchFamily="49" charset="-122"/>
              </a:rPr>
              <a:t>E</a:t>
            </a:r>
            <a:r>
              <a:rPr lang="en-US" altLang="zh-CN" baseline="-20000" dirty="0" err="1">
                <a:latin typeface="黑体" panose="02010609060101010101" pitchFamily="49" charset="-122"/>
                <a:ea typeface="黑体" panose="02010609060101010101" pitchFamily="49" charset="-122"/>
              </a:rPr>
              <a:t>y</a:t>
            </a:r>
            <a:endParaRPr lang="en-US" altLang="zh-CN" baseline="-20000" dirty="0">
              <a:latin typeface="黑体" panose="02010609060101010101" pitchFamily="49" charset="-122"/>
              <a:ea typeface="黑体" panose="02010609060101010101" pitchFamily="49" charset="-122"/>
            </a:endParaRPr>
          </a:p>
          <a:p>
            <a:pPr marL="197644" indent="-197644">
              <a:lnSpc>
                <a:spcPct val="115000"/>
              </a:lnSpc>
            </a:pPr>
            <a:r>
              <a:rPr lang="zh-CN" altLang="en-US" dirty="0">
                <a:latin typeface="黑体" panose="02010609060101010101" pitchFamily="49" charset="-122"/>
                <a:ea typeface="黑体" panose="02010609060101010101" pitchFamily="49" charset="-122"/>
              </a:rPr>
              <a:t>若要求</a:t>
            </a:r>
            <a:r>
              <a:rPr lang="en-US" altLang="zh-CN" dirty="0">
                <a:latin typeface="黑体" panose="02010609060101010101" pitchFamily="49" charset="-122"/>
                <a:ea typeface="黑体" panose="02010609060101010101" pitchFamily="49" charset="-122"/>
              </a:rPr>
              <a:t>X±Y</a:t>
            </a:r>
            <a:r>
              <a:rPr lang="zh-CN" altLang="en-US" dirty="0">
                <a:latin typeface="黑体" panose="02010609060101010101" pitchFamily="49" charset="-122"/>
                <a:ea typeface="黑体" panose="02010609060101010101" pitchFamily="49" charset="-122"/>
              </a:rPr>
              <a:t>的结果</a:t>
            </a:r>
            <a:r>
              <a:rPr lang="en-US" altLang="zh-CN" dirty="0">
                <a:latin typeface="黑体" panose="02010609060101010101" pitchFamily="49" charset="-122"/>
                <a:ea typeface="黑体" panose="02010609060101010101" pitchFamily="49" charset="-122"/>
              </a:rPr>
              <a:t>S</a:t>
            </a:r>
            <a:r>
              <a:rPr lang="zh-CN" altLang="en-US" dirty="0">
                <a:latin typeface="黑体" panose="02010609060101010101" pitchFamily="49" charset="-122"/>
                <a:ea typeface="黑体" panose="02010609060101010101" pitchFamily="49" charset="-122"/>
              </a:rPr>
              <a:t>，则</a:t>
            </a:r>
          </a:p>
          <a:p>
            <a:pPr lvl="1" indent="-203597">
              <a:lnSpc>
                <a:spcPct val="115000"/>
              </a:lnSpc>
            </a:pPr>
            <a:r>
              <a:rPr lang="en-US" altLang="zh-CN" dirty="0">
                <a:latin typeface="黑体" panose="02010609060101010101" pitchFamily="49" charset="-122"/>
                <a:ea typeface="黑体" panose="02010609060101010101" pitchFamily="49" charset="-122"/>
              </a:rPr>
              <a:t>S =X±Y =M</a:t>
            </a:r>
            <a:r>
              <a:rPr lang="en-US" altLang="zh-CN" baseline="-20000" dirty="0">
                <a:latin typeface="黑体" panose="02010609060101010101" pitchFamily="49" charset="-122"/>
                <a:ea typeface="黑体" panose="02010609060101010101" pitchFamily="49" charset="-122"/>
              </a:rPr>
              <a:t>S</a:t>
            </a:r>
            <a:r>
              <a:rPr lang="en-US" altLang="zh-CN" dirty="0">
                <a:latin typeface="黑体" panose="02010609060101010101" pitchFamily="49" charset="-122"/>
                <a:ea typeface="黑体" panose="02010609060101010101" pitchFamily="49" charset="-122"/>
                <a:cs typeface="Times New Roman" panose="02020603050405020304" pitchFamily="18" charset="0"/>
              </a:rPr>
              <a:t>×</a:t>
            </a:r>
            <a:r>
              <a:rPr lang="en-US" altLang="zh-CN" dirty="0">
                <a:latin typeface="黑体" panose="02010609060101010101" pitchFamily="49" charset="-122"/>
                <a:ea typeface="黑体" panose="02010609060101010101" pitchFamily="49" charset="-122"/>
              </a:rPr>
              <a:t>2</a:t>
            </a:r>
            <a:r>
              <a:rPr lang="en-US" altLang="zh-CN" baseline="30000" dirty="0">
                <a:latin typeface="黑体" panose="02010609060101010101" pitchFamily="49" charset="-122"/>
                <a:ea typeface="黑体" panose="02010609060101010101" pitchFamily="49" charset="-122"/>
              </a:rPr>
              <a:t>E</a:t>
            </a:r>
            <a:r>
              <a:rPr lang="en-US" altLang="zh-CN" baseline="14000" dirty="0">
                <a:latin typeface="黑体" panose="02010609060101010101" pitchFamily="49" charset="-122"/>
                <a:ea typeface="黑体" panose="02010609060101010101" pitchFamily="49" charset="-122"/>
              </a:rPr>
              <a:t>S</a:t>
            </a:r>
            <a:r>
              <a:rPr lang="en-US" altLang="zh-CN" dirty="0">
                <a:solidFill>
                  <a:srgbClr val="000000"/>
                </a:solidFill>
                <a:latin typeface="黑体" panose="02010609060101010101" pitchFamily="49" charset="-122"/>
                <a:ea typeface="黑体" panose="02010609060101010101" pitchFamily="49" charset="-122"/>
              </a:rPr>
              <a:t> </a:t>
            </a:r>
          </a:p>
          <a:p>
            <a:pPr lvl="1" indent="-203597">
              <a:lnSpc>
                <a:spcPct val="115000"/>
              </a:lnSpc>
            </a:pPr>
            <a:r>
              <a:rPr lang="zh-CN" altLang="en-US" dirty="0">
                <a:latin typeface="黑体" panose="02010609060101010101" pitchFamily="49" charset="-122"/>
                <a:ea typeface="黑体" panose="02010609060101010101" pitchFamily="49" charset="-122"/>
              </a:rPr>
              <a:t>其中 ，</a:t>
            </a:r>
            <a:r>
              <a:rPr lang="en-US" altLang="zh-CN" dirty="0">
                <a:latin typeface="黑体" panose="02010609060101010101" pitchFamily="49" charset="-122"/>
                <a:ea typeface="黑体" panose="02010609060101010101" pitchFamily="49" charset="-122"/>
              </a:rPr>
              <a:t>E</a:t>
            </a:r>
            <a:r>
              <a:rPr lang="en-US" altLang="zh-CN" baseline="-20000" dirty="0">
                <a:latin typeface="黑体" panose="02010609060101010101" pitchFamily="49" charset="-122"/>
                <a:ea typeface="黑体" panose="02010609060101010101" pitchFamily="49" charset="-122"/>
              </a:rPr>
              <a:t>S </a:t>
            </a:r>
            <a:r>
              <a:rPr lang="en-US" altLang="zh-CN" dirty="0">
                <a:latin typeface="黑体" panose="02010609060101010101" pitchFamily="49" charset="-122"/>
                <a:ea typeface="黑体" panose="02010609060101010101" pitchFamily="49" charset="-122"/>
              </a:rPr>
              <a:t>=</a:t>
            </a:r>
            <a:r>
              <a:rPr lang="en-US" altLang="zh-CN" dirty="0">
                <a:solidFill>
                  <a:srgbClr val="FF0000"/>
                </a:solidFill>
                <a:latin typeface="黑体" panose="02010609060101010101" pitchFamily="49" charset="-122"/>
                <a:ea typeface="黑体" panose="02010609060101010101" pitchFamily="49" charset="-122"/>
              </a:rPr>
              <a:t>E</a:t>
            </a:r>
            <a:r>
              <a:rPr lang="en-US" altLang="zh-CN" baseline="-20000" dirty="0">
                <a:solidFill>
                  <a:srgbClr val="FF0000"/>
                </a:solidFill>
                <a:latin typeface="黑体" panose="02010609060101010101" pitchFamily="49" charset="-122"/>
                <a:ea typeface="黑体" panose="02010609060101010101" pitchFamily="49" charset="-122"/>
              </a:rPr>
              <a:t>x</a:t>
            </a:r>
            <a:r>
              <a:rPr lang="zh-CN" altLang="en-US" dirty="0">
                <a:solidFill>
                  <a:srgbClr val="000000"/>
                </a:solidFill>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M</a:t>
            </a:r>
            <a:r>
              <a:rPr lang="en-US" altLang="zh-CN" baseline="-20000" dirty="0">
                <a:latin typeface="黑体" panose="02010609060101010101" pitchFamily="49" charset="-122"/>
                <a:ea typeface="黑体" panose="02010609060101010101" pitchFamily="49" charset="-122"/>
              </a:rPr>
              <a:t>S </a:t>
            </a:r>
            <a:r>
              <a:rPr lang="en-US" altLang="zh-CN" dirty="0">
                <a:latin typeface="黑体" panose="02010609060101010101" pitchFamily="49" charset="-122"/>
                <a:ea typeface="黑体" panose="02010609060101010101" pitchFamily="49" charset="-122"/>
              </a:rPr>
              <a:t>=</a:t>
            </a:r>
            <a:r>
              <a:rPr lang="en-US" altLang="zh-CN" dirty="0" err="1">
                <a:solidFill>
                  <a:srgbClr val="FF0000"/>
                </a:solidFill>
                <a:latin typeface="黑体" panose="02010609060101010101" pitchFamily="49" charset="-122"/>
                <a:ea typeface="黑体" panose="02010609060101010101" pitchFamily="49" charset="-122"/>
              </a:rPr>
              <a:t>Mx</a:t>
            </a:r>
            <a:r>
              <a:rPr lang="en-US" altLang="zh-CN" dirty="0">
                <a:solidFill>
                  <a:srgbClr val="FF0000"/>
                </a:solidFill>
                <a:latin typeface="黑体" panose="02010609060101010101" pitchFamily="49" charset="-122"/>
                <a:ea typeface="黑体" panose="02010609060101010101" pitchFamily="49" charset="-122"/>
              </a:rPr>
              <a:t>±(My</a:t>
            </a:r>
            <a:r>
              <a:rPr lang="en-US" altLang="zh-CN" baseline="-18000" dirty="0">
                <a:solidFill>
                  <a:srgbClr val="FF0000"/>
                </a:solidFill>
                <a:latin typeface="黑体" panose="02010609060101010101" pitchFamily="49" charset="-122"/>
                <a:ea typeface="黑体" panose="02010609060101010101" pitchFamily="49" charset="-122"/>
              </a:rPr>
              <a:t>  </a:t>
            </a:r>
            <a:r>
              <a:rPr lang="en-US" altLang="zh-CN" dirty="0">
                <a:solidFill>
                  <a:srgbClr val="FF0000"/>
                </a:solidFill>
                <a:latin typeface="黑体" panose="02010609060101010101" pitchFamily="49" charset="-122"/>
                <a:ea typeface="黑体" panose="02010609060101010101" pitchFamily="49" charset="-122"/>
              </a:rPr>
              <a:t>SHR (E</a:t>
            </a:r>
            <a:r>
              <a:rPr lang="en-US" altLang="zh-CN" baseline="-20000" dirty="0">
                <a:solidFill>
                  <a:srgbClr val="FF0000"/>
                </a:solidFill>
                <a:latin typeface="黑体" panose="02010609060101010101" pitchFamily="49" charset="-122"/>
                <a:ea typeface="黑体" panose="02010609060101010101" pitchFamily="49" charset="-122"/>
              </a:rPr>
              <a:t>x </a:t>
            </a:r>
            <a:r>
              <a:rPr lang="en-US" altLang="zh-CN" dirty="0">
                <a:solidFill>
                  <a:srgbClr val="FF0000"/>
                </a:solidFill>
                <a:latin typeface="黑体" panose="02010609060101010101" pitchFamily="49" charset="-122"/>
                <a:ea typeface="黑体" panose="02010609060101010101" pitchFamily="49" charset="-122"/>
              </a:rPr>
              <a:t>- </a:t>
            </a:r>
            <a:r>
              <a:rPr lang="en-US" altLang="zh-CN" dirty="0" err="1">
                <a:solidFill>
                  <a:srgbClr val="FF0000"/>
                </a:solidFill>
                <a:latin typeface="黑体" panose="02010609060101010101" pitchFamily="49" charset="-122"/>
                <a:ea typeface="黑体" panose="02010609060101010101" pitchFamily="49" charset="-122"/>
              </a:rPr>
              <a:t>E</a:t>
            </a:r>
            <a:r>
              <a:rPr lang="en-US" altLang="zh-CN" baseline="-20000" dirty="0" err="1">
                <a:solidFill>
                  <a:srgbClr val="FF0000"/>
                </a:solidFill>
                <a:latin typeface="黑体" panose="02010609060101010101" pitchFamily="49" charset="-122"/>
                <a:ea typeface="黑体" panose="02010609060101010101" pitchFamily="49" charset="-122"/>
              </a:rPr>
              <a:t>y</a:t>
            </a:r>
            <a:r>
              <a:rPr lang="en-US" altLang="zh-CN" dirty="0">
                <a:solidFill>
                  <a:srgbClr val="FF0000"/>
                </a:solidFill>
                <a:latin typeface="黑体" panose="02010609060101010101" pitchFamily="49" charset="-122"/>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a:p>
            <a:pPr marL="197644" indent="-197644">
              <a:lnSpc>
                <a:spcPct val="115000"/>
              </a:lnSpc>
            </a:pPr>
            <a:r>
              <a:rPr lang="zh-CN" altLang="en-US" dirty="0">
                <a:latin typeface="黑体" panose="02010609060101010101" pitchFamily="49" charset="-122"/>
                <a:ea typeface="黑体" panose="02010609060101010101" pitchFamily="49" charset="-122"/>
              </a:rPr>
              <a:t>浮点数加减运算的步骤</a:t>
            </a:r>
          </a:p>
          <a:p>
            <a:pPr lvl="1" indent="-203597">
              <a:lnSpc>
                <a:spcPct val="115000"/>
              </a:lnSpc>
            </a:pPr>
            <a:r>
              <a:rPr lang="zh-CN" altLang="en-US" sz="2400" dirty="0">
                <a:latin typeface="黑体" panose="02010609060101010101" pitchFamily="49" charset="-122"/>
                <a:ea typeface="黑体" panose="02010609060101010101" pitchFamily="49" charset="-122"/>
              </a:rPr>
              <a:t>零操作数检查</a:t>
            </a:r>
          </a:p>
          <a:p>
            <a:pPr lvl="1" indent="-203597">
              <a:lnSpc>
                <a:spcPct val="115000"/>
              </a:lnSpc>
            </a:pPr>
            <a:r>
              <a:rPr lang="zh-CN" altLang="en-US" sz="2400" dirty="0">
                <a:latin typeface="黑体" panose="02010609060101010101" pitchFamily="49" charset="-122"/>
                <a:ea typeface="黑体" panose="02010609060101010101" pitchFamily="49" charset="-122"/>
              </a:rPr>
              <a:t>两操作数对阶</a:t>
            </a:r>
          </a:p>
          <a:p>
            <a:pPr lvl="1" indent="-203597">
              <a:lnSpc>
                <a:spcPct val="115000"/>
              </a:lnSpc>
            </a:pPr>
            <a:r>
              <a:rPr lang="zh-CN" altLang="en-US" sz="2400" dirty="0">
                <a:latin typeface="黑体" panose="02010609060101010101" pitchFamily="49" charset="-122"/>
                <a:ea typeface="黑体" panose="02010609060101010101" pitchFamily="49" charset="-122"/>
              </a:rPr>
              <a:t>尾数相加减</a:t>
            </a:r>
          </a:p>
          <a:p>
            <a:pPr lvl="1" indent="-203597">
              <a:lnSpc>
                <a:spcPct val="115000"/>
              </a:lnSpc>
            </a:pPr>
            <a:r>
              <a:rPr lang="zh-CN" altLang="en-US" sz="2400" dirty="0">
                <a:latin typeface="黑体" panose="02010609060101010101" pitchFamily="49" charset="-122"/>
                <a:ea typeface="黑体" panose="02010609060101010101" pitchFamily="49" charset="-122"/>
              </a:rPr>
              <a:t>结果的规格化</a:t>
            </a:r>
          </a:p>
          <a:p>
            <a:pPr lvl="1" indent="-203597">
              <a:lnSpc>
                <a:spcPct val="115000"/>
              </a:lnSpc>
            </a:pPr>
            <a:r>
              <a:rPr lang="zh-CN" altLang="en-US" sz="2400" dirty="0">
                <a:latin typeface="黑体" panose="02010609060101010101" pitchFamily="49" charset="-122"/>
                <a:ea typeface="黑体" panose="02010609060101010101" pitchFamily="49" charset="-122"/>
              </a:rPr>
              <a:t>结果的舍入处理</a:t>
            </a:r>
          </a:p>
          <a:p>
            <a:pPr lvl="1" indent="-203597">
              <a:lnSpc>
                <a:spcPct val="115000"/>
              </a:lnSpc>
            </a:pPr>
            <a:r>
              <a:rPr lang="zh-CN" altLang="en-US" sz="2400" dirty="0">
                <a:latin typeface="黑体" panose="02010609060101010101" pitchFamily="49" charset="-122"/>
                <a:ea typeface="黑体" panose="02010609060101010101" pitchFamily="49" charset="-122"/>
              </a:rPr>
              <a:t>结果的溢出判断</a:t>
            </a:r>
          </a:p>
        </p:txBody>
      </p:sp>
      <p:sp>
        <p:nvSpPr>
          <p:cNvPr id="299013" name="Rectangle 5"/>
          <p:cNvSpPr>
            <a:spLocks noChangeArrowheads="1"/>
          </p:cNvSpPr>
          <p:nvPr/>
        </p:nvSpPr>
        <p:spPr bwMode="auto">
          <a:xfrm>
            <a:off x="3352800" y="3581400"/>
            <a:ext cx="5295900" cy="400110"/>
          </a:xfrm>
          <a:prstGeom prst="rect">
            <a:avLst/>
          </a:prstGeom>
          <a:noFill/>
          <a:ln w="9525">
            <a:noFill/>
            <a:miter lim="800000"/>
            <a:headEnd/>
            <a:tailEnd/>
          </a:ln>
          <a:effectLst>
            <a:prstShdw prst="shdw17" dist="17961" dir="2700000">
              <a:schemeClr val="accent1">
                <a:gamma/>
                <a:shade val="60000"/>
                <a:invGamma/>
              </a:schemeClr>
            </a:prstShdw>
          </a:effectLst>
        </p:spPr>
        <p:txBody>
          <a:bodyPr wrap="square">
            <a:spAutoFit/>
          </a:bodyPr>
          <a:lstStyle/>
          <a:p>
            <a:pPr fontAlgn="base">
              <a:spcBef>
                <a:spcPct val="0"/>
              </a:spcBef>
              <a:spcAft>
                <a:spcPct val="0"/>
              </a:spcAft>
              <a:defRPr/>
            </a:pPr>
            <a:r>
              <a:rPr lang="zh-CN" altLang="en-US" sz="2000" dirty="0">
                <a:solidFill>
                  <a:srgbClr val="006600"/>
                </a:solidFill>
                <a:latin typeface="仿宋_GB2312" pitchFamily="49" charset="-122"/>
                <a:ea typeface="仿宋_GB2312" pitchFamily="49" charset="-122"/>
              </a:rPr>
              <a:t>一个操作数为</a:t>
            </a:r>
            <a:r>
              <a:rPr lang="en-US" altLang="zh-CN" sz="2000" dirty="0">
                <a:solidFill>
                  <a:srgbClr val="006600"/>
                </a:solidFill>
                <a:latin typeface="仿宋_GB2312" pitchFamily="49" charset="-122"/>
                <a:ea typeface="仿宋_GB2312" pitchFamily="49" charset="-122"/>
              </a:rPr>
              <a:t>0</a:t>
            </a:r>
            <a:r>
              <a:rPr lang="zh-CN" altLang="en-US" sz="2000" dirty="0">
                <a:solidFill>
                  <a:srgbClr val="006600"/>
                </a:solidFill>
                <a:latin typeface="仿宋_GB2312" pitchFamily="49" charset="-122"/>
                <a:ea typeface="仿宋_GB2312" pitchFamily="49" charset="-122"/>
              </a:rPr>
              <a:t>，则不必运算，节省运算时间</a:t>
            </a:r>
          </a:p>
        </p:txBody>
      </p:sp>
      <p:sp>
        <p:nvSpPr>
          <p:cNvPr id="299014" name="Rectangle 6"/>
          <p:cNvSpPr>
            <a:spLocks noChangeArrowheads="1"/>
          </p:cNvSpPr>
          <p:nvPr/>
        </p:nvSpPr>
        <p:spPr bwMode="auto">
          <a:xfrm>
            <a:off x="3343003" y="4070735"/>
            <a:ext cx="5067300" cy="400110"/>
          </a:xfrm>
          <a:prstGeom prst="rect">
            <a:avLst/>
          </a:prstGeom>
          <a:noFill/>
          <a:ln w="9525">
            <a:noFill/>
            <a:miter lim="800000"/>
            <a:headEnd/>
            <a:tailEnd/>
          </a:ln>
          <a:effectLst>
            <a:prstShdw prst="shdw17" dist="17961" dir="2700000">
              <a:schemeClr val="accent1">
                <a:gamma/>
                <a:shade val="60000"/>
                <a:invGamma/>
              </a:schemeClr>
            </a:prstShdw>
          </a:effectLst>
        </p:spPr>
        <p:txBody>
          <a:bodyPr wrap="square">
            <a:spAutoFit/>
          </a:bodyPr>
          <a:lstStyle/>
          <a:p>
            <a:pPr fontAlgn="base">
              <a:spcBef>
                <a:spcPct val="0"/>
              </a:spcBef>
              <a:spcAft>
                <a:spcPct val="0"/>
              </a:spcAft>
              <a:defRPr/>
            </a:pPr>
            <a:r>
              <a:rPr lang="zh-CN" altLang="en-US" sz="2000" dirty="0">
                <a:solidFill>
                  <a:srgbClr val="006600"/>
                </a:solidFill>
                <a:latin typeface="仿宋_GB2312" pitchFamily="49" charset="-122"/>
                <a:ea typeface="仿宋_GB2312" pitchFamily="49" charset="-122"/>
              </a:rPr>
              <a:t>使小数点位置对齐，为加减运算做准备</a:t>
            </a:r>
          </a:p>
        </p:txBody>
      </p:sp>
      <p:sp>
        <p:nvSpPr>
          <p:cNvPr id="299016" name="Rectangle 8"/>
          <p:cNvSpPr>
            <a:spLocks noChangeArrowheads="1"/>
          </p:cNvSpPr>
          <p:nvPr/>
        </p:nvSpPr>
        <p:spPr bwMode="auto">
          <a:xfrm>
            <a:off x="3327763" y="4605958"/>
            <a:ext cx="5435237" cy="400110"/>
          </a:xfrm>
          <a:prstGeom prst="rect">
            <a:avLst/>
          </a:prstGeom>
          <a:noFill/>
          <a:ln w="9525" algn="ctr">
            <a:noFill/>
            <a:miter lim="800000"/>
            <a:headEnd/>
            <a:tailEnd/>
          </a:ln>
          <a:effectLst>
            <a:prstShdw prst="shdw17" dist="17961" dir="2700000">
              <a:schemeClr val="accent1">
                <a:gamma/>
                <a:shade val="60000"/>
                <a:invGamma/>
              </a:schemeClr>
            </a:prstShdw>
          </a:effectLst>
        </p:spPr>
        <p:txBody>
          <a:bodyPr wrap="square">
            <a:spAutoFit/>
          </a:bodyPr>
          <a:lstStyle/>
          <a:p>
            <a:pPr fontAlgn="base">
              <a:spcBef>
                <a:spcPct val="0"/>
              </a:spcBef>
              <a:spcAft>
                <a:spcPct val="0"/>
              </a:spcAft>
              <a:defRPr/>
            </a:pPr>
            <a:r>
              <a:rPr lang="zh-CN" altLang="en-US" sz="2000" dirty="0">
                <a:solidFill>
                  <a:srgbClr val="006600"/>
                </a:solidFill>
                <a:latin typeface="仿宋_GB2312" pitchFamily="49" charset="-122"/>
                <a:ea typeface="仿宋_GB2312" pitchFamily="49" charset="-122"/>
              </a:rPr>
              <a:t>以双符号位的补码形式进行加减法操作</a:t>
            </a:r>
          </a:p>
        </p:txBody>
      </p:sp>
    </p:spTree>
    <p:extLst>
      <p:ext uri="{BB962C8B-B14F-4D97-AF65-F5344CB8AC3E}">
        <p14:creationId xmlns:p14="http://schemas.microsoft.com/office/powerpoint/2010/main" val="18527104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4" name="Rectangle 2"/>
          <p:cNvSpPr>
            <a:spLocks noGrp="1" noChangeArrowheads="1"/>
          </p:cNvSpPr>
          <p:nvPr>
            <p:ph type="title"/>
          </p:nvPr>
        </p:nvSpPr>
        <p:spPr/>
        <p:txBody>
          <a:bodyPr/>
          <a:lstStyle/>
          <a:p>
            <a:pPr eaLnBrk="1" hangingPunct="1">
              <a:defRPr/>
            </a:pPr>
            <a:r>
              <a:rPr lang="zh-CN" altLang="en-US" dirty="0" smtClean="0">
                <a:latin typeface="黑体" panose="02010609060101010101" pitchFamily="49" charset="-122"/>
                <a:ea typeface="黑体" panose="02010609060101010101" pitchFamily="49" charset="-122"/>
              </a:rPr>
              <a:t>浮点数加减运算</a:t>
            </a:r>
            <a:r>
              <a:rPr lang="en-US" altLang="zh-CN" dirty="0" smtClean="0">
                <a:latin typeface="黑体" panose="02010609060101010101" pitchFamily="49" charset="-122"/>
                <a:ea typeface="黑体" panose="02010609060101010101" pitchFamily="49" charset="-122"/>
              </a:rPr>
              <a:t>——</a:t>
            </a:r>
            <a:r>
              <a:rPr lang="zh-CN" altLang="en-US" dirty="0" smtClean="0">
                <a:latin typeface="黑体" panose="02010609060101010101" pitchFamily="49" charset="-122"/>
                <a:ea typeface="黑体" panose="02010609060101010101" pitchFamily="49" charset="-122"/>
              </a:rPr>
              <a:t>两操作数对阶</a:t>
            </a:r>
            <a:endParaRPr lang="en-US" altLang="zh-CN" dirty="0" smtClean="0">
              <a:latin typeface="黑体" panose="02010609060101010101" pitchFamily="49" charset="-122"/>
              <a:ea typeface="黑体" panose="02010609060101010101" pitchFamily="49" charset="-122"/>
            </a:endParaRPr>
          </a:p>
        </p:txBody>
      </p:sp>
      <p:sp>
        <p:nvSpPr>
          <p:cNvPr id="316419" name="Rectangle 3"/>
          <p:cNvSpPr>
            <a:spLocks noGrp="1" noChangeArrowheads="1"/>
          </p:cNvSpPr>
          <p:nvPr>
            <p:ph idx="1"/>
          </p:nvPr>
        </p:nvSpPr>
        <p:spPr>
          <a:xfrm>
            <a:off x="403826" y="1356568"/>
            <a:ext cx="8740174" cy="4392930"/>
          </a:xfrm>
        </p:spPr>
        <p:txBody>
          <a:bodyPr/>
          <a:lstStyle/>
          <a:p>
            <a:pPr marL="0" indent="0">
              <a:lnSpc>
                <a:spcPct val="115000"/>
              </a:lnSpc>
              <a:tabLst>
                <a:tab pos="601266" algn="l"/>
              </a:tabLst>
            </a:pPr>
            <a:r>
              <a:rPr lang="zh-CN" altLang="en-US" dirty="0"/>
              <a:t>对阶的原则</a:t>
            </a:r>
          </a:p>
          <a:p>
            <a:pPr marL="272654" lvl="1" indent="-138113">
              <a:lnSpc>
                <a:spcPct val="115000"/>
              </a:lnSpc>
              <a:tabLst>
                <a:tab pos="601266" algn="l"/>
              </a:tabLst>
            </a:pPr>
            <a:r>
              <a:rPr lang="zh-CN" altLang="en-US" dirty="0"/>
              <a:t>以较大的阶码为标准，调整阶码较小的数据；</a:t>
            </a:r>
          </a:p>
          <a:p>
            <a:pPr marL="601266" lvl="2" indent="-194072">
              <a:lnSpc>
                <a:spcPct val="115000"/>
              </a:lnSpc>
              <a:tabLst>
                <a:tab pos="601266" algn="l"/>
              </a:tabLst>
            </a:pPr>
            <a:r>
              <a:rPr lang="zh-CN" altLang="en-US" dirty="0"/>
              <a:t>避免阶码较大的浮点数的尾数左移，导致最高有效数位丢失；</a:t>
            </a:r>
          </a:p>
          <a:p>
            <a:pPr marL="0" indent="0">
              <a:lnSpc>
                <a:spcPct val="115000"/>
              </a:lnSpc>
              <a:tabLst>
                <a:tab pos="601266" algn="l"/>
              </a:tabLst>
            </a:pPr>
            <a:r>
              <a:rPr lang="zh-CN" altLang="en-US" dirty="0"/>
              <a:t>具体操作</a:t>
            </a:r>
          </a:p>
          <a:p>
            <a:pPr marL="272654" lvl="1" indent="-138113">
              <a:lnSpc>
                <a:spcPct val="115000"/>
              </a:lnSpc>
              <a:tabLst>
                <a:tab pos="601266" algn="l"/>
              </a:tabLst>
            </a:pPr>
            <a:r>
              <a:rPr lang="zh-CN" altLang="en-US" dirty="0"/>
              <a:t>求阶差</a:t>
            </a:r>
            <a:r>
              <a:rPr lang="zh-CN" altLang="en-US" dirty="0">
                <a:solidFill>
                  <a:srgbClr val="FF0000"/>
                </a:solidFill>
              </a:rPr>
              <a:t>△</a:t>
            </a:r>
            <a:r>
              <a:rPr lang="en-US" altLang="zh-CN" dirty="0">
                <a:solidFill>
                  <a:srgbClr val="FF0000"/>
                </a:solidFill>
              </a:rPr>
              <a:t>E </a:t>
            </a:r>
            <a:r>
              <a:rPr lang="zh-CN" altLang="en-US" dirty="0">
                <a:solidFill>
                  <a:srgbClr val="FF0000"/>
                </a:solidFill>
              </a:rPr>
              <a:t>＝ </a:t>
            </a:r>
            <a:r>
              <a:rPr lang="en-US" altLang="zh-CN" dirty="0">
                <a:solidFill>
                  <a:srgbClr val="FF0000"/>
                </a:solidFill>
              </a:rPr>
              <a:t>E</a:t>
            </a:r>
            <a:r>
              <a:rPr lang="en-US" altLang="zh-CN" baseline="-25000" dirty="0">
                <a:solidFill>
                  <a:srgbClr val="FF0000"/>
                </a:solidFill>
              </a:rPr>
              <a:t>X</a:t>
            </a:r>
            <a:r>
              <a:rPr lang="zh-CN" altLang="en-US" dirty="0">
                <a:solidFill>
                  <a:srgbClr val="FF0000"/>
                </a:solidFill>
              </a:rPr>
              <a:t>－</a:t>
            </a:r>
            <a:r>
              <a:rPr lang="en-US" altLang="zh-CN" dirty="0">
                <a:solidFill>
                  <a:srgbClr val="FF0000"/>
                </a:solidFill>
              </a:rPr>
              <a:t>E</a:t>
            </a:r>
            <a:r>
              <a:rPr lang="en-US" altLang="zh-CN" baseline="-25000" dirty="0">
                <a:solidFill>
                  <a:srgbClr val="FF0000"/>
                </a:solidFill>
              </a:rPr>
              <a:t>Y</a:t>
            </a:r>
          </a:p>
          <a:p>
            <a:pPr marL="272654" lvl="1" indent="-138113">
              <a:lnSpc>
                <a:spcPct val="115000"/>
              </a:lnSpc>
              <a:tabLst>
                <a:tab pos="601266" algn="l"/>
              </a:tabLst>
            </a:pPr>
            <a:r>
              <a:rPr lang="zh-CN" altLang="en-US" dirty="0"/>
              <a:t>调整阶码较小的数据</a:t>
            </a:r>
          </a:p>
          <a:p>
            <a:pPr marL="601266" lvl="2" indent="-194072">
              <a:lnSpc>
                <a:spcPct val="115000"/>
              </a:lnSpc>
              <a:tabLst>
                <a:tab pos="601266" algn="l"/>
              </a:tabLst>
            </a:pPr>
            <a:r>
              <a:rPr lang="zh-CN" altLang="en-US" dirty="0"/>
              <a:t>若△</a:t>
            </a:r>
            <a:r>
              <a:rPr lang="en-US" altLang="zh-CN" dirty="0"/>
              <a:t>E </a:t>
            </a:r>
            <a:r>
              <a:rPr lang="en-US" altLang="zh-CN" dirty="0">
                <a:solidFill>
                  <a:srgbClr val="996600"/>
                </a:solidFill>
              </a:rPr>
              <a:t>&gt;0</a:t>
            </a:r>
            <a:r>
              <a:rPr lang="zh-CN" altLang="en-US" dirty="0">
                <a:solidFill>
                  <a:srgbClr val="996600"/>
                </a:solidFill>
              </a:rPr>
              <a:t>，则</a:t>
            </a:r>
            <a:r>
              <a:rPr lang="en-US" altLang="zh-CN" dirty="0">
                <a:solidFill>
                  <a:srgbClr val="FF0000"/>
                </a:solidFill>
              </a:rPr>
              <a:t>M</a:t>
            </a:r>
            <a:r>
              <a:rPr lang="en-US" altLang="zh-CN" baseline="-18000" dirty="0">
                <a:solidFill>
                  <a:srgbClr val="FF0000"/>
                </a:solidFill>
              </a:rPr>
              <a:t>Y</a:t>
            </a:r>
            <a:r>
              <a:rPr lang="zh-CN" altLang="en-US" dirty="0">
                <a:solidFill>
                  <a:srgbClr val="996600"/>
                </a:solidFill>
              </a:rPr>
              <a:t>右移△</a:t>
            </a:r>
            <a:r>
              <a:rPr lang="en-US" altLang="zh-CN" dirty="0">
                <a:solidFill>
                  <a:srgbClr val="996600"/>
                </a:solidFill>
              </a:rPr>
              <a:t>E</a:t>
            </a:r>
            <a:r>
              <a:rPr lang="zh-CN" altLang="en-US" dirty="0">
                <a:solidFill>
                  <a:srgbClr val="996600"/>
                </a:solidFill>
              </a:rPr>
              <a:t>位，结果的阶码为</a:t>
            </a:r>
            <a:r>
              <a:rPr lang="en-US" altLang="zh-CN" dirty="0">
                <a:solidFill>
                  <a:srgbClr val="996600"/>
                </a:solidFill>
              </a:rPr>
              <a:t>E</a:t>
            </a:r>
            <a:r>
              <a:rPr lang="en-US" altLang="zh-CN" baseline="-18000" dirty="0">
                <a:solidFill>
                  <a:srgbClr val="996600"/>
                </a:solidFill>
              </a:rPr>
              <a:t>X</a:t>
            </a:r>
          </a:p>
          <a:p>
            <a:pPr marL="601266" lvl="2" indent="-194072">
              <a:lnSpc>
                <a:spcPct val="115000"/>
              </a:lnSpc>
              <a:tabLst>
                <a:tab pos="601266" algn="l"/>
              </a:tabLst>
            </a:pPr>
            <a:r>
              <a:rPr lang="zh-CN" altLang="en-US" dirty="0"/>
              <a:t>若△</a:t>
            </a:r>
            <a:r>
              <a:rPr lang="en-US" altLang="zh-CN" dirty="0"/>
              <a:t>E </a:t>
            </a:r>
            <a:r>
              <a:rPr lang="en-US" altLang="zh-CN" dirty="0">
                <a:solidFill>
                  <a:srgbClr val="996600"/>
                </a:solidFill>
              </a:rPr>
              <a:t>&lt;0</a:t>
            </a:r>
            <a:r>
              <a:rPr lang="zh-CN" altLang="en-US" dirty="0">
                <a:solidFill>
                  <a:srgbClr val="996600"/>
                </a:solidFill>
              </a:rPr>
              <a:t>，则</a:t>
            </a:r>
            <a:r>
              <a:rPr lang="en-US" altLang="zh-CN" dirty="0">
                <a:solidFill>
                  <a:srgbClr val="FF0000"/>
                </a:solidFill>
              </a:rPr>
              <a:t>M</a:t>
            </a:r>
            <a:r>
              <a:rPr lang="en-US" altLang="zh-CN" baseline="-18000" dirty="0">
                <a:solidFill>
                  <a:srgbClr val="FF0000"/>
                </a:solidFill>
              </a:rPr>
              <a:t>X</a:t>
            </a:r>
            <a:r>
              <a:rPr lang="zh-CN" altLang="en-US" dirty="0">
                <a:solidFill>
                  <a:srgbClr val="996600"/>
                </a:solidFill>
              </a:rPr>
              <a:t>右移</a:t>
            </a:r>
            <a:r>
              <a:rPr lang="en-US" altLang="zh-CN" dirty="0">
                <a:solidFill>
                  <a:srgbClr val="996600"/>
                </a:solidFill>
              </a:rPr>
              <a:t>|△E|</a:t>
            </a:r>
            <a:r>
              <a:rPr lang="zh-CN" altLang="en-US" dirty="0">
                <a:solidFill>
                  <a:srgbClr val="996600"/>
                </a:solidFill>
              </a:rPr>
              <a:t>位，结果的阶码为</a:t>
            </a:r>
            <a:r>
              <a:rPr lang="en-US" altLang="zh-CN" dirty="0">
                <a:solidFill>
                  <a:srgbClr val="996600"/>
                </a:solidFill>
              </a:rPr>
              <a:t>E</a:t>
            </a:r>
            <a:r>
              <a:rPr lang="en-US" altLang="zh-CN" baseline="-18000" dirty="0">
                <a:solidFill>
                  <a:srgbClr val="996600"/>
                </a:solidFill>
              </a:rPr>
              <a:t>Y</a:t>
            </a:r>
            <a:endParaRPr lang="zh-CN" altLang="en-US" dirty="0">
              <a:solidFill>
                <a:srgbClr val="996600"/>
              </a:solidFill>
            </a:endParaRPr>
          </a:p>
          <a:p>
            <a:pPr marL="0" indent="0">
              <a:lnSpc>
                <a:spcPct val="115000"/>
              </a:lnSpc>
              <a:tabLst>
                <a:tab pos="601266" algn="l"/>
              </a:tabLst>
            </a:pPr>
            <a:r>
              <a:rPr lang="zh-CN" altLang="en-US" dirty="0" smtClean="0"/>
              <a:t>例 </a:t>
            </a:r>
            <a:r>
              <a:rPr lang="en-US" altLang="zh-CN" dirty="0" smtClean="0"/>
              <a:t>X</a:t>
            </a:r>
            <a:r>
              <a:rPr lang="en-US" altLang="zh-CN" dirty="0"/>
              <a:t>——E</a:t>
            </a:r>
            <a:r>
              <a:rPr lang="en-US" altLang="zh-CN" baseline="-25000" dirty="0"/>
              <a:t>X</a:t>
            </a:r>
            <a:r>
              <a:rPr lang="en-US" altLang="zh-CN" dirty="0"/>
              <a:t>=0 001</a:t>
            </a:r>
            <a:r>
              <a:rPr lang="zh-CN" altLang="en-US" dirty="0"/>
              <a:t>，</a:t>
            </a:r>
            <a:r>
              <a:rPr lang="en-US" altLang="zh-CN" dirty="0"/>
              <a:t>M</a:t>
            </a:r>
            <a:r>
              <a:rPr lang="en-US" altLang="zh-CN" baseline="-25000" dirty="0"/>
              <a:t>X</a:t>
            </a:r>
            <a:r>
              <a:rPr lang="en-US" altLang="zh-CN" dirty="0"/>
              <a:t>=0.101</a:t>
            </a:r>
            <a:r>
              <a:rPr lang="zh-CN" altLang="en-US" dirty="0"/>
              <a:t>；</a:t>
            </a:r>
            <a:r>
              <a:rPr lang="en-US" altLang="zh-CN" dirty="0"/>
              <a:t>Y——E</a:t>
            </a:r>
            <a:r>
              <a:rPr lang="en-US" altLang="zh-CN" baseline="-25000" dirty="0"/>
              <a:t>Y</a:t>
            </a:r>
            <a:r>
              <a:rPr lang="en-US" altLang="zh-CN" dirty="0"/>
              <a:t>=0 011</a:t>
            </a:r>
            <a:r>
              <a:rPr lang="zh-CN" altLang="en-US" dirty="0"/>
              <a:t>，尾数</a:t>
            </a:r>
            <a:r>
              <a:rPr lang="en-US" altLang="zh-CN" dirty="0"/>
              <a:t>M</a:t>
            </a:r>
            <a:r>
              <a:rPr lang="en-US" altLang="zh-CN" baseline="-25000" dirty="0"/>
              <a:t>Y</a:t>
            </a:r>
            <a:r>
              <a:rPr lang="en-US" altLang="zh-CN" dirty="0"/>
              <a:t>=0.111</a:t>
            </a:r>
          </a:p>
          <a:p>
            <a:pPr marL="272654" lvl="1" indent="-138113">
              <a:lnSpc>
                <a:spcPct val="115000"/>
              </a:lnSpc>
              <a:tabLst>
                <a:tab pos="601266" algn="l"/>
              </a:tabLst>
            </a:pPr>
            <a:r>
              <a:rPr lang="zh-CN" altLang="en-US" sz="2400" dirty="0"/>
              <a:t>阶差</a:t>
            </a:r>
            <a:r>
              <a:rPr lang="zh-CN" altLang="en-US" sz="3200" dirty="0" smtClean="0">
                <a:solidFill>
                  <a:srgbClr val="006600"/>
                </a:solidFill>
              </a:rPr>
              <a:t>△</a:t>
            </a:r>
            <a:r>
              <a:rPr lang="en-US" altLang="zh-CN" sz="3200" dirty="0" smtClean="0">
                <a:solidFill>
                  <a:srgbClr val="006600"/>
                </a:solidFill>
              </a:rPr>
              <a:t>E </a:t>
            </a:r>
            <a:r>
              <a:rPr lang="zh-CN" altLang="en-US" sz="3200" dirty="0" smtClean="0">
                <a:solidFill>
                  <a:srgbClr val="006600"/>
                </a:solidFill>
              </a:rPr>
              <a:t>＝ </a:t>
            </a:r>
            <a:r>
              <a:rPr lang="en-US" altLang="zh-CN" sz="3200" dirty="0" smtClean="0">
                <a:solidFill>
                  <a:srgbClr val="006600"/>
                </a:solidFill>
              </a:rPr>
              <a:t>E</a:t>
            </a:r>
            <a:r>
              <a:rPr lang="en-US" altLang="zh-CN" sz="3200" baseline="-18000" dirty="0" smtClean="0">
                <a:solidFill>
                  <a:srgbClr val="006600"/>
                </a:solidFill>
              </a:rPr>
              <a:t>X</a:t>
            </a:r>
            <a:r>
              <a:rPr lang="zh-CN" altLang="en-US" sz="3200" dirty="0" smtClean="0">
                <a:solidFill>
                  <a:srgbClr val="006600"/>
                </a:solidFill>
              </a:rPr>
              <a:t>－</a:t>
            </a:r>
            <a:r>
              <a:rPr lang="en-US" altLang="zh-CN" sz="3200" dirty="0" smtClean="0">
                <a:solidFill>
                  <a:srgbClr val="006600"/>
                </a:solidFill>
              </a:rPr>
              <a:t>E</a:t>
            </a:r>
            <a:r>
              <a:rPr lang="en-US" altLang="zh-CN" sz="3200" baseline="-18000" dirty="0" smtClean="0">
                <a:solidFill>
                  <a:srgbClr val="006600"/>
                </a:solidFill>
              </a:rPr>
              <a:t>Y </a:t>
            </a:r>
            <a:r>
              <a:rPr lang="en-US" altLang="zh-CN" sz="3200" dirty="0" smtClean="0">
                <a:solidFill>
                  <a:srgbClr val="006600"/>
                </a:solidFill>
              </a:rPr>
              <a:t>= 0 001-0 011 = - 10</a:t>
            </a:r>
            <a:r>
              <a:rPr lang="en-US" altLang="zh-CN" sz="3200" dirty="0" smtClean="0">
                <a:solidFill>
                  <a:srgbClr val="FF0000"/>
                </a:solidFill>
              </a:rPr>
              <a:t> </a:t>
            </a:r>
          </a:p>
          <a:p>
            <a:pPr marL="272654" lvl="1" indent="-138113">
              <a:lnSpc>
                <a:spcPct val="115000"/>
              </a:lnSpc>
              <a:tabLst>
                <a:tab pos="601266" algn="l"/>
              </a:tabLst>
            </a:pPr>
            <a:r>
              <a:rPr lang="en-US" altLang="zh-CN" sz="2400" dirty="0"/>
              <a:t>X</a:t>
            </a:r>
            <a:r>
              <a:rPr lang="zh-CN" altLang="en-US" sz="2400" dirty="0"/>
              <a:t>尾数</a:t>
            </a:r>
            <a:r>
              <a:rPr lang="en-US" altLang="zh-CN" sz="2400" dirty="0"/>
              <a:t>M</a:t>
            </a:r>
            <a:r>
              <a:rPr lang="en-US" altLang="zh-CN" sz="2400" baseline="-25000" dirty="0"/>
              <a:t>X</a:t>
            </a:r>
            <a:r>
              <a:rPr lang="zh-CN" altLang="en-US" sz="2400" dirty="0"/>
              <a:t>右移</a:t>
            </a:r>
            <a:r>
              <a:rPr lang="en-US" altLang="zh-CN" sz="2400" dirty="0"/>
              <a:t>2</a:t>
            </a:r>
            <a:r>
              <a:rPr lang="zh-CN" altLang="en-US" sz="2400" dirty="0"/>
              <a:t>位， </a:t>
            </a:r>
            <a:r>
              <a:rPr lang="en-US" altLang="zh-CN" sz="2400" dirty="0"/>
              <a:t>M</a:t>
            </a:r>
            <a:r>
              <a:rPr lang="en-US" altLang="zh-CN" sz="2400" baseline="-25000" dirty="0"/>
              <a:t>X</a:t>
            </a:r>
            <a:r>
              <a:rPr lang="en-US" altLang="zh-CN" sz="2400" dirty="0"/>
              <a:t>=0.001 </a:t>
            </a:r>
            <a:r>
              <a:rPr lang="en-US" altLang="zh-CN" sz="2400" dirty="0">
                <a:solidFill>
                  <a:srgbClr val="FF0000"/>
                </a:solidFill>
              </a:rPr>
              <a:t>01</a:t>
            </a:r>
            <a:endParaRPr lang="zh-CN" altLang="en-US" sz="2400" dirty="0">
              <a:solidFill>
                <a:srgbClr val="FF0000"/>
              </a:solidFill>
            </a:endParaRPr>
          </a:p>
        </p:txBody>
      </p:sp>
      <p:sp>
        <p:nvSpPr>
          <p:cNvPr id="316425" name="Rectangle 9"/>
          <p:cNvSpPr>
            <a:spLocks noChangeArrowheads="1"/>
          </p:cNvSpPr>
          <p:nvPr/>
        </p:nvSpPr>
        <p:spPr bwMode="auto">
          <a:xfrm>
            <a:off x="6934200" y="5420380"/>
            <a:ext cx="914400" cy="523220"/>
          </a:xfrm>
          <a:prstGeom prst="rect">
            <a:avLst/>
          </a:prstGeom>
          <a:noFill/>
          <a:ln w="9525">
            <a:noFill/>
            <a:miter lim="800000"/>
            <a:headEnd/>
            <a:tailEnd/>
          </a:ln>
          <a:effectLst>
            <a:prstShdw prst="shdw17" dist="17961" dir="2700000">
              <a:schemeClr val="accent1">
                <a:gamma/>
                <a:shade val="60000"/>
                <a:invGamma/>
              </a:schemeClr>
            </a:prstShdw>
          </a:effectLst>
        </p:spPr>
        <p:txBody>
          <a:bodyPr wrap="square">
            <a:spAutoFit/>
          </a:bodyPr>
          <a:lstStyle/>
          <a:p>
            <a:pPr fontAlgn="base">
              <a:spcBef>
                <a:spcPct val="0"/>
              </a:spcBef>
              <a:spcAft>
                <a:spcPct val="0"/>
              </a:spcAft>
              <a:defRPr/>
            </a:pPr>
            <a:r>
              <a:rPr kumimoji="1" lang="en-US" altLang="zh-CN" sz="2800" dirty="0">
                <a:solidFill>
                  <a:srgbClr val="FF0000"/>
                </a:solidFill>
                <a:latin typeface="Arial" charset="0"/>
                <a:ea typeface="宋体" panose="02010600030101010101" pitchFamily="2" charset="-122"/>
              </a:rPr>
              <a:t>&lt; 0</a:t>
            </a:r>
            <a:endParaRPr kumimoji="1" lang="zh-CN" altLang="en-US" sz="2800" dirty="0">
              <a:solidFill>
                <a:srgbClr val="FF0000"/>
              </a:solidFill>
              <a:latin typeface="Arial" charset="0"/>
              <a:ea typeface="宋体" panose="02010600030101010101" pitchFamily="2" charset="-122"/>
            </a:endParaRPr>
          </a:p>
        </p:txBody>
      </p:sp>
      <p:sp>
        <p:nvSpPr>
          <p:cNvPr id="316426" name="AutoShape 10"/>
          <p:cNvSpPr>
            <a:spLocks noChangeArrowheads="1"/>
          </p:cNvSpPr>
          <p:nvPr/>
        </p:nvSpPr>
        <p:spPr bwMode="auto">
          <a:xfrm>
            <a:off x="6632918" y="1197678"/>
            <a:ext cx="1809749" cy="929432"/>
          </a:xfrm>
          <a:prstGeom prst="wedgeRoundRectCallout">
            <a:avLst>
              <a:gd name="adj1" fmla="val -92310"/>
              <a:gd name="adj2" fmla="val 42708"/>
              <a:gd name="adj3" fmla="val 16667"/>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69056" tIns="34529" rIns="69056" bIns="34529"/>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fontAlgn="base">
              <a:spcAft>
                <a:spcPct val="0"/>
              </a:spcAft>
              <a:buClrTx/>
              <a:buNone/>
            </a:pPr>
            <a:r>
              <a:rPr lang="zh-CN" altLang="en-US" sz="2400" dirty="0">
                <a:solidFill>
                  <a:srgbClr val="B20E12"/>
                </a:solidFill>
                <a:ea typeface="仿宋_GB2312" pitchFamily="49" charset="-122"/>
              </a:rPr>
              <a:t>增大阶码，尾数右移</a:t>
            </a:r>
          </a:p>
        </p:txBody>
      </p:sp>
    </p:spTree>
    <p:extLst>
      <p:ext uri="{BB962C8B-B14F-4D97-AF65-F5344CB8AC3E}">
        <p14:creationId xmlns:p14="http://schemas.microsoft.com/office/powerpoint/2010/main" val="26765432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8" name="Rectangle 2"/>
          <p:cNvSpPr>
            <a:spLocks noGrp="1" noChangeArrowheads="1"/>
          </p:cNvSpPr>
          <p:nvPr>
            <p:ph type="title"/>
          </p:nvPr>
        </p:nvSpPr>
        <p:spPr>
          <a:xfrm>
            <a:off x="304800" y="542925"/>
            <a:ext cx="7391400" cy="628650"/>
          </a:xfrm>
        </p:spPr>
        <p:txBody>
          <a:bodyPr/>
          <a:lstStyle/>
          <a:p>
            <a:pPr algn="l" eaLnBrk="1" hangingPunct="1">
              <a:defRPr/>
            </a:pPr>
            <a:r>
              <a:rPr lang="zh-CN" altLang="en-US" sz="3200" dirty="0">
                <a:latin typeface="黑体" panose="02010609060101010101" pitchFamily="49" charset="-122"/>
                <a:ea typeface="黑体" panose="02010609060101010101" pitchFamily="49" charset="-122"/>
              </a:rPr>
              <a:t>浮点数加减运算</a:t>
            </a:r>
            <a:r>
              <a:rPr lang="en-US" altLang="zh-CN" sz="3200" dirty="0">
                <a:latin typeface="黑体" panose="02010609060101010101" pitchFamily="49" charset="-122"/>
                <a:ea typeface="黑体" panose="02010609060101010101" pitchFamily="49" charset="-122"/>
              </a:rPr>
              <a:t>——</a:t>
            </a:r>
            <a:r>
              <a:rPr lang="zh-CN" altLang="en-US" sz="3200" dirty="0">
                <a:latin typeface="黑体" panose="02010609060101010101" pitchFamily="49" charset="-122"/>
                <a:ea typeface="黑体" panose="02010609060101010101" pitchFamily="49" charset="-122"/>
              </a:rPr>
              <a:t>结果的规格化处理</a:t>
            </a:r>
          </a:p>
        </p:txBody>
      </p:sp>
      <p:sp>
        <p:nvSpPr>
          <p:cNvPr id="317443" name="Rectangle 3"/>
          <p:cNvSpPr>
            <a:spLocks noGrp="1" noChangeArrowheads="1"/>
          </p:cNvSpPr>
          <p:nvPr>
            <p:ph idx="1"/>
          </p:nvPr>
        </p:nvSpPr>
        <p:spPr>
          <a:xfrm>
            <a:off x="381000" y="1447800"/>
            <a:ext cx="8686800" cy="5029200"/>
          </a:xfrm>
        </p:spPr>
        <p:txBody>
          <a:bodyPr/>
          <a:lstStyle/>
          <a:p>
            <a:pPr marL="0" indent="0">
              <a:tabLst>
                <a:tab pos="676275" algn="l"/>
              </a:tabLst>
            </a:pPr>
            <a:r>
              <a:rPr lang="zh-CN" altLang="en-US" sz="2800" b="0" dirty="0" smtClean="0">
                <a:latin typeface="黑体" panose="02010609060101010101" pitchFamily="49" charset="-122"/>
                <a:ea typeface="黑体" panose="02010609060101010101" pitchFamily="49" charset="-122"/>
              </a:rPr>
              <a:t>两尾数加减的结果有两种情况</a:t>
            </a:r>
          </a:p>
          <a:p>
            <a:pPr marL="338138" lvl="1" indent="-203597">
              <a:tabLst>
                <a:tab pos="676275" algn="l"/>
              </a:tabLst>
            </a:pPr>
            <a:r>
              <a:rPr lang="zh-CN" altLang="en-US" sz="2400" dirty="0" smtClean="0">
                <a:latin typeface="黑体" panose="02010609060101010101" pitchFamily="49" charset="-122"/>
                <a:ea typeface="黑体" panose="02010609060101010101" pitchFamily="49" charset="-122"/>
              </a:rPr>
              <a:t>尾数溢出</a:t>
            </a:r>
          </a:p>
          <a:p>
            <a:pPr marL="676275" lvl="2" indent="-203597">
              <a:tabLst>
                <a:tab pos="676275" algn="l"/>
              </a:tabLst>
            </a:pPr>
            <a:r>
              <a:rPr lang="zh-CN" altLang="en-US" dirty="0">
                <a:latin typeface="黑体" panose="02010609060101010101" pitchFamily="49" charset="-122"/>
                <a:ea typeface="黑体" panose="02010609060101010101" pitchFamily="49" charset="-122"/>
              </a:rPr>
              <a:t>尾数右移</a:t>
            </a: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位，阶码加</a:t>
            </a:r>
            <a:r>
              <a:rPr lang="en-US" altLang="zh-CN" dirty="0">
                <a:latin typeface="黑体" panose="02010609060101010101" pitchFamily="49" charset="-122"/>
                <a:ea typeface="黑体" panose="02010609060101010101" pitchFamily="49" charset="-122"/>
              </a:rPr>
              <a:t>1</a:t>
            </a:r>
            <a:endParaRPr lang="zh-CN" altLang="en-US" dirty="0">
              <a:latin typeface="黑体" panose="02010609060101010101" pitchFamily="49" charset="-122"/>
              <a:ea typeface="黑体" panose="02010609060101010101" pitchFamily="49" charset="-122"/>
            </a:endParaRPr>
          </a:p>
          <a:p>
            <a:pPr marL="338138" lvl="1" indent="-203597">
              <a:tabLst>
                <a:tab pos="676275" algn="l"/>
              </a:tabLst>
            </a:pPr>
            <a:r>
              <a:rPr lang="zh-CN" altLang="en-US" sz="2400" dirty="0" smtClean="0">
                <a:latin typeface="黑体" panose="02010609060101010101" pitchFamily="49" charset="-122"/>
                <a:ea typeface="黑体" panose="02010609060101010101" pitchFamily="49" charset="-122"/>
              </a:rPr>
              <a:t>尾数为非规格化数据</a:t>
            </a:r>
          </a:p>
          <a:p>
            <a:pPr marL="676275" lvl="2" indent="-203597">
              <a:tabLst>
                <a:tab pos="676275" algn="l"/>
              </a:tabLst>
            </a:pPr>
            <a:r>
              <a:rPr lang="zh-CN" altLang="en-US" dirty="0">
                <a:latin typeface="黑体" panose="02010609060101010101" pitchFamily="49" charset="-122"/>
                <a:ea typeface="黑体" panose="02010609060101010101" pitchFamily="49" charset="-122"/>
              </a:rPr>
              <a:t>尾数左移</a:t>
            </a: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位，阶码减１，直至数值位最高位与符号位相反。</a:t>
            </a:r>
          </a:p>
          <a:p>
            <a:pPr marL="0" indent="0">
              <a:tabLst>
                <a:tab pos="676275" algn="l"/>
              </a:tabLst>
            </a:pPr>
            <a:r>
              <a:rPr lang="zh-CN" altLang="en-US" b="0" dirty="0" smtClean="0">
                <a:latin typeface="Times New Roman" panose="02020603050405020304" pitchFamily="18" charset="0"/>
                <a:ea typeface="黑体" panose="02010609060101010101" pitchFamily="49" charset="-122"/>
                <a:cs typeface="Times New Roman" panose="02020603050405020304" pitchFamily="18" charset="0"/>
              </a:rPr>
              <a:t>同上例，对阶后</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E=E</a:t>
            </a:r>
            <a:r>
              <a:rPr lang="en-US" altLang="zh-CN" b="0" baseline="-25000" dirty="0">
                <a:latin typeface="Times New Roman" panose="02020603050405020304" pitchFamily="18" charset="0"/>
                <a:ea typeface="黑体" panose="02010609060101010101" pitchFamily="49" charset="-122"/>
                <a:cs typeface="Times New Roman" panose="02020603050405020304" pitchFamily="18" charset="0"/>
              </a:rPr>
              <a:t>Y</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=0 011</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，尾数</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M</a:t>
            </a:r>
            <a:r>
              <a:rPr lang="en-US" altLang="zh-CN" b="0" baseline="-25000" dirty="0">
                <a:latin typeface="Times New Roman" panose="02020603050405020304" pitchFamily="18" charset="0"/>
                <a:ea typeface="黑体" panose="02010609060101010101" pitchFamily="49" charset="-122"/>
                <a:cs typeface="Times New Roman" panose="02020603050405020304" pitchFamily="18" charset="0"/>
              </a:rPr>
              <a:t>X</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=0.001 (01)</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M</a:t>
            </a:r>
            <a:r>
              <a:rPr lang="en-US" altLang="zh-CN" b="0" baseline="-25000" dirty="0">
                <a:latin typeface="Times New Roman" panose="02020603050405020304" pitchFamily="18" charset="0"/>
                <a:ea typeface="黑体" panose="02010609060101010101" pitchFamily="49" charset="-122"/>
                <a:cs typeface="Times New Roman" panose="02020603050405020304" pitchFamily="18" charset="0"/>
              </a:rPr>
              <a:t>Y</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=0.111</a:t>
            </a:r>
          </a:p>
          <a:p>
            <a:pPr marL="338138" lvl="1" indent="-203597">
              <a:tabLst>
                <a:tab pos="676275" algn="l"/>
              </a:tabLst>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尾数求和</a:t>
            </a:r>
            <a:br>
              <a:rPr lang="zh-CN" altLang="en-US" sz="2400" dirty="0">
                <a:latin typeface="Times New Roman" panose="02020603050405020304" pitchFamily="18" charset="0"/>
                <a:ea typeface="黑体" panose="02010609060101010101" pitchFamily="49" charset="-122"/>
                <a:cs typeface="Times New Roman" panose="02020603050405020304" pitchFamily="18" charset="0"/>
              </a:rPr>
            </a:br>
            <a:r>
              <a:rPr lang="en-US" altLang="zh-CN" sz="2800" dirty="0" smtClean="0">
                <a:latin typeface="Times New Roman" panose="02020603050405020304" pitchFamily="18" charset="0"/>
                <a:ea typeface="黑体" panose="02010609060101010101" pitchFamily="49" charset="-122"/>
                <a:cs typeface="Times New Roman" panose="02020603050405020304" pitchFamily="18" charset="0"/>
              </a:rPr>
              <a:t>M</a:t>
            </a:r>
            <a:r>
              <a:rPr lang="en-US" altLang="zh-CN" sz="2800" baseline="-18000" dirty="0" smtClean="0">
                <a:latin typeface="Times New Roman" panose="02020603050405020304" pitchFamily="18" charset="0"/>
                <a:ea typeface="黑体" panose="02010609060101010101" pitchFamily="49" charset="-122"/>
                <a:cs typeface="Times New Roman" panose="02020603050405020304" pitchFamily="18" charset="0"/>
              </a:rPr>
              <a:t>S </a:t>
            </a:r>
            <a:r>
              <a:rPr lang="en-US" altLang="zh-CN" sz="2800" dirty="0" smtClean="0">
                <a:latin typeface="Times New Roman" panose="02020603050405020304" pitchFamily="18" charset="0"/>
                <a:ea typeface="黑体" panose="02010609060101010101" pitchFamily="49" charset="-122"/>
                <a:cs typeface="Times New Roman" panose="02020603050405020304" pitchFamily="18" charset="0"/>
              </a:rPr>
              <a:t>= M</a:t>
            </a:r>
            <a:r>
              <a:rPr lang="en-US" altLang="zh-CN" sz="2800" baseline="-18000" dirty="0" smtClean="0">
                <a:latin typeface="Times New Roman" panose="02020603050405020304" pitchFamily="18" charset="0"/>
                <a:ea typeface="黑体" panose="02010609060101010101" pitchFamily="49" charset="-122"/>
                <a:cs typeface="Times New Roman" panose="02020603050405020304" pitchFamily="18" charset="0"/>
              </a:rPr>
              <a:t>X </a:t>
            </a:r>
            <a:r>
              <a:rPr lang="en-US" altLang="zh-CN" sz="2800" dirty="0" smtClean="0">
                <a:latin typeface="Times New Roman" panose="02020603050405020304" pitchFamily="18" charset="0"/>
                <a:ea typeface="黑体" panose="02010609060101010101" pitchFamily="49" charset="-122"/>
                <a:cs typeface="Times New Roman" panose="02020603050405020304" pitchFamily="18" charset="0"/>
              </a:rPr>
              <a:t>+ M</a:t>
            </a:r>
            <a:r>
              <a:rPr lang="en-US" altLang="zh-CN" sz="2800" baseline="-18000" dirty="0" smtClean="0">
                <a:latin typeface="Times New Roman" panose="02020603050405020304" pitchFamily="18" charset="0"/>
                <a:ea typeface="黑体" panose="02010609060101010101" pitchFamily="49" charset="-122"/>
                <a:cs typeface="Times New Roman" panose="02020603050405020304" pitchFamily="18" charset="0"/>
              </a:rPr>
              <a:t>Y </a:t>
            </a:r>
            <a:r>
              <a:rPr lang="en-US" altLang="zh-CN" sz="2800" dirty="0" smtClean="0">
                <a:latin typeface="Times New Roman" panose="02020603050405020304" pitchFamily="18" charset="0"/>
                <a:ea typeface="黑体" panose="02010609060101010101" pitchFamily="49" charset="-122"/>
                <a:cs typeface="Times New Roman" panose="02020603050405020304" pitchFamily="18" charset="0"/>
              </a:rPr>
              <a:t>= 00.001 </a:t>
            </a:r>
            <a:r>
              <a:rPr lang="en-US" altLang="zh-CN" sz="2800" dirty="0" smtClean="0">
                <a:solidFill>
                  <a:srgbClr val="33CC33"/>
                </a:solidFill>
                <a:latin typeface="Times New Roman" panose="02020603050405020304" pitchFamily="18" charset="0"/>
                <a:ea typeface="黑体" panose="02010609060101010101" pitchFamily="49" charset="-122"/>
                <a:cs typeface="Times New Roman" panose="02020603050405020304" pitchFamily="18" charset="0"/>
              </a:rPr>
              <a:t>01</a:t>
            </a:r>
            <a:r>
              <a:rPr lang="en-US" altLang="zh-CN" sz="2800" dirty="0" smtClean="0">
                <a:latin typeface="Times New Roman" panose="02020603050405020304" pitchFamily="18" charset="0"/>
                <a:ea typeface="黑体" panose="02010609060101010101" pitchFamily="49" charset="-122"/>
                <a:cs typeface="Times New Roman" panose="02020603050405020304" pitchFamily="18" charset="0"/>
              </a:rPr>
              <a:t> + 00.111 = 01.000 </a:t>
            </a:r>
            <a:r>
              <a:rPr lang="en-US" altLang="zh-CN" sz="2800" dirty="0" smtClean="0">
                <a:solidFill>
                  <a:srgbClr val="33CC33"/>
                </a:solidFill>
                <a:latin typeface="Times New Roman" panose="02020603050405020304" pitchFamily="18" charset="0"/>
                <a:ea typeface="黑体" panose="02010609060101010101" pitchFamily="49" charset="-122"/>
                <a:cs typeface="Times New Roman" panose="02020603050405020304" pitchFamily="18" charset="0"/>
              </a:rPr>
              <a:t>01</a:t>
            </a:r>
          </a:p>
          <a:p>
            <a:pPr marL="338138" lvl="1" indent="-203597">
              <a:tabLst>
                <a:tab pos="676275" algn="l"/>
              </a:tabLst>
            </a:pPr>
            <a:r>
              <a:rPr lang="zh-CN" altLang="en-US" sz="2400" dirty="0" smtClean="0">
                <a:latin typeface="黑体" panose="02010609060101010101" pitchFamily="49" charset="-122"/>
                <a:ea typeface="黑体" panose="02010609060101010101" pitchFamily="49" charset="-122"/>
              </a:rPr>
              <a:t>两符号位相反，应进行右规</a:t>
            </a:r>
            <a:r>
              <a:rPr lang="en-US" altLang="zh-CN" sz="2400" dirty="0" smtClean="0">
                <a:latin typeface="黑体" panose="02010609060101010101" pitchFamily="49" charset="-122"/>
                <a:ea typeface="黑体" panose="02010609060101010101" pitchFamily="49" charset="-122"/>
              </a:rPr>
              <a:t>1</a:t>
            </a:r>
            <a:r>
              <a:rPr lang="zh-CN" altLang="en-US" sz="2400" dirty="0" smtClean="0">
                <a:latin typeface="黑体" panose="02010609060101010101" pitchFamily="49" charset="-122"/>
                <a:ea typeface="黑体" panose="02010609060101010101" pitchFamily="49" charset="-122"/>
              </a:rPr>
              <a:t>位的操作</a:t>
            </a:r>
            <a:endParaRPr lang="en-US" altLang="zh-CN" sz="2400" dirty="0" smtClean="0">
              <a:latin typeface="黑体" panose="02010609060101010101" pitchFamily="49" charset="-122"/>
              <a:ea typeface="黑体" panose="02010609060101010101" pitchFamily="49" charset="-122"/>
            </a:endParaRPr>
          </a:p>
          <a:p>
            <a:pPr marL="338138" lvl="1" indent="-203597">
              <a:tabLst>
                <a:tab pos="676275" algn="l"/>
              </a:tabLst>
            </a:pPr>
            <a:r>
              <a:rPr lang="zh-CN" altLang="en-US" sz="2400" dirty="0" smtClean="0">
                <a:latin typeface="黑体" panose="02010609060101010101" pitchFamily="49" charset="-122"/>
                <a:ea typeface="黑体" panose="02010609060101010101" pitchFamily="49" charset="-122"/>
              </a:rPr>
              <a:t>则</a:t>
            </a:r>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M</a:t>
            </a:r>
            <a:r>
              <a:rPr lang="en-US" altLang="zh-CN" sz="2400" baseline="-18000" dirty="0" smtClean="0">
                <a:latin typeface="Times New Roman" panose="02020603050405020304" pitchFamily="18" charset="0"/>
                <a:ea typeface="黑体" panose="02010609060101010101" pitchFamily="49" charset="-122"/>
                <a:cs typeface="Times New Roman" panose="02020603050405020304" pitchFamily="18" charset="0"/>
              </a:rPr>
              <a:t>S </a:t>
            </a:r>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 00.100 (</a:t>
            </a:r>
            <a:r>
              <a:rPr lang="en-US" altLang="zh-CN" sz="2400" dirty="0" smtClean="0">
                <a:solidFill>
                  <a:srgbClr val="33CC33"/>
                </a:solidFill>
                <a:latin typeface="Times New Roman" panose="02020603050405020304" pitchFamily="18" charset="0"/>
                <a:ea typeface="黑体" panose="02010609060101010101" pitchFamily="49" charset="-122"/>
                <a:cs typeface="Times New Roman" panose="02020603050405020304" pitchFamily="18" charset="0"/>
              </a:rPr>
              <a:t>001</a:t>
            </a:r>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 </a:t>
            </a:r>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E</a:t>
            </a:r>
            <a:r>
              <a:rPr lang="en-US" altLang="zh-CN" sz="2400" baseline="-18000" dirty="0" smtClean="0">
                <a:latin typeface="Times New Roman" panose="02020603050405020304" pitchFamily="18" charset="0"/>
                <a:ea typeface="黑体" panose="02010609060101010101" pitchFamily="49" charset="-122"/>
                <a:cs typeface="Times New Roman" panose="02020603050405020304" pitchFamily="18" charset="0"/>
              </a:rPr>
              <a:t>S</a:t>
            </a:r>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 011+1= 0 100</a:t>
            </a:r>
            <a:endPar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17444" name="Rectangle 4"/>
          <p:cNvSpPr>
            <a:spLocks noChangeArrowheads="1"/>
          </p:cNvSpPr>
          <p:nvPr/>
        </p:nvSpPr>
        <p:spPr bwMode="auto">
          <a:xfrm>
            <a:off x="2628900" y="1984661"/>
            <a:ext cx="2571750" cy="400110"/>
          </a:xfrm>
          <a:prstGeom prst="rect">
            <a:avLst/>
          </a:prstGeom>
          <a:noFill/>
          <a:ln w="9525">
            <a:noFill/>
            <a:miter lim="800000"/>
            <a:headEnd/>
            <a:tailEnd/>
          </a:ln>
          <a:effectLst>
            <a:prstShdw prst="shdw17" dist="17961" dir="2700000">
              <a:schemeClr val="accent1">
                <a:gamma/>
                <a:shade val="60000"/>
                <a:invGamma/>
              </a:schemeClr>
            </a:prstShdw>
          </a:effectLst>
        </p:spPr>
        <p:txBody>
          <a:bodyPr wrap="square">
            <a:spAutoFit/>
          </a:bodyPr>
          <a:lstStyle/>
          <a:p>
            <a:pPr fontAlgn="base">
              <a:spcBef>
                <a:spcPct val="0"/>
              </a:spcBef>
              <a:spcAft>
                <a:spcPct val="0"/>
              </a:spcAft>
              <a:defRPr/>
            </a:pPr>
            <a:r>
              <a:rPr lang="zh-CN" altLang="en-US" sz="2000" dirty="0">
                <a:solidFill>
                  <a:srgbClr val="006600"/>
                </a:solidFill>
                <a:latin typeface="Times New Roman" pitchFamily="18" charset="0"/>
                <a:ea typeface="楷体_GB2312" pitchFamily="49" charset="-122"/>
              </a:rPr>
              <a:t>两符号位为</a:t>
            </a:r>
            <a:r>
              <a:rPr lang="en-US" altLang="zh-CN" sz="2000" dirty="0">
                <a:solidFill>
                  <a:srgbClr val="006600"/>
                </a:solidFill>
                <a:latin typeface="Times New Roman" pitchFamily="18" charset="0"/>
                <a:ea typeface="楷体_GB2312" pitchFamily="49" charset="-122"/>
              </a:rPr>
              <a:t>01</a:t>
            </a:r>
            <a:r>
              <a:rPr lang="zh-CN" altLang="en-US" sz="2000" dirty="0">
                <a:solidFill>
                  <a:srgbClr val="006600"/>
                </a:solidFill>
                <a:latin typeface="Times New Roman" pitchFamily="18" charset="0"/>
                <a:ea typeface="楷体_GB2312" pitchFamily="49" charset="-122"/>
              </a:rPr>
              <a:t>或</a:t>
            </a:r>
            <a:r>
              <a:rPr lang="en-US" altLang="zh-CN" sz="2000" dirty="0">
                <a:solidFill>
                  <a:srgbClr val="006600"/>
                </a:solidFill>
                <a:latin typeface="Times New Roman" pitchFamily="18" charset="0"/>
                <a:ea typeface="楷体_GB2312" pitchFamily="49" charset="-122"/>
              </a:rPr>
              <a:t>10</a:t>
            </a:r>
            <a:endParaRPr lang="zh-CN" altLang="en-US" sz="2000" dirty="0">
              <a:solidFill>
                <a:srgbClr val="006600"/>
              </a:solidFill>
              <a:latin typeface="Times New Roman" pitchFamily="18" charset="0"/>
              <a:ea typeface="楷体_GB2312" pitchFamily="49" charset="-122"/>
            </a:endParaRPr>
          </a:p>
        </p:txBody>
      </p:sp>
      <p:sp>
        <p:nvSpPr>
          <p:cNvPr id="317445" name="Rectangle 5"/>
          <p:cNvSpPr>
            <a:spLocks noChangeArrowheads="1"/>
          </p:cNvSpPr>
          <p:nvPr/>
        </p:nvSpPr>
        <p:spPr bwMode="auto">
          <a:xfrm>
            <a:off x="5205799" y="2002223"/>
            <a:ext cx="800100" cy="400110"/>
          </a:xfrm>
          <a:prstGeom prst="rect">
            <a:avLst/>
          </a:prstGeom>
          <a:noFill/>
          <a:ln w="9525">
            <a:noFill/>
            <a:miter lim="800000"/>
            <a:headEnd/>
            <a:tailEnd/>
          </a:ln>
          <a:effectLst>
            <a:prstShdw prst="shdw17" dist="17961" dir="2700000">
              <a:schemeClr val="accent1">
                <a:gamma/>
                <a:shade val="60000"/>
                <a:invGamma/>
              </a:schemeClr>
            </a:prstShdw>
          </a:effectLst>
        </p:spPr>
        <p:txBody>
          <a:bodyPr>
            <a:spAutoFit/>
          </a:bodyPr>
          <a:lstStyle/>
          <a:p>
            <a:pPr fontAlgn="base">
              <a:spcBef>
                <a:spcPct val="0"/>
              </a:spcBef>
              <a:spcAft>
                <a:spcPct val="0"/>
              </a:spcAft>
              <a:defRPr/>
            </a:pPr>
            <a:r>
              <a:rPr lang="zh-CN" altLang="en-US" sz="2000" dirty="0">
                <a:solidFill>
                  <a:srgbClr val="FF0000"/>
                </a:solidFill>
                <a:latin typeface="Arial" charset="0"/>
                <a:ea typeface="楷体_GB2312" pitchFamily="49" charset="-122"/>
              </a:rPr>
              <a:t>右规</a:t>
            </a:r>
          </a:p>
        </p:txBody>
      </p:sp>
      <p:sp>
        <p:nvSpPr>
          <p:cNvPr id="317446" name="Line 6"/>
          <p:cNvSpPr>
            <a:spLocks noChangeShapeType="1"/>
          </p:cNvSpPr>
          <p:nvPr/>
        </p:nvSpPr>
        <p:spPr bwMode="auto">
          <a:xfrm>
            <a:off x="2228850" y="2186889"/>
            <a:ext cx="400050" cy="0"/>
          </a:xfrm>
          <a:prstGeom prst="line">
            <a:avLst/>
          </a:prstGeom>
          <a:noFill/>
          <a:ln w="9525">
            <a:solidFill>
              <a:srgbClr val="0000FF"/>
            </a:solidFill>
            <a:round/>
            <a:headEnd/>
            <a:tailEnd type="triangle" w="med" len="med"/>
          </a:ln>
          <a:effectLst>
            <a:prstShdw prst="shdw17" dist="17961" dir="2700000">
              <a:srgbClr val="000099"/>
            </a:prstShdw>
          </a:effectLst>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1800">
              <a:solidFill>
                <a:srgbClr val="000000"/>
              </a:solidFill>
              <a:latin typeface="Arial" panose="020B0604020202020204" pitchFamily="34" charset="0"/>
              <a:ea typeface="宋体" panose="02010600030101010101" pitchFamily="2" charset="-122"/>
            </a:endParaRPr>
          </a:p>
        </p:txBody>
      </p:sp>
      <p:sp>
        <p:nvSpPr>
          <p:cNvPr id="317447" name="Line 7"/>
          <p:cNvSpPr>
            <a:spLocks noChangeShapeType="1"/>
          </p:cNvSpPr>
          <p:nvPr/>
        </p:nvSpPr>
        <p:spPr bwMode="auto">
          <a:xfrm>
            <a:off x="4805749" y="2173673"/>
            <a:ext cx="400050" cy="0"/>
          </a:xfrm>
          <a:prstGeom prst="line">
            <a:avLst/>
          </a:prstGeom>
          <a:noFill/>
          <a:ln w="9525">
            <a:solidFill>
              <a:srgbClr val="0000FF"/>
            </a:solidFill>
            <a:round/>
            <a:headEnd/>
            <a:tailEnd type="triangle" w="med" len="med"/>
          </a:ln>
          <a:effectLst>
            <a:prstShdw prst="shdw17" dist="17961" dir="2700000">
              <a:srgbClr val="000099"/>
            </a:prstShdw>
          </a:effectLst>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1800">
              <a:solidFill>
                <a:srgbClr val="000000"/>
              </a:solidFill>
              <a:latin typeface="Arial" panose="020B0604020202020204" pitchFamily="34" charset="0"/>
              <a:ea typeface="宋体" panose="02010600030101010101" pitchFamily="2" charset="-122"/>
            </a:endParaRPr>
          </a:p>
        </p:txBody>
      </p:sp>
      <p:sp>
        <p:nvSpPr>
          <p:cNvPr id="317448" name="Rectangle 8"/>
          <p:cNvSpPr>
            <a:spLocks noChangeArrowheads="1"/>
          </p:cNvSpPr>
          <p:nvPr/>
        </p:nvSpPr>
        <p:spPr bwMode="auto">
          <a:xfrm>
            <a:off x="6486525" y="2832446"/>
            <a:ext cx="800100" cy="369332"/>
          </a:xfrm>
          <a:prstGeom prst="rect">
            <a:avLst/>
          </a:prstGeom>
          <a:noFill/>
          <a:ln w="9525">
            <a:noFill/>
            <a:miter lim="800000"/>
            <a:headEnd/>
            <a:tailEnd/>
          </a:ln>
          <a:effectLst>
            <a:prstShdw prst="shdw17" dist="17961" dir="2700000">
              <a:schemeClr val="accent1">
                <a:gamma/>
                <a:shade val="60000"/>
                <a:invGamma/>
              </a:schemeClr>
            </a:prstShdw>
          </a:effectLst>
        </p:spPr>
        <p:txBody>
          <a:bodyPr>
            <a:spAutoFit/>
          </a:bodyPr>
          <a:lstStyle/>
          <a:p>
            <a:pPr fontAlgn="base">
              <a:spcBef>
                <a:spcPct val="0"/>
              </a:spcBef>
              <a:spcAft>
                <a:spcPct val="0"/>
              </a:spcAft>
              <a:defRPr/>
            </a:pPr>
            <a:r>
              <a:rPr lang="zh-CN" altLang="en-US" sz="1800">
                <a:solidFill>
                  <a:srgbClr val="FF0000"/>
                </a:solidFill>
                <a:latin typeface="Arial" charset="0"/>
                <a:ea typeface="楷体_GB2312" pitchFamily="49" charset="-122"/>
              </a:rPr>
              <a:t>左规</a:t>
            </a:r>
          </a:p>
        </p:txBody>
      </p:sp>
      <p:sp>
        <p:nvSpPr>
          <p:cNvPr id="317449" name="Line 9"/>
          <p:cNvSpPr>
            <a:spLocks noChangeShapeType="1"/>
          </p:cNvSpPr>
          <p:nvPr/>
        </p:nvSpPr>
        <p:spPr bwMode="auto">
          <a:xfrm>
            <a:off x="6086475" y="3003896"/>
            <a:ext cx="400050" cy="0"/>
          </a:xfrm>
          <a:prstGeom prst="line">
            <a:avLst/>
          </a:prstGeom>
          <a:noFill/>
          <a:ln w="9525">
            <a:solidFill>
              <a:srgbClr val="0000FF"/>
            </a:solidFill>
            <a:round/>
            <a:headEnd/>
            <a:tailEnd type="triangle" w="med" len="med"/>
          </a:ln>
          <a:effectLst>
            <a:prstShdw prst="shdw17" dist="17961" dir="2700000">
              <a:srgbClr val="000099"/>
            </a:prstShdw>
          </a:effectLst>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1800">
              <a:solidFill>
                <a:srgbClr val="000000"/>
              </a:solidFill>
              <a:latin typeface="Arial" panose="020B0604020202020204" pitchFamily="34" charset="0"/>
              <a:ea typeface="宋体" panose="02010600030101010101" pitchFamily="2" charset="-122"/>
            </a:endParaRPr>
          </a:p>
        </p:txBody>
      </p:sp>
      <p:sp>
        <p:nvSpPr>
          <p:cNvPr id="317450" name="Rectangle 10"/>
          <p:cNvSpPr>
            <a:spLocks noChangeArrowheads="1"/>
          </p:cNvSpPr>
          <p:nvPr/>
        </p:nvSpPr>
        <p:spPr bwMode="auto">
          <a:xfrm>
            <a:off x="4143375" y="2660996"/>
            <a:ext cx="2000250" cy="600164"/>
          </a:xfrm>
          <a:prstGeom prst="rect">
            <a:avLst/>
          </a:prstGeom>
          <a:noFill/>
          <a:ln w="9525">
            <a:noFill/>
            <a:miter lim="800000"/>
            <a:headEnd/>
            <a:tailEnd/>
          </a:ln>
          <a:effectLst>
            <a:prstShdw prst="shdw17" dist="17961" dir="2700000">
              <a:schemeClr val="accent1">
                <a:gamma/>
                <a:shade val="60000"/>
                <a:invGamma/>
              </a:schemeClr>
            </a:prstShdw>
          </a:effectLst>
        </p:spPr>
        <p:txBody>
          <a:bodyPr>
            <a:spAutoFit/>
          </a:bodyPr>
          <a:lstStyle/>
          <a:p>
            <a:pPr fontAlgn="base">
              <a:spcBef>
                <a:spcPct val="0"/>
              </a:spcBef>
              <a:spcAft>
                <a:spcPct val="0"/>
              </a:spcAft>
              <a:defRPr/>
            </a:pPr>
            <a:r>
              <a:rPr lang="zh-CN" altLang="en-US" sz="1650" dirty="0">
                <a:solidFill>
                  <a:srgbClr val="006600"/>
                </a:solidFill>
                <a:latin typeface="Times New Roman" pitchFamily="18" charset="0"/>
                <a:ea typeface="楷体_GB2312" pitchFamily="49" charset="-122"/>
              </a:rPr>
              <a:t>补码表示的符号位与最高数值位相同</a:t>
            </a:r>
          </a:p>
        </p:txBody>
      </p:sp>
      <p:sp>
        <p:nvSpPr>
          <p:cNvPr id="317451" name="Line 11"/>
          <p:cNvSpPr>
            <a:spLocks noChangeShapeType="1"/>
          </p:cNvSpPr>
          <p:nvPr/>
        </p:nvSpPr>
        <p:spPr bwMode="auto">
          <a:xfrm>
            <a:off x="3686175" y="3003896"/>
            <a:ext cx="400050" cy="0"/>
          </a:xfrm>
          <a:prstGeom prst="line">
            <a:avLst/>
          </a:prstGeom>
          <a:noFill/>
          <a:ln w="9525">
            <a:solidFill>
              <a:srgbClr val="0000FF"/>
            </a:solidFill>
            <a:round/>
            <a:headEnd/>
            <a:tailEnd type="triangle" w="med" len="med"/>
          </a:ln>
          <a:effectLst>
            <a:prstShdw prst="shdw17" dist="17961" dir="2700000">
              <a:srgbClr val="000099"/>
            </a:prstShdw>
          </a:effectLst>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1800">
              <a:solidFill>
                <a:srgbClr val="000000"/>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28047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2" name="Rectangle 2"/>
          <p:cNvSpPr>
            <a:spLocks noGrp="1" noChangeArrowheads="1"/>
          </p:cNvSpPr>
          <p:nvPr>
            <p:ph type="title"/>
          </p:nvPr>
        </p:nvSpPr>
        <p:spPr/>
        <p:txBody>
          <a:bodyPr/>
          <a:lstStyle/>
          <a:p>
            <a:pPr eaLnBrk="1" hangingPunct="1">
              <a:defRPr/>
            </a:pPr>
            <a:r>
              <a:rPr lang="zh-CN" altLang="en-US" sz="3200" dirty="0">
                <a:latin typeface="黑体" panose="02010609060101010101" pitchFamily="49" charset="-122"/>
                <a:ea typeface="黑体" panose="02010609060101010101" pitchFamily="49" charset="-122"/>
              </a:rPr>
              <a:t>浮点数加减运算</a:t>
            </a:r>
            <a:r>
              <a:rPr lang="en-US" altLang="zh-CN" sz="3200" dirty="0">
                <a:latin typeface="黑体" panose="02010609060101010101" pitchFamily="49" charset="-122"/>
                <a:ea typeface="黑体" panose="02010609060101010101" pitchFamily="49" charset="-122"/>
              </a:rPr>
              <a:t>——</a:t>
            </a:r>
            <a:r>
              <a:rPr lang="zh-CN" altLang="en-US" sz="3200" dirty="0">
                <a:latin typeface="黑体" panose="02010609060101010101" pitchFamily="49" charset="-122"/>
                <a:ea typeface="黑体" panose="02010609060101010101" pitchFamily="49" charset="-122"/>
              </a:rPr>
              <a:t>结果的舍入处理</a:t>
            </a:r>
          </a:p>
        </p:txBody>
      </p:sp>
      <p:sp>
        <p:nvSpPr>
          <p:cNvPr id="318467" name="Rectangle 3"/>
          <p:cNvSpPr>
            <a:spLocks noGrp="1" noChangeArrowheads="1"/>
          </p:cNvSpPr>
          <p:nvPr>
            <p:ph idx="1"/>
          </p:nvPr>
        </p:nvSpPr>
        <p:spPr>
          <a:xfrm>
            <a:off x="495300" y="1295400"/>
            <a:ext cx="8039100" cy="5105400"/>
          </a:xfrm>
        </p:spPr>
        <p:txBody>
          <a:bodyPr/>
          <a:lstStyle/>
          <a:p>
            <a:pPr marL="197644" indent="-197644">
              <a:lnSpc>
                <a:spcPct val="110000"/>
              </a:lnSpc>
              <a:tabLst>
                <a:tab pos="601266" algn="l"/>
              </a:tabLst>
            </a:pPr>
            <a:r>
              <a:rPr lang="zh-CN" altLang="en-US" sz="2800" b="0" dirty="0">
                <a:latin typeface="黑体" panose="02010609060101010101" pitchFamily="49" charset="-122"/>
                <a:ea typeface="黑体" panose="02010609060101010101" pitchFamily="49" charset="-122"/>
              </a:rPr>
              <a:t>在对阶或右规操作时，会使加数或结果的尾数低若干位移出，影响精度，常用两种舍入处理方法</a:t>
            </a:r>
          </a:p>
          <a:p>
            <a:pPr marL="332185" lvl="1" indent="0">
              <a:lnSpc>
                <a:spcPct val="110000"/>
              </a:lnSpc>
              <a:tabLst>
                <a:tab pos="601266" algn="l"/>
              </a:tabLst>
            </a:pPr>
            <a:r>
              <a:rPr lang="zh-CN" altLang="en-US" sz="2400" dirty="0">
                <a:solidFill>
                  <a:srgbClr val="FF0000"/>
                </a:solidFill>
              </a:rPr>
              <a:t>方法１：０舍１入法</a:t>
            </a:r>
          </a:p>
          <a:p>
            <a:pPr marL="601266" lvl="2" indent="-134541">
              <a:lnSpc>
                <a:spcPct val="110000"/>
              </a:lnSpc>
              <a:tabLst>
                <a:tab pos="601266" algn="l"/>
              </a:tabLst>
            </a:pPr>
            <a:r>
              <a:rPr lang="zh-CN" altLang="en-US" dirty="0"/>
              <a:t>保留右移时的移出位，若最高位为１，则尾数加１；否则</a:t>
            </a:r>
            <a:r>
              <a:rPr lang="zh-CN" altLang="en-US" dirty="0" smtClean="0"/>
              <a:t>舍去</a:t>
            </a:r>
            <a:endParaRPr lang="zh-CN" altLang="en-US" dirty="0"/>
          </a:p>
          <a:p>
            <a:pPr marL="601266" lvl="2" indent="-134541">
              <a:lnSpc>
                <a:spcPct val="110000"/>
              </a:lnSpc>
              <a:tabLst>
                <a:tab pos="601266" algn="l"/>
              </a:tabLst>
            </a:pPr>
            <a:r>
              <a:rPr lang="zh-CN" altLang="en-US" dirty="0"/>
              <a:t>特点：精度较高，但需要记录所有的移出</a:t>
            </a:r>
            <a:r>
              <a:rPr lang="zh-CN" altLang="en-US" dirty="0" smtClean="0"/>
              <a:t>位</a:t>
            </a:r>
            <a:endParaRPr lang="zh-CN" altLang="en-US" dirty="0"/>
          </a:p>
          <a:p>
            <a:pPr marL="332185" lvl="1" indent="0">
              <a:lnSpc>
                <a:spcPct val="110000"/>
              </a:lnSpc>
              <a:tabLst>
                <a:tab pos="601266" algn="l"/>
              </a:tabLst>
            </a:pPr>
            <a:r>
              <a:rPr lang="zh-CN" altLang="en-US" sz="2400" dirty="0">
                <a:solidFill>
                  <a:srgbClr val="FF0000"/>
                </a:solidFill>
              </a:rPr>
              <a:t>方法２：恒置１法</a:t>
            </a:r>
          </a:p>
          <a:p>
            <a:pPr marL="601266" lvl="2" indent="-134541">
              <a:lnSpc>
                <a:spcPct val="110000"/>
              </a:lnSpc>
              <a:tabLst>
                <a:tab pos="601266" algn="l"/>
              </a:tabLst>
            </a:pPr>
            <a:r>
              <a:rPr lang="zh-CN" altLang="en-US" dirty="0"/>
              <a:t>若之前步骤有右移操作，则直接将结果的最低位置</a:t>
            </a:r>
            <a:r>
              <a:rPr lang="en-US" altLang="zh-CN" dirty="0" smtClean="0"/>
              <a:t>1</a:t>
            </a:r>
            <a:endParaRPr lang="en-US" altLang="zh-CN" dirty="0"/>
          </a:p>
          <a:p>
            <a:pPr marL="601266" lvl="2" indent="-134541">
              <a:lnSpc>
                <a:spcPct val="110000"/>
              </a:lnSpc>
              <a:tabLst>
                <a:tab pos="601266" algn="l"/>
              </a:tabLst>
            </a:pPr>
            <a:r>
              <a:rPr lang="zh-CN" altLang="en-US" dirty="0"/>
              <a:t>特点：精度较</a:t>
            </a:r>
            <a:r>
              <a:rPr lang="en-US" altLang="zh-CN" dirty="0"/>
              <a:t>0</a:t>
            </a:r>
            <a:r>
              <a:rPr lang="zh-CN" altLang="en-US" dirty="0"/>
              <a:t>舍</a:t>
            </a:r>
            <a:r>
              <a:rPr lang="en-US" altLang="zh-CN" dirty="0"/>
              <a:t>1</a:t>
            </a:r>
            <a:r>
              <a:rPr lang="zh-CN" altLang="en-US" dirty="0"/>
              <a:t>入法较低，但应用</a:t>
            </a:r>
            <a:r>
              <a:rPr lang="zh-CN" altLang="en-US" dirty="0" smtClean="0"/>
              <a:t>简单</a:t>
            </a:r>
            <a:endParaRPr lang="zh-CN" altLang="en-US" dirty="0"/>
          </a:p>
          <a:p>
            <a:pPr marL="197644" indent="-197644">
              <a:lnSpc>
                <a:spcPct val="110000"/>
              </a:lnSpc>
              <a:tabLst>
                <a:tab pos="601266" algn="l"/>
              </a:tabLst>
            </a:pPr>
            <a:r>
              <a:rPr lang="zh-CN" altLang="en-US" sz="2800" b="0" dirty="0">
                <a:latin typeface="黑体" panose="02010609060101010101" pitchFamily="49" charset="-122"/>
                <a:ea typeface="黑体" panose="02010609060101010101" pitchFamily="49" charset="-122"/>
              </a:rPr>
              <a:t>同上例，结果的</a:t>
            </a:r>
            <a:r>
              <a:rPr lang="zh-CN" altLang="en-US" sz="2800" b="0" dirty="0" smtClean="0">
                <a:latin typeface="黑体" panose="02010609060101010101" pitchFamily="49" charset="-122"/>
                <a:ea typeface="黑体" panose="02010609060101010101" pitchFamily="49" charset="-122"/>
              </a:rPr>
              <a:t>尾数 </a:t>
            </a:r>
            <a:r>
              <a:rPr lang="en-US" altLang="zh-CN" sz="2800" b="0" dirty="0" smtClean="0">
                <a:latin typeface="Times New Roman" panose="02020603050405020304" pitchFamily="18" charset="0"/>
                <a:ea typeface="黑体" panose="02010609060101010101" pitchFamily="49" charset="-122"/>
                <a:cs typeface="Times New Roman" panose="02020603050405020304" pitchFamily="18" charset="0"/>
              </a:rPr>
              <a:t>M</a:t>
            </a:r>
            <a:r>
              <a:rPr lang="en-US" altLang="zh-CN" sz="2800" b="0" baseline="-18000" dirty="0" smtClean="0">
                <a:latin typeface="Times New Roman" panose="02020603050405020304" pitchFamily="18" charset="0"/>
                <a:ea typeface="黑体" panose="02010609060101010101" pitchFamily="49" charset="-122"/>
                <a:cs typeface="Times New Roman" panose="02020603050405020304" pitchFamily="18" charset="0"/>
              </a:rPr>
              <a:t>S </a:t>
            </a:r>
            <a:r>
              <a:rPr lang="en-US" altLang="zh-CN" sz="2800" b="0" dirty="0">
                <a:latin typeface="Times New Roman" panose="02020603050405020304" pitchFamily="18" charset="0"/>
                <a:ea typeface="黑体" panose="02010609060101010101" pitchFamily="49" charset="-122"/>
                <a:cs typeface="Times New Roman" panose="02020603050405020304" pitchFamily="18" charset="0"/>
              </a:rPr>
              <a:t>= 00.100 </a:t>
            </a:r>
            <a:r>
              <a:rPr lang="en-US" altLang="zh-CN" sz="2800" b="0" dirty="0">
                <a:solidFill>
                  <a:srgbClr val="33CC33"/>
                </a:solidFill>
                <a:latin typeface="Times New Roman" panose="02020603050405020304" pitchFamily="18" charset="0"/>
                <a:ea typeface="黑体" panose="02010609060101010101" pitchFamily="49" charset="-122"/>
                <a:cs typeface="Times New Roman" panose="02020603050405020304" pitchFamily="18" charset="0"/>
              </a:rPr>
              <a:t>001</a:t>
            </a:r>
            <a:r>
              <a:rPr lang="en-US" altLang="zh-CN" sz="2800" b="0" dirty="0">
                <a:latin typeface="Times New Roman" panose="02020603050405020304" pitchFamily="18" charset="0"/>
                <a:ea typeface="黑体" panose="02010609060101010101" pitchFamily="49" charset="-122"/>
                <a:cs typeface="Times New Roman" panose="02020603050405020304" pitchFamily="18" charset="0"/>
              </a:rPr>
              <a:t> </a:t>
            </a:r>
          </a:p>
          <a:p>
            <a:pPr marL="332185" lvl="1" indent="0">
              <a:lnSpc>
                <a:spcPct val="110000"/>
              </a:lnSpc>
              <a:tabLst>
                <a:tab pos="601266" algn="l"/>
              </a:tabLst>
            </a:pPr>
            <a:r>
              <a:rPr lang="zh-CN" altLang="en-US" sz="2400" dirty="0"/>
              <a:t>０舍１入法： </a:t>
            </a:r>
            <a:r>
              <a:rPr lang="en-US" altLang="zh-CN" sz="2400" dirty="0" smtClean="0"/>
              <a:t>	M</a:t>
            </a:r>
            <a:r>
              <a:rPr lang="en-US" altLang="zh-CN" sz="2400" baseline="-25000" dirty="0" smtClean="0"/>
              <a:t>S</a:t>
            </a:r>
            <a:r>
              <a:rPr lang="en-US" altLang="zh-CN" sz="2400" dirty="0" smtClean="0"/>
              <a:t> </a:t>
            </a:r>
            <a:r>
              <a:rPr lang="en-US" altLang="zh-CN" sz="2400" dirty="0"/>
              <a:t>= 00.100</a:t>
            </a:r>
          </a:p>
          <a:p>
            <a:pPr marL="332185" lvl="1" indent="0">
              <a:lnSpc>
                <a:spcPct val="110000"/>
              </a:lnSpc>
              <a:tabLst>
                <a:tab pos="601266" algn="l"/>
              </a:tabLst>
            </a:pPr>
            <a:r>
              <a:rPr lang="zh-CN" altLang="en-US" sz="2400" dirty="0" smtClean="0"/>
              <a:t> 恒</a:t>
            </a:r>
            <a:r>
              <a:rPr lang="zh-CN" altLang="en-US" sz="2400" dirty="0"/>
              <a:t>置１法：     </a:t>
            </a:r>
            <a:r>
              <a:rPr lang="en-US" altLang="zh-CN" sz="2400" dirty="0" smtClean="0"/>
              <a:t>	M</a:t>
            </a:r>
            <a:r>
              <a:rPr lang="en-US" altLang="zh-CN" sz="2400" baseline="-25000" dirty="0" smtClean="0"/>
              <a:t>S</a:t>
            </a:r>
            <a:r>
              <a:rPr lang="en-US" altLang="zh-CN" sz="2400" dirty="0" smtClean="0"/>
              <a:t> </a:t>
            </a:r>
            <a:r>
              <a:rPr lang="en-US" altLang="zh-CN" sz="2400" dirty="0"/>
              <a:t>= 00.101</a:t>
            </a:r>
            <a:endParaRPr lang="zh-CN" altLang="en-US" sz="2400" dirty="0"/>
          </a:p>
        </p:txBody>
      </p:sp>
    </p:spTree>
    <p:extLst>
      <p:ext uri="{BB962C8B-B14F-4D97-AF65-F5344CB8AC3E}">
        <p14:creationId xmlns:p14="http://schemas.microsoft.com/office/powerpoint/2010/main" val="16323126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6" name="Rectangle 2"/>
          <p:cNvSpPr>
            <a:spLocks noGrp="1" noChangeArrowheads="1"/>
          </p:cNvSpPr>
          <p:nvPr>
            <p:ph type="title"/>
          </p:nvPr>
        </p:nvSpPr>
        <p:spPr/>
        <p:txBody>
          <a:bodyPr/>
          <a:lstStyle/>
          <a:p>
            <a:pPr eaLnBrk="1" hangingPunct="1">
              <a:defRPr/>
            </a:pPr>
            <a:r>
              <a:rPr lang="zh-CN" altLang="en-US" sz="3200" dirty="0">
                <a:latin typeface="黑体" panose="02010609060101010101" pitchFamily="49" charset="-122"/>
                <a:ea typeface="黑体" panose="02010609060101010101" pitchFamily="49" charset="-122"/>
              </a:rPr>
              <a:t>浮点数加减运算</a:t>
            </a:r>
            <a:r>
              <a:rPr lang="en-US" altLang="zh-CN" sz="3200" dirty="0">
                <a:latin typeface="黑体" panose="02010609060101010101" pitchFamily="49" charset="-122"/>
                <a:ea typeface="黑体" panose="02010609060101010101" pitchFamily="49" charset="-122"/>
              </a:rPr>
              <a:t>——</a:t>
            </a:r>
            <a:r>
              <a:rPr lang="zh-CN" altLang="en-US" sz="3200" dirty="0">
                <a:latin typeface="黑体" panose="02010609060101010101" pitchFamily="49" charset="-122"/>
                <a:ea typeface="黑体" panose="02010609060101010101" pitchFamily="49" charset="-122"/>
              </a:rPr>
              <a:t>结果的溢出判断</a:t>
            </a:r>
          </a:p>
        </p:txBody>
      </p:sp>
      <p:sp>
        <p:nvSpPr>
          <p:cNvPr id="319491" name="Rectangle 3"/>
          <p:cNvSpPr>
            <a:spLocks noGrp="1" noChangeArrowheads="1"/>
          </p:cNvSpPr>
          <p:nvPr>
            <p:ph idx="1"/>
          </p:nvPr>
        </p:nvSpPr>
        <p:spPr/>
        <p:txBody>
          <a:bodyPr/>
          <a:lstStyle/>
          <a:p>
            <a:pPr eaLnBrk="1" hangingPunct="1"/>
            <a:r>
              <a:rPr lang="zh-CN" altLang="en-US" sz="2800" dirty="0" smtClean="0">
                <a:latin typeface="黑体" panose="02010609060101010101" pitchFamily="49" charset="-122"/>
                <a:ea typeface="黑体" panose="02010609060101010101" pitchFamily="49" charset="-122"/>
              </a:rPr>
              <a:t>尾数溢出</a:t>
            </a:r>
          </a:p>
          <a:p>
            <a:pPr lvl="1" eaLnBrk="1" hangingPunct="1"/>
            <a:r>
              <a:rPr lang="zh-CN" altLang="en-US" sz="2400" dirty="0" smtClean="0">
                <a:latin typeface="黑体" panose="02010609060101010101" pitchFamily="49" charset="-122"/>
                <a:ea typeface="黑体" panose="02010609060101010101" pitchFamily="49" charset="-122"/>
              </a:rPr>
              <a:t>在规格化处理时，通过右规完成；</a:t>
            </a:r>
          </a:p>
          <a:p>
            <a:pPr eaLnBrk="1" hangingPunct="1"/>
            <a:r>
              <a:rPr lang="zh-CN" altLang="en-US" sz="2800" dirty="0" smtClean="0">
                <a:latin typeface="黑体" panose="02010609060101010101" pitchFamily="49" charset="-122"/>
                <a:ea typeface="黑体" panose="02010609060101010101" pitchFamily="49" charset="-122"/>
              </a:rPr>
              <a:t>阶码溢出</a:t>
            </a:r>
          </a:p>
          <a:p>
            <a:pPr lvl="1" eaLnBrk="1" hangingPunct="1"/>
            <a:r>
              <a:rPr lang="zh-CN" altLang="en-US" sz="2400" dirty="0" smtClean="0">
                <a:latin typeface="黑体" panose="02010609060101010101" pitchFamily="49" charset="-122"/>
                <a:ea typeface="黑体" panose="02010609060101010101" pitchFamily="49" charset="-122"/>
              </a:rPr>
              <a:t>上溢</a:t>
            </a:r>
            <a:r>
              <a:rPr lang="en-US" altLang="zh-CN" sz="2400" dirty="0" smtClean="0">
                <a:latin typeface="黑体" panose="02010609060101010101" pitchFamily="49" charset="-122"/>
                <a:ea typeface="黑体" panose="02010609060101010101" pitchFamily="49" charset="-122"/>
              </a:rPr>
              <a:t>(</a:t>
            </a:r>
            <a:r>
              <a:rPr lang="zh-CN" altLang="en-US" sz="2400" dirty="0" smtClean="0">
                <a:latin typeface="黑体" panose="02010609060101010101" pitchFamily="49" charset="-122"/>
                <a:ea typeface="黑体" panose="02010609060101010101" pitchFamily="49" charset="-122"/>
              </a:rPr>
              <a:t>结果绝对值太大</a:t>
            </a:r>
            <a:r>
              <a:rPr lang="en-US" altLang="zh-CN" sz="2400" dirty="0" smtClean="0">
                <a:latin typeface="黑体" panose="02010609060101010101" pitchFamily="49" charset="-122"/>
                <a:ea typeface="黑体" panose="02010609060101010101" pitchFamily="49" charset="-122"/>
              </a:rPr>
              <a:t>)——</a:t>
            </a:r>
            <a:r>
              <a:rPr lang="zh-CN" altLang="en-US" sz="2400" dirty="0" smtClean="0">
                <a:latin typeface="黑体" panose="02010609060101010101" pitchFamily="49" charset="-122"/>
                <a:ea typeface="黑体" panose="02010609060101010101" pitchFamily="49" charset="-122"/>
              </a:rPr>
              <a:t>置上溢标志，结束；</a:t>
            </a:r>
          </a:p>
          <a:p>
            <a:pPr lvl="1" eaLnBrk="1" hangingPunct="1"/>
            <a:r>
              <a:rPr lang="zh-CN" altLang="en-US" sz="2400" dirty="0" smtClean="0">
                <a:latin typeface="黑体" panose="02010609060101010101" pitchFamily="49" charset="-122"/>
                <a:ea typeface="黑体" panose="02010609060101010101" pitchFamily="49" charset="-122"/>
              </a:rPr>
              <a:t>下溢</a:t>
            </a:r>
            <a:r>
              <a:rPr lang="en-US" altLang="zh-CN" sz="2400" dirty="0" smtClean="0">
                <a:latin typeface="黑体" panose="02010609060101010101" pitchFamily="49" charset="-122"/>
                <a:ea typeface="黑体" panose="02010609060101010101" pitchFamily="49" charset="-122"/>
              </a:rPr>
              <a:t>(</a:t>
            </a:r>
            <a:r>
              <a:rPr lang="zh-CN" altLang="en-US" sz="2400" dirty="0" smtClean="0">
                <a:latin typeface="黑体" panose="02010609060101010101" pitchFamily="49" charset="-122"/>
                <a:ea typeface="黑体" panose="02010609060101010101" pitchFamily="49" charset="-122"/>
              </a:rPr>
              <a:t>结果绝对值太小</a:t>
            </a:r>
            <a:r>
              <a:rPr lang="en-US" altLang="zh-CN" sz="2400" dirty="0" smtClean="0">
                <a:latin typeface="黑体" panose="02010609060101010101" pitchFamily="49" charset="-122"/>
                <a:ea typeface="黑体" panose="02010609060101010101" pitchFamily="49" charset="-122"/>
              </a:rPr>
              <a:t>)——</a:t>
            </a:r>
            <a:r>
              <a:rPr lang="zh-CN" altLang="en-US" sz="2400" dirty="0" smtClean="0">
                <a:latin typeface="黑体" panose="02010609060101010101" pitchFamily="49" charset="-122"/>
                <a:ea typeface="黑体" panose="02010609060101010101" pitchFamily="49" charset="-122"/>
              </a:rPr>
              <a:t>置机器零；</a:t>
            </a:r>
          </a:p>
          <a:p>
            <a:pPr lvl="1" eaLnBrk="1" hangingPunct="1"/>
            <a:r>
              <a:rPr lang="zh-CN" altLang="en-US" sz="2400" dirty="0" smtClean="0">
                <a:latin typeface="黑体" panose="02010609060101010101" pitchFamily="49" charset="-122"/>
                <a:ea typeface="黑体" panose="02010609060101010101" pitchFamily="49" charset="-122"/>
              </a:rPr>
              <a:t>正常</a:t>
            </a:r>
            <a:r>
              <a:rPr lang="en-US" altLang="zh-CN" sz="2400" dirty="0" smtClean="0">
                <a:latin typeface="黑体" panose="02010609060101010101" pitchFamily="49" charset="-122"/>
                <a:ea typeface="黑体" panose="02010609060101010101" pitchFamily="49" charset="-122"/>
              </a:rPr>
              <a:t>——</a:t>
            </a:r>
            <a:r>
              <a:rPr lang="zh-CN" altLang="en-US" sz="2400" dirty="0" smtClean="0">
                <a:latin typeface="黑体" panose="02010609060101010101" pitchFamily="49" charset="-122"/>
                <a:ea typeface="黑体" panose="02010609060101010101" pitchFamily="49" charset="-122"/>
              </a:rPr>
              <a:t>运算结束；</a:t>
            </a:r>
          </a:p>
          <a:p>
            <a:pPr eaLnBrk="1" hangingPunct="1"/>
            <a:r>
              <a:rPr lang="zh-CN" altLang="en-US" sz="2800" dirty="0" smtClean="0">
                <a:latin typeface="黑体" panose="02010609060101010101" pitchFamily="49" charset="-122"/>
                <a:ea typeface="黑体" panose="02010609060101010101" pitchFamily="49" charset="-122"/>
              </a:rPr>
              <a:t>同上例， 运算结果的阶码</a:t>
            </a:r>
            <a:r>
              <a:rPr lang="en-US" altLang="zh-CN" sz="2800" dirty="0" smtClean="0">
                <a:latin typeface="黑体" panose="02010609060101010101" pitchFamily="49" charset="-122"/>
                <a:ea typeface="黑体" panose="02010609060101010101" pitchFamily="49" charset="-122"/>
              </a:rPr>
              <a:t>E</a:t>
            </a:r>
            <a:r>
              <a:rPr lang="en-US" altLang="zh-CN" sz="2800" baseline="-18000" dirty="0" smtClean="0">
                <a:latin typeface="黑体" panose="02010609060101010101" pitchFamily="49" charset="-122"/>
                <a:ea typeface="黑体" panose="02010609060101010101" pitchFamily="49" charset="-122"/>
              </a:rPr>
              <a:t>S</a:t>
            </a:r>
            <a:r>
              <a:rPr lang="en-US" altLang="zh-CN" sz="2800" dirty="0" smtClean="0">
                <a:latin typeface="黑体" panose="02010609060101010101" pitchFamily="49" charset="-122"/>
                <a:ea typeface="黑体" panose="02010609060101010101" pitchFamily="49" charset="-122"/>
              </a:rPr>
              <a:t>= 011+1= 0 100</a:t>
            </a:r>
          </a:p>
          <a:p>
            <a:pPr lvl="1" eaLnBrk="1" hangingPunct="1"/>
            <a:r>
              <a:rPr lang="zh-CN" altLang="en-US" sz="2400" dirty="0" smtClean="0">
                <a:latin typeface="黑体" panose="02010609060101010101" pitchFamily="49" charset="-122"/>
                <a:ea typeface="黑体" panose="02010609060101010101" pitchFamily="49" charset="-122"/>
              </a:rPr>
              <a:t>未溢出！</a:t>
            </a:r>
          </a:p>
        </p:txBody>
      </p:sp>
    </p:spTree>
    <p:extLst>
      <p:ext uri="{BB962C8B-B14F-4D97-AF65-F5344CB8AC3E}">
        <p14:creationId xmlns:p14="http://schemas.microsoft.com/office/powerpoint/2010/main" val="34443124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期中考试详解</a:t>
            </a:r>
            <a:endParaRPr lang="zh-CN" altLang="en-US" dirty="0"/>
          </a:p>
        </p:txBody>
      </p:sp>
      <p:sp>
        <p:nvSpPr>
          <p:cNvPr id="3" name="内容占位符 2"/>
          <p:cNvSpPr>
            <a:spLocks noGrp="1"/>
          </p:cNvSpPr>
          <p:nvPr>
            <p:ph idx="1"/>
          </p:nvPr>
        </p:nvSpPr>
        <p:spPr/>
        <p:txBody>
          <a:bodyPr/>
          <a:lstStyle/>
          <a:p>
            <a:pPr marL="0" lvl="0" indent="0" eaLnBrk="0" hangingPunct="0">
              <a:lnSpc>
                <a:spcPct val="80000"/>
              </a:lnSpc>
              <a:buClr>
                <a:srgbClr val="CC3300"/>
              </a:buClr>
              <a:buSzTx/>
              <a:buNone/>
              <a:tabLst>
                <a:tab pos="1524000" algn="l"/>
              </a:tabLst>
              <a:defRPr/>
            </a:pPr>
            <a:r>
              <a:rPr kumimoji="1" lang="zh-CN" altLang="en-US" sz="2800" b="0" dirty="0">
                <a:solidFill>
                  <a:srgbClr val="000000"/>
                </a:solidFill>
                <a:latin typeface="黑体" panose="02010609060101010101" pitchFamily="49" charset="-122"/>
                <a:ea typeface="黑体" panose="02010609060101010101" pitchFamily="49" charset="-122"/>
              </a:rPr>
              <a:t>请将</a:t>
            </a:r>
            <a:r>
              <a:rPr kumimoji="1" lang="en-US" altLang="zh-CN" sz="2800" b="0" dirty="0" smtClean="0">
                <a:solidFill>
                  <a:srgbClr val="000000"/>
                </a:solidFill>
                <a:latin typeface="+mn-ea"/>
              </a:rPr>
              <a:t>–23/32</a:t>
            </a:r>
            <a:r>
              <a:rPr kumimoji="1" lang="zh-CN" altLang="en-US" sz="2800" b="0" dirty="0">
                <a:solidFill>
                  <a:srgbClr val="000000"/>
                </a:solidFill>
                <a:latin typeface="黑体" panose="02010609060101010101" pitchFamily="49" charset="-122"/>
                <a:ea typeface="黑体" panose="02010609060101010101" pitchFamily="49" charset="-122"/>
              </a:rPr>
              <a:t>和</a:t>
            </a:r>
            <a:r>
              <a:rPr kumimoji="1" lang="en-US" altLang="zh-CN" sz="2800" b="0" dirty="0">
                <a:solidFill>
                  <a:srgbClr val="000000"/>
                </a:solidFill>
                <a:latin typeface="+mn-ea"/>
              </a:rPr>
              <a:t>1/16</a:t>
            </a:r>
            <a:r>
              <a:rPr kumimoji="1" lang="zh-CN" altLang="en-US" sz="2800" b="0" dirty="0">
                <a:solidFill>
                  <a:srgbClr val="000000"/>
                </a:solidFill>
                <a:latin typeface="黑体" panose="02010609060101010101" pitchFamily="49" charset="-122"/>
                <a:ea typeface="黑体" panose="02010609060101010101" pitchFamily="49" charset="-122"/>
              </a:rPr>
              <a:t>两个数用</a:t>
            </a:r>
            <a:r>
              <a:rPr kumimoji="1" lang="en-US" altLang="zh-CN" sz="2800" b="0" dirty="0">
                <a:solidFill>
                  <a:srgbClr val="000000"/>
                </a:solidFill>
                <a:latin typeface="+mn-ea"/>
              </a:rPr>
              <a:t>IEEE 754</a:t>
            </a:r>
            <a:r>
              <a:rPr kumimoji="1" lang="zh-CN" altLang="en-US" sz="2800" b="0" dirty="0">
                <a:solidFill>
                  <a:srgbClr val="000000"/>
                </a:solidFill>
                <a:latin typeface="黑体" panose="02010609060101010101" pitchFamily="49" charset="-122"/>
                <a:ea typeface="黑体" panose="02010609060101010101" pitchFamily="49" charset="-122"/>
              </a:rPr>
              <a:t>标准的</a:t>
            </a:r>
            <a:r>
              <a:rPr kumimoji="1" lang="en-US" altLang="zh-CN" sz="2800" b="0" dirty="0">
                <a:solidFill>
                  <a:srgbClr val="000000"/>
                </a:solidFill>
                <a:latin typeface="黑体" panose="02010609060101010101" pitchFamily="49" charset="-122"/>
                <a:ea typeface="黑体" panose="02010609060101010101" pitchFamily="49" charset="-122"/>
              </a:rPr>
              <a:t>32</a:t>
            </a:r>
            <a:r>
              <a:rPr kumimoji="1" lang="zh-CN" altLang="en-US" sz="2800" b="0" dirty="0">
                <a:solidFill>
                  <a:srgbClr val="000000"/>
                </a:solidFill>
                <a:latin typeface="黑体" panose="02010609060101010101" pitchFamily="49" charset="-122"/>
                <a:ea typeface="黑体" panose="02010609060101010101" pitchFamily="49" charset="-122"/>
              </a:rPr>
              <a:t>位浮点规格化数表示，并给出两个浮点数的加或减处理</a:t>
            </a:r>
            <a:r>
              <a:rPr kumimoji="1" lang="zh-CN" altLang="en-US" sz="2800" b="0" dirty="0" smtClean="0">
                <a:solidFill>
                  <a:srgbClr val="000000"/>
                </a:solidFill>
                <a:latin typeface="黑体" panose="02010609060101010101" pitchFamily="49" charset="-122"/>
                <a:ea typeface="黑体" panose="02010609060101010101" pitchFamily="49" charset="-122"/>
              </a:rPr>
              <a:t>过程</a:t>
            </a:r>
            <a:endParaRPr kumimoji="1" lang="en-US" altLang="zh-CN" sz="2800" b="0" dirty="0">
              <a:solidFill>
                <a:srgbClr val="000000"/>
              </a:solidFill>
              <a:latin typeface="黑体" panose="02010609060101010101" pitchFamily="49" charset="-122"/>
              <a:ea typeface="黑体" panose="02010609060101010101" pitchFamily="49" charset="-122"/>
            </a:endParaRPr>
          </a:p>
          <a:p>
            <a:endParaRPr lang="en-US" altLang="zh-CN" sz="2800" b="0" dirty="0" smtClean="0">
              <a:latin typeface="黑体" panose="02010609060101010101" pitchFamily="49" charset="-122"/>
              <a:ea typeface="黑体" panose="02010609060101010101" pitchFamily="49" charset="-122"/>
            </a:endParaRPr>
          </a:p>
          <a:p>
            <a:r>
              <a:rPr lang="zh-CN" altLang="en-US" sz="2800" b="0" dirty="0" smtClean="0">
                <a:latin typeface="黑体" panose="02010609060101010101" pitchFamily="49" charset="-122"/>
                <a:ea typeface="黑体" panose="02010609060101010101" pitchFamily="49" charset="-122"/>
              </a:rPr>
              <a:t>通过移位来计算</a:t>
            </a:r>
            <a:endParaRPr lang="zh-CN" altLang="en-US" sz="2800" b="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44433731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期中考试详解</a:t>
            </a:r>
            <a:endParaRPr lang="zh-CN" altLang="en-US" dirty="0"/>
          </a:p>
        </p:txBody>
      </p:sp>
      <p:sp>
        <p:nvSpPr>
          <p:cNvPr id="3" name="内容占位符 2"/>
          <p:cNvSpPr>
            <a:spLocks noGrp="1"/>
          </p:cNvSpPr>
          <p:nvPr>
            <p:ph idx="1"/>
          </p:nvPr>
        </p:nvSpPr>
        <p:spPr>
          <a:xfrm>
            <a:off x="328443" y="1362075"/>
            <a:ext cx="8594725" cy="4972050"/>
          </a:xfrm>
        </p:spPr>
        <p:txBody>
          <a:bodyPr/>
          <a:lstStyle/>
          <a:p>
            <a:pPr marL="0" lvl="0" indent="0">
              <a:lnSpc>
                <a:spcPct val="90000"/>
              </a:lnSpc>
              <a:buClr>
                <a:srgbClr val="CC3300"/>
              </a:buClr>
              <a:buSzTx/>
              <a:buNone/>
              <a:tabLst>
                <a:tab pos="1524000" algn="l"/>
              </a:tabLst>
              <a:defRPr/>
            </a:pPr>
            <a:r>
              <a:rPr kumimoji="1" lang="zh-CN" altLang="en-US" b="0" dirty="0" smtClean="0">
                <a:solidFill>
                  <a:srgbClr val="000000"/>
                </a:solidFill>
                <a:latin typeface="黑体" panose="02010609060101010101" pitchFamily="49" charset="-122"/>
                <a:ea typeface="黑体" panose="02010609060101010101" pitchFamily="49" charset="-122"/>
              </a:rPr>
              <a:t>在</a:t>
            </a:r>
            <a:r>
              <a:rPr kumimoji="1" lang="zh-CN" altLang="en-US" b="0" dirty="0">
                <a:solidFill>
                  <a:srgbClr val="000000"/>
                </a:solidFill>
                <a:latin typeface="黑体" panose="02010609060101010101" pitchFamily="49" charset="-122"/>
                <a:ea typeface="黑体" panose="02010609060101010101" pitchFamily="49" charset="-122"/>
              </a:rPr>
              <a:t>一个分页虚存系统中，用户虚地址空间为</a:t>
            </a:r>
            <a:r>
              <a:rPr kumimoji="1" lang="en-US" altLang="zh-CN" b="0" dirty="0">
                <a:solidFill>
                  <a:srgbClr val="000000"/>
                </a:solidFill>
                <a:latin typeface="黑体" panose="02010609060101010101" pitchFamily="49" charset="-122"/>
                <a:ea typeface="黑体" panose="02010609060101010101" pitchFamily="49" charset="-122"/>
              </a:rPr>
              <a:t>32</a:t>
            </a:r>
            <a:r>
              <a:rPr kumimoji="1" lang="zh-CN" altLang="en-US" b="0" dirty="0">
                <a:solidFill>
                  <a:srgbClr val="000000"/>
                </a:solidFill>
                <a:latin typeface="黑体" panose="02010609060101010101" pitchFamily="49" charset="-122"/>
                <a:ea typeface="黑体" panose="02010609060101010101" pitchFamily="49" charset="-122"/>
              </a:rPr>
              <a:t>页，页长</a:t>
            </a:r>
            <a:r>
              <a:rPr kumimoji="1" lang="en-US" altLang="zh-CN" b="0" dirty="0">
                <a:solidFill>
                  <a:srgbClr val="000000"/>
                </a:solidFill>
                <a:latin typeface="黑体" panose="02010609060101010101" pitchFamily="49" charset="-122"/>
                <a:ea typeface="黑体" panose="02010609060101010101" pitchFamily="49" charset="-122"/>
              </a:rPr>
              <a:t>1KB</a:t>
            </a:r>
            <a:r>
              <a:rPr kumimoji="1" lang="zh-CN" altLang="en-US" b="0" dirty="0">
                <a:solidFill>
                  <a:srgbClr val="000000"/>
                </a:solidFill>
                <a:latin typeface="黑体" panose="02010609060101010101" pitchFamily="49" charset="-122"/>
                <a:ea typeface="黑体" panose="02010609060101010101" pitchFamily="49" charset="-122"/>
              </a:rPr>
              <a:t>，主存物理存储器大小为</a:t>
            </a:r>
            <a:r>
              <a:rPr kumimoji="1" lang="en-US" altLang="zh-CN" b="0" dirty="0">
                <a:solidFill>
                  <a:srgbClr val="000000"/>
                </a:solidFill>
                <a:latin typeface="黑体" panose="02010609060101010101" pitchFamily="49" charset="-122"/>
                <a:ea typeface="黑体" panose="02010609060101010101" pitchFamily="49" charset="-122"/>
              </a:rPr>
              <a:t>24KB</a:t>
            </a:r>
            <a:r>
              <a:rPr kumimoji="1" lang="zh-CN" altLang="en-US" b="0" dirty="0">
                <a:solidFill>
                  <a:srgbClr val="000000"/>
                </a:solidFill>
                <a:latin typeface="黑体" panose="02010609060101010101" pitchFamily="49" charset="-122"/>
                <a:ea typeface="黑体" panose="02010609060101010101" pitchFamily="49" charset="-122"/>
              </a:rPr>
              <a:t>。已知某用户程序有</a:t>
            </a:r>
            <a:r>
              <a:rPr kumimoji="1" lang="en-US" altLang="zh-CN" b="0" dirty="0">
                <a:solidFill>
                  <a:srgbClr val="000000"/>
                </a:solidFill>
                <a:latin typeface="黑体" panose="02010609060101010101" pitchFamily="49" charset="-122"/>
                <a:ea typeface="黑体" panose="02010609060101010101" pitchFamily="49" charset="-122"/>
              </a:rPr>
              <a:t>16</a:t>
            </a:r>
            <a:r>
              <a:rPr kumimoji="1" lang="zh-CN" altLang="en-US" b="0" dirty="0">
                <a:solidFill>
                  <a:srgbClr val="000000"/>
                </a:solidFill>
                <a:latin typeface="黑体" panose="02010609060101010101" pitchFamily="49" charset="-122"/>
                <a:ea typeface="黑体" panose="02010609060101010101" pitchFamily="49" charset="-122"/>
              </a:rPr>
              <a:t>页长，在</a:t>
            </a:r>
            <a:r>
              <a:rPr kumimoji="1" lang="en-US" altLang="zh-CN" b="0" dirty="0">
                <a:solidFill>
                  <a:srgbClr val="000000"/>
                </a:solidFill>
                <a:latin typeface="黑体" panose="02010609060101010101" pitchFamily="49" charset="-122"/>
                <a:ea typeface="黑体" panose="02010609060101010101" pitchFamily="49" charset="-122"/>
              </a:rPr>
              <a:t>TLB</a:t>
            </a:r>
            <a:r>
              <a:rPr kumimoji="1" lang="zh-CN" altLang="en-US" b="0" dirty="0">
                <a:solidFill>
                  <a:srgbClr val="000000"/>
                </a:solidFill>
                <a:latin typeface="黑体" panose="02010609060101010101" pitchFamily="49" charset="-122"/>
                <a:ea typeface="黑体" panose="02010609060101010101" pitchFamily="49" charset="-122"/>
              </a:rPr>
              <a:t>中指示虚页</a:t>
            </a:r>
            <a:r>
              <a:rPr kumimoji="1" lang="en-US" altLang="zh-CN" b="0" dirty="0">
                <a:solidFill>
                  <a:srgbClr val="000000"/>
                </a:solidFill>
                <a:latin typeface="黑体" panose="02010609060101010101" pitchFamily="49" charset="-122"/>
                <a:ea typeface="黑体" panose="02010609060101010101" pitchFamily="49" charset="-122"/>
              </a:rPr>
              <a:t>0</a:t>
            </a:r>
            <a:r>
              <a:rPr kumimoji="1" lang="zh-CN" altLang="en-US" b="0" dirty="0">
                <a:solidFill>
                  <a:srgbClr val="000000"/>
                </a:solidFill>
                <a:latin typeface="黑体" panose="02010609060101010101" pitchFamily="49" charset="-122"/>
                <a:ea typeface="黑体" panose="02010609060101010101" pitchFamily="49" charset="-122"/>
              </a:rPr>
              <a:t>、</a:t>
            </a:r>
            <a:r>
              <a:rPr kumimoji="1" lang="en-US" altLang="zh-CN" b="0" dirty="0">
                <a:solidFill>
                  <a:srgbClr val="000000"/>
                </a:solidFill>
                <a:latin typeface="黑体" panose="02010609060101010101" pitchFamily="49" charset="-122"/>
                <a:ea typeface="黑体" panose="02010609060101010101" pitchFamily="49" charset="-122"/>
              </a:rPr>
              <a:t>1</a:t>
            </a:r>
            <a:r>
              <a:rPr kumimoji="1" lang="zh-CN" altLang="en-US" b="0" dirty="0">
                <a:solidFill>
                  <a:srgbClr val="000000"/>
                </a:solidFill>
                <a:latin typeface="黑体" panose="02010609060101010101" pitchFamily="49" charset="-122"/>
                <a:ea typeface="黑体" panose="02010609060101010101" pitchFamily="49" charset="-122"/>
              </a:rPr>
              <a:t>、</a:t>
            </a:r>
            <a:r>
              <a:rPr kumimoji="1" lang="en-US" altLang="zh-CN" b="0" dirty="0">
                <a:solidFill>
                  <a:srgbClr val="000000"/>
                </a:solidFill>
                <a:latin typeface="黑体" panose="02010609060101010101" pitchFamily="49" charset="-122"/>
                <a:ea typeface="黑体" panose="02010609060101010101" pitchFamily="49" charset="-122"/>
              </a:rPr>
              <a:t>6</a:t>
            </a:r>
            <a:r>
              <a:rPr kumimoji="1" lang="zh-CN" altLang="en-US" b="0" dirty="0">
                <a:solidFill>
                  <a:srgbClr val="000000"/>
                </a:solidFill>
                <a:latin typeface="黑体" panose="02010609060101010101" pitchFamily="49" charset="-122"/>
                <a:ea typeface="黑体" panose="02010609060101010101" pitchFamily="49" charset="-122"/>
              </a:rPr>
              <a:t>、</a:t>
            </a:r>
            <a:r>
              <a:rPr kumimoji="1" lang="en-US" altLang="zh-CN" b="0" dirty="0">
                <a:solidFill>
                  <a:srgbClr val="000000"/>
                </a:solidFill>
                <a:latin typeface="黑体" panose="02010609060101010101" pitchFamily="49" charset="-122"/>
                <a:ea typeface="黑体" panose="02010609060101010101" pitchFamily="49" charset="-122"/>
              </a:rPr>
              <a:t>7</a:t>
            </a:r>
            <a:r>
              <a:rPr kumimoji="1" lang="zh-CN" altLang="en-US" b="0" dirty="0">
                <a:solidFill>
                  <a:srgbClr val="000000"/>
                </a:solidFill>
                <a:latin typeface="黑体" panose="02010609060101010101" pitchFamily="49" charset="-122"/>
                <a:ea typeface="黑体" panose="02010609060101010101" pitchFamily="49" charset="-122"/>
              </a:rPr>
              <a:t>已经被调入到主存</a:t>
            </a:r>
            <a:r>
              <a:rPr kumimoji="1" lang="en-US" altLang="zh-CN" b="0" dirty="0">
                <a:solidFill>
                  <a:srgbClr val="000000"/>
                </a:solidFill>
                <a:latin typeface="黑体" panose="02010609060101010101" pitchFamily="49" charset="-122"/>
                <a:ea typeface="黑体" panose="02010609060101010101" pitchFamily="49" charset="-122"/>
              </a:rPr>
              <a:t>9</a:t>
            </a:r>
            <a:r>
              <a:rPr kumimoji="1" lang="zh-CN" altLang="en-US" b="0" dirty="0">
                <a:solidFill>
                  <a:srgbClr val="000000"/>
                </a:solidFill>
                <a:latin typeface="黑体" panose="02010609060101010101" pitchFamily="49" charset="-122"/>
                <a:ea typeface="黑体" panose="02010609060101010101" pitchFamily="49" charset="-122"/>
              </a:rPr>
              <a:t>、</a:t>
            </a:r>
            <a:r>
              <a:rPr kumimoji="1" lang="en-US" altLang="zh-CN" b="0" dirty="0">
                <a:solidFill>
                  <a:srgbClr val="000000"/>
                </a:solidFill>
                <a:latin typeface="黑体" panose="02010609060101010101" pitchFamily="49" charset="-122"/>
                <a:ea typeface="黑体" panose="02010609060101010101" pitchFamily="49" charset="-122"/>
              </a:rPr>
              <a:t>2</a:t>
            </a:r>
            <a:r>
              <a:rPr kumimoji="1" lang="zh-CN" altLang="en-US" b="0" dirty="0">
                <a:solidFill>
                  <a:srgbClr val="000000"/>
                </a:solidFill>
                <a:latin typeface="黑体" panose="02010609060101010101" pitchFamily="49" charset="-122"/>
                <a:ea typeface="黑体" panose="02010609060101010101" pitchFamily="49" charset="-122"/>
              </a:rPr>
              <a:t>、</a:t>
            </a:r>
            <a:r>
              <a:rPr kumimoji="1" lang="en-US" altLang="zh-CN" b="0" dirty="0">
                <a:solidFill>
                  <a:srgbClr val="000000"/>
                </a:solidFill>
                <a:latin typeface="黑体" panose="02010609060101010101" pitchFamily="49" charset="-122"/>
                <a:ea typeface="黑体" panose="02010609060101010101" pitchFamily="49" charset="-122"/>
              </a:rPr>
              <a:t>1</a:t>
            </a:r>
            <a:r>
              <a:rPr kumimoji="1" lang="zh-CN" altLang="en-US" b="0" dirty="0">
                <a:solidFill>
                  <a:srgbClr val="000000"/>
                </a:solidFill>
                <a:latin typeface="黑体" panose="02010609060101010101" pitchFamily="49" charset="-122"/>
                <a:ea typeface="黑体" panose="02010609060101010101" pitchFamily="49" charset="-122"/>
              </a:rPr>
              <a:t>、</a:t>
            </a:r>
            <a:r>
              <a:rPr kumimoji="1" lang="en-US" altLang="zh-CN" b="0" dirty="0">
                <a:solidFill>
                  <a:srgbClr val="000000"/>
                </a:solidFill>
                <a:latin typeface="黑体" panose="02010609060101010101" pitchFamily="49" charset="-122"/>
                <a:ea typeface="黑体" panose="02010609060101010101" pitchFamily="49" charset="-122"/>
              </a:rPr>
              <a:t>5</a:t>
            </a:r>
            <a:r>
              <a:rPr kumimoji="1" lang="zh-CN" altLang="en-US" b="0" dirty="0">
                <a:solidFill>
                  <a:srgbClr val="000000"/>
                </a:solidFill>
                <a:latin typeface="黑体" panose="02010609060101010101" pitchFamily="49" charset="-122"/>
                <a:ea typeface="黑体" panose="02010609060101010101" pitchFamily="49" charset="-122"/>
              </a:rPr>
              <a:t>物理页中，在主存页表中可知虚页</a:t>
            </a:r>
            <a:r>
              <a:rPr kumimoji="1" lang="en-US" altLang="zh-CN" b="0" dirty="0">
                <a:solidFill>
                  <a:srgbClr val="000000"/>
                </a:solidFill>
                <a:latin typeface="黑体" panose="02010609060101010101" pitchFamily="49" charset="-122"/>
                <a:ea typeface="黑体" panose="02010609060101010101" pitchFamily="49" charset="-122"/>
              </a:rPr>
              <a:t>2</a:t>
            </a:r>
            <a:r>
              <a:rPr kumimoji="1" lang="zh-CN" altLang="en-US" b="0" dirty="0">
                <a:solidFill>
                  <a:srgbClr val="000000"/>
                </a:solidFill>
                <a:latin typeface="黑体" panose="02010609060101010101" pitchFamily="49" charset="-122"/>
                <a:ea typeface="黑体" panose="02010609060101010101" pitchFamily="49" charset="-122"/>
              </a:rPr>
              <a:t>、</a:t>
            </a:r>
            <a:r>
              <a:rPr kumimoji="1" lang="en-US" altLang="zh-CN" b="0" dirty="0">
                <a:solidFill>
                  <a:srgbClr val="000000"/>
                </a:solidFill>
                <a:latin typeface="黑体" panose="02010609060101010101" pitchFamily="49" charset="-122"/>
                <a:ea typeface="黑体" panose="02010609060101010101" pitchFamily="49" charset="-122"/>
              </a:rPr>
              <a:t>3</a:t>
            </a:r>
            <a:r>
              <a:rPr kumimoji="1" lang="zh-CN" altLang="en-US" b="0" dirty="0">
                <a:solidFill>
                  <a:srgbClr val="000000"/>
                </a:solidFill>
                <a:latin typeface="黑体" panose="02010609060101010101" pitchFamily="49" charset="-122"/>
                <a:ea typeface="黑体" panose="02010609060101010101" pitchFamily="49" charset="-122"/>
              </a:rPr>
              <a:t>、</a:t>
            </a:r>
            <a:r>
              <a:rPr kumimoji="1" lang="en-US" altLang="zh-CN" b="0" dirty="0">
                <a:solidFill>
                  <a:srgbClr val="000000"/>
                </a:solidFill>
                <a:latin typeface="黑体" panose="02010609060101010101" pitchFamily="49" charset="-122"/>
                <a:ea typeface="黑体" panose="02010609060101010101" pitchFamily="49" charset="-122"/>
              </a:rPr>
              <a:t>4</a:t>
            </a:r>
            <a:r>
              <a:rPr kumimoji="1" lang="zh-CN" altLang="en-US" b="0" dirty="0">
                <a:solidFill>
                  <a:srgbClr val="000000"/>
                </a:solidFill>
                <a:latin typeface="黑体" panose="02010609060101010101" pitchFamily="49" charset="-122"/>
                <a:ea typeface="黑体" panose="02010609060101010101" pitchFamily="49" charset="-122"/>
              </a:rPr>
              <a:t>、</a:t>
            </a:r>
            <a:r>
              <a:rPr kumimoji="1" lang="en-US" altLang="zh-CN" b="0" dirty="0">
                <a:solidFill>
                  <a:srgbClr val="000000"/>
                </a:solidFill>
                <a:latin typeface="黑体" panose="02010609060101010101" pitchFamily="49" charset="-122"/>
                <a:ea typeface="黑体" panose="02010609060101010101" pitchFamily="49" charset="-122"/>
              </a:rPr>
              <a:t>5</a:t>
            </a:r>
            <a:r>
              <a:rPr kumimoji="1" lang="zh-CN" altLang="en-US" b="0" dirty="0">
                <a:solidFill>
                  <a:srgbClr val="000000"/>
                </a:solidFill>
                <a:latin typeface="黑体" panose="02010609060101010101" pitchFamily="49" charset="-122"/>
                <a:ea typeface="黑体" panose="02010609060101010101" pitchFamily="49" charset="-122"/>
              </a:rPr>
              <a:t>、</a:t>
            </a:r>
            <a:r>
              <a:rPr kumimoji="1" lang="en-US" altLang="zh-CN" b="0" dirty="0">
                <a:solidFill>
                  <a:srgbClr val="000000"/>
                </a:solidFill>
                <a:latin typeface="黑体" panose="02010609060101010101" pitchFamily="49" charset="-122"/>
                <a:ea typeface="黑体" panose="02010609060101010101" pitchFamily="49" charset="-122"/>
              </a:rPr>
              <a:t>8</a:t>
            </a:r>
            <a:r>
              <a:rPr kumimoji="1" lang="zh-CN" altLang="en-US" b="0" dirty="0">
                <a:solidFill>
                  <a:srgbClr val="000000"/>
                </a:solidFill>
                <a:latin typeface="黑体" panose="02010609060101010101" pitchFamily="49" charset="-122"/>
                <a:ea typeface="黑体" panose="02010609060101010101" pitchFamily="49" charset="-122"/>
              </a:rPr>
              <a:t>、</a:t>
            </a:r>
            <a:r>
              <a:rPr kumimoji="1" lang="en-US" altLang="zh-CN" b="0" dirty="0">
                <a:solidFill>
                  <a:srgbClr val="000000"/>
                </a:solidFill>
                <a:latin typeface="黑体" panose="02010609060101010101" pitchFamily="49" charset="-122"/>
                <a:ea typeface="黑体" panose="02010609060101010101" pitchFamily="49" charset="-122"/>
              </a:rPr>
              <a:t>9</a:t>
            </a:r>
            <a:r>
              <a:rPr kumimoji="1" lang="zh-CN" altLang="en-US" b="0" dirty="0">
                <a:solidFill>
                  <a:srgbClr val="000000"/>
                </a:solidFill>
                <a:latin typeface="黑体" panose="02010609060101010101" pitchFamily="49" charset="-122"/>
                <a:ea typeface="黑体" panose="02010609060101010101" pitchFamily="49" charset="-122"/>
              </a:rPr>
              <a:t>已调入到主存</a:t>
            </a:r>
            <a:r>
              <a:rPr kumimoji="1" lang="en-US" altLang="zh-CN" b="0" dirty="0">
                <a:solidFill>
                  <a:srgbClr val="000000"/>
                </a:solidFill>
                <a:latin typeface="黑体" panose="02010609060101010101" pitchFamily="49" charset="-122"/>
                <a:ea typeface="黑体" panose="02010609060101010101" pitchFamily="49" charset="-122"/>
              </a:rPr>
              <a:t>20</a:t>
            </a:r>
            <a:r>
              <a:rPr kumimoji="1" lang="zh-CN" altLang="en-US" b="0" dirty="0">
                <a:solidFill>
                  <a:srgbClr val="000000"/>
                </a:solidFill>
                <a:latin typeface="黑体" panose="02010609060101010101" pitchFamily="49" charset="-122"/>
                <a:ea typeface="黑体" panose="02010609060101010101" pitchFamily="49" charset="-122"/>
              </a:rPr>
              <a:t>、</a:t>
            </a:r>
            <a:r>
              <a:rPr kumimoji="1" lang="en-US" altLang="zh-CN" b="0" dirty="0">
                <a:solidFill>
                  <a:srgbClr val="000000"/>
                </a:solidFill>
                <a:latin typeface="黑体" panose="02010609060101010101" pitchFamily="49" charset="-122"/>
                <a:ea typeface="黑体" panose="02010609060101010101" pitchFamily="49" charset="-122"/>
              </a:rPr>
              <a:t>12</a:t>
            </a:r>
            <a:r>
              <a:rPr kumimoji="1" lang="zh-CN" altLang="en-US" b="0" dirty="0">
                <a:solidFill>
                  <a:srgbClr val="000000"/>
                </a:solidFill>
                <a:latin typeface="黑体" panose="02010609060101010101" pitchFamily="49" charset="-122"/>
                <a:ea typeface="黑体" panose="02010609060101010101" pitchFamily="49" charset="-122"/>
              </a:rPr>
              <a:t>、</a:t>
            </a:r>
            <a:r>
              <a:rPr kumimoji="1" lang="en-US" altLang="zh-CN" b="0" dirty="0">
                <a:solidFill>
                  <a:srgbClr val="000000"/>
                </a:solidFill>
                <a:latin typeface="黑体" panose="02010609060101010101" pitchFamily="49" charset="-122"/>
                <a:ea typeface="黑体" panose="02010609060101010101" pitchFamily="49" charset="-122"/>
              </a:rPr>
              <a:t>13</a:t>
            </a:r>
            <a:r>
              <a:rPr kumimoji="1" lang="zh-CN" altLang="en-US" b="0" dirty="0">
                <a:solidFill>
                  <a:srgbClr val="000000"/>
                </a:solidFill>
                <a:latin typeface="黑体" panose="02010609060101010101" pitchFamily="49" charset="-122"/>
                <a:ea typeface="黑体" panose="02010609060101010101" pitchFamily="49" charset="-122"/>
              </a:rPr>
              <a:t>、</a:t>
            </a:r>
            <a:r>
              <a:rPr kumimoji="1" lang="en-US" altLang="zh-CN" b="0" dirty="0">
                <a:solidFill>
                  <a:srgbClr val="000000"/>
                </a:solidFill>
                <a:latin typeface="黑体" panose="02010609060101010101" pitchFamily="49" charset="-122"/>
                <a:ea typeface="黑体" panose="02010609060101010101" pitchFamily="49" charset="-122"/>
              </a:rPr>
              <a:t>21</a:t>
            </a:r>
            <a:r>
              <a:rPr kumimoji="1" lang="zh-CN" altLang="en-US" b="0" dirty="0">
                <a:solidFill>
                  <a:srgbClr val="000000"/>
                </a:solidFill>
                <a:latin typeface="黑体" panose="02010609060101010101" pitchFamily="49" charset="-122"/>
                <a:ea typeface="黑体" panose="02010609060101010101" pitchFamily="49" charset="-122"/>
              </a:rPr>
              <a:t>、</a:t>
            </a:r>
            <a:r>
              <a:rPr kumimoji="1" lang="en-US" altLang="zh-CN" b="0" dirty="0">
                <a:solidFill>
                  <a:srgbClr val="000000"/>
                </a:solidFill>
                <a:latin typeface="黑体" panose="02010609060101010101" pitchFamily="49" charset="-122"/>
                <a:ea typeface="黑体" panose="02010609060101010101" pitchFamily="49" charset="-122"/>
              </a:rPr>
              <a:t>23</a:t>
            </a:r>
            <a:r>
              <a:rPr kumimoji="1" lang="zh-CN" altLang="en-US" b="0" dirty="0">
                <a:solidFill>
                  <a:srgbClr val="000000"/>
                </a:solidFill>
                <a:latin typeface="黑体" panose="02010609060101010101" pitchFamily="49" charset="-122"/>
                <a:ea typeface="黑体" panose="02010609060101010101" pitchFamily="49" charset="-122"/>
              </a:rPr>
              <a:t>、</a:t>
            </a:r>
            <a:r>
              <a:rPr kumimoji="1" lang="en-US" altLang="zh-CN" b="0" dirty="0">
                <a:solidFill>
                  <a:srgbClr val="000000"/>
                </a:solidFill>
                <a:latin typeface="黑体" panose="02010609060101010101" pitchFamily="49" charset="-122"/>
                <a:ea typeface="黑体" panose="02010609060101010101" pitchFamily="49" charset="-122"/>
              </a:rPr>
              <a:t>24</a:t>
            </a:r>
            <a:r>
              <a:rPr kumimoji="1" lang="zh-CN" altLang="en-US" b="0" dirty="0">
                <a:solidFill>
                  <a:srgbClr val="000000"/>
                </a:solidFill>
                <a:latin typeface="黑体" panose="02010609060101010101" pitchFamily="49" charset="-122"/>
                <a:ea typeface="黑体" panose="02010609060101010101" pitchFamily="49" charset="-122"/>
              </a:rPr>
              <a:t>物理页中，其他页未加载到内存。请回答下列问题：</a:t>
            </a:r>
          </a:p>
          <a:p>
            <a:pPr marL="714375" lvl="1" indent="-265113" eaLnBrk="0" hangingPunct="0">
              <a:lnSpc>
                <a:spcPct val="80000"/>
              </a:lnSpc>
              <a:buClr>
                <a:srgbClr val="339933"/>
              </a:buClr>
              <a:buSzPct val="80000"/>
              <a:buFont typeface="Wingdings" panose="05000000000000000000" pitchFamily="2" charset="2"/>
              <a:buChar char="u"/>
              <a:tabLst>
                <a:tab pos="1524000" algn="l"/>
              </a:tabLst>
              <a:defRPr/>
            </a:pPr>
            <a:r>
              <a:rPr kumimoji="1" lang="en-US" altLang="zh-CN" sz="2400" dirty="0">
                <a:solidFill>
                  <a:srgbClr val="000000"/>
                </a:solidFill>
                <a:latin typeface="黑体" panose="02010609060101010101" pitchFamily="49" charset="-122"/>
                <a:ea typeface="黑体" panose="02010609060101010101" pitchFamily="49" charset="-122"/>
              </a:rPr>
              <a:t>1)</a:t>
            </a:r>
            <a:r>
              <a:rPr kumimoji="1" lang="zh-CN" altLang="en-US" sz="2400" dirty="0">
                <a:solidFill>
                  <a:srgbClr val="000000"/>
                </a:solidFill>
                <a:latin typeface="黑体" panose="02010609060101010101" pitchFamily="49" charset="-122"/>
                <a:ea typeface="黑体" panose="02010609060101010101" pitchFamily="49" charset="-122"/>
              </a:rPr>
              <a:t>虚拟地址共有几位？有哪几个字段，并说明各字段的含义及位数？虚存空间有多大？</a:t>
            </a:r>
          </a:p>
          <a:p>
            <a:pPr marL="714375" lvl="1" indent="-265113" eaLnBrk="0" hangingPunct="0">
              <a:lnSpc>
                <a:spcPct val="80000"/>
              </a:lnSpc>
              <a:buClr>
                <a:srgbClr val="339933"/>
              </a:buClr>
              <a:buSzPct val="80000"/>
              <a:buFont typeface="Wingdings" panose="05000000000000000000" pitchFamily="2" charset="2"/>
              <a:buChar char="u"/>
              <a:tabLst>
                <a:tab pos="1524000" algn="l"/>
              </a:tabLst>
              <a:defRPr/>
            </a:pPr>
            <a:r>
              <a:rPr kumimoji="1" lang="en-US" altLang="zh-CN" sz="2400" dirty="0">
                <a:solidFill>
                  <a:srgbClr val="000000"/>
                </a:solidFill>
                <a:latin typeface="黑体" panose="02010609060101010101" pitchFamily="49" charset="-122"/>
                <a:ea typeface="黑体" panose="02010609060101010101" pitchFamily="49" charset="-122"/>
              </a:rPr>
              <a:t>2)</a:t>
            </a:r>
            <a:r>
              <a:rPr kumimoji="1" lang="zh-CN" altLang="en-US" sz="2400" dirty="0">
                <a:solidFill>
                  <a:srgbClr val="000000"/>
                </a:solidFill>
                <a:latin typeface="黑体" panose="02010609060101010101" pitchFamily="49" charset="-122"/>
                <a:ea typeface="黑体" panose="02010609060101010101" pitchFamily="49" charset="-122"/>
              </a:rPr>
              <a:t>若用你本人班号 </a:t>
            </a:r>
            <a:r>
              <a:rPr kumimoji="1" lang="en-US" altLang="zh-CN" sz="2400" dirty="0">
                <a:solidFill>
                  <a:srgbClr val="000000"/>
                </a:solidFill>
                <a:latin typeface="黑体" panose="02010609060101010101" pitchFamily="49" charset="-122"/>
                <a:ea typeface="黑体" panose="02010609060101010101" pitchFamily="49" charset="-122"/>
              </a:rPr>
              <a:t>mod 10</a:t>
            </a:r>
            <a:r>
              <a:rPr kumimoji="1" lang="zh-CN" altLang="en-US" sz="2400" dirty="0">
                <a:solidFill>
                  <a:srgbClr val="000000"/>
                </a:solidFill>
                <a:latin typeface="黑体" panose="02010609060101010101" pitchFamily="49" charset="-122"/>
                <a:ea typeface="黑体" panose="02010609060101010101" pitchFamily="49" charset="-122"/>
              </a:rPr>
              <a:t>、学号</a:t>
            </a:r>
            <a:r>
              <a:rPr kumimoji="1" lang="en-US" altLang="zh-CN" sz="2400" dirty="0">
                <a:solidFill>
                  <a:srgbClr val="000000"/>
                </a:solidFill>
                <a:latin typeface="黑体" panose="02010609060101010101" pitchFamily="49" charset="-122"/>
                <a:ea typeface="黑体" panose="02010609060101010101" pitchFamily="49" charset="-122"/>
              </a:rPr>
              <a:t>mod 20 </a:t>
            </a:r>
            <a:r>
              <a:rPr kumimoji="1" lang="zh-CN" altLang="en-US" sz="2400" dirty="0">
                <a:solidFill>
                  <a:srgbClr val="000000"/>
                </a:solidFill>
                <a:latin typeface="黑体" panose="02010609060101010101" pitchFamily="49" charset="-122"/>
                <a:ea typeface="黑体" panose="02010609060101010101" pitchFamily="49" charset="-122"/>
              </a:rPr>
              <a:t>分别的值分别作为虚拟地址的页号和页内偏移地址，请问是否存在该虚拟地址对应的物理地址？其值为多少？</a:t>
            </a:r>
          </a:p>
          <a:p>
            <a:pPr marL="714375" lvl="1" indent="-265113" eaLnBrk="0" hangingPunct="0">
              <a:lnSpc>
                <a:spcPct val="80000"/>
              </a:lnSpc>
              <a:buClr>
                <a:srgbClr val="339933"/>
              </a:buClr>
              <a:buSzPct val="80000"/>
              <a:buFont typeface="Wingdings" panose="05000000000000000000" pitchFamily="2" charset="2"/>
              <a:buChar char="u"/>
              <a:tabLst>
                <a:tab pos="1524000" algn="l"/>
              </a:tabLst>
              <a:defRPr/>
            </a:pPr>
            <a:r>
              <a:rPr kumimoji="1" lang="en-US" altLang="zh-CN" sz="2400" dirty="0">
                <a:solidFill>
                  <a:srgbClr val="000000"/>
                </a:solidFill>
                <a:latin typeface="黑体" panose="02010609060101010101" pitchFamily="49" charset="-122"/>
                <a:ea typeface="黑体" panose="02010609060101010101" pitchFamily="49" charset="-122"/>
              </a:rPr>
              <a:t>3)</a:t>
            </a:r>
            <a:r>
              <a:rPr kumimoji="1" lang="zh-CN" altLang="en-US" sz="2400" dirty="0">
                <a:solidFill>
                  <a:srgbClr val="000000"/>
                </a:solidFill>
                <a:latin typeface="黑体" panose="02010609060101010101" pitchFamily="49" charset="-122"/>
                <a:ea typeface="黑体" panose="02010609060101010101" pitchFamily="49" charset="-122"/>
              </a:rPr>
              <a:t>如果虚拟地址的值为你的学号</a:t>
            </a:r>
            <a:r>
              <a:rPr kumimoji="1" lang="en-US" altLang="zh-CN" sz="2400" dirty="0">
                <a:solidFill>
                  <a:srgbClr val="000000"/>
                </a:solidFill>
                <a:latin typeface="黑体" panose="02010609060101010101" pitchFamily="49" charset="-122"/>
                <a:ea typeface="黑体" panose="02010609060101010101" pitchFamily="49" charset="-122"/>
              </a:rPr>
              <a:t>(</a:t>
            </a:r>
            <a:r>
              <a:rPr kumimoji="1" lang="zh-CN" altLang="en-US" sz="2400" dirty="0">
                <a:solidFill>
                  <a:srgbClr val="000000"/>
                </a:solidFill>
                <a:latin typeface="黑体" panose="02010609060101010101" pitchFamily="49" charset="-122"/>
                <a:ea typeface="黑体" panose="02010609060101010101" pitchFamily="49" charset="-122"/>
              </a:rPr>
              <a:t>二进制</a:t>
            </a:r>
            <a:r>
              <a:rPr kumimoji="1" lang="en-US" altLang="zh-CN" sz="2400" dirty="0">
                <a:solidFill>
                  <a:srgbClr val="000000"/>
                </a:solidFill>
                <a:latin typeface="黑体" panose="02010609060101010101" pitchFamily="49" charset="-122"/>
                <a:ea typeface="黑体" panose="02010609060101010101" pitchFamily="49" charset="-122"/>
              </a:rPr>
              <a:t>)</a:t>
            </a:r>
            <a:r>
              <a:rPr kumimoji="1" lang="zh-CN" altLang="en-US" sz="2400" dirty="0">
                <a:solidFill>
                  <a:srgbClr val="000000"/>
                </a:solidFill>
                <a:latin typeface="黑体" panose="02010609060101010101" pitchFamily="49" charset="-122"/>
                <a:ea typeface="黑体" panose="02010609060101010101" pitchFamily="49" charset="-122"/>
              </a:rPr>
              <a:t>的低</a:t>
            </a:r>
            <a:r>
              <a:rPr kumimoji="1" lang="en-US" altLang="zh-CN" sz="2400" dirty="0">
                <a:solidFill>
                  <a:srgbClr val="000000"/>
                </a:solidFill>
                <a:latin typeface="黑体" panose="02010609060101010101" pitchFamily="49" charset="-122"/>
                <a:ea typeface="黑体" panose="02010609060101010101" pitchFamily="49" charset="-122"/>
              </a:rPr>
              <a:t>15</a:t>
            </a:r>
            <a:r>
              <a:rPr kumimoji="1" lang="zh-CN" altLang="en-US" sz="2400" dirty="0">
                <a:solidFill>
                  <a:srgbClr val="000000"/>
                </a:solidFill>
                <a:latin typeface="黑体" panose="02010609060101010101" pitchFamily="49" charset="-122"/>
                <a:ea typeface="黑体" panose="02010609060101010101" pitchFamily="49" charset="-122"/>
              </a:rPr>
              <a:t>位，请描述其虚拟地址的完整访存过程</a:t>
            </a:r>
            <a:r>
              <a:rPr kumimoji="1" lang="en-US" altLang="zh-CN" sz="2400" dirty="0">
                <a:solidFill>
                  <a:srgbClr val="000000"/>
                </a:solidFill>
                <a:latin typeface="黑体" panose="02010609060101010101" pitchFamily="49" charset="-122"/>
                <a:ea typeface="黑体" panose="02010609060101010101" pitchFamily="49" charset="-122"/>
              </a:rPr>
              <a:t>,</a:t>
            </a:r>
            <a:r>
              <a:rPr kumimoji="1" lang="zh-CN" altLang="en-US" sz="2400" dirty="0">
                <a:solidFill>
                  <a:srgbClr val="000000"/>
                </a:solidFill>
                <a:latin typeface="黑体" panose="02010609060101010101" pitchFamily="49" charset="-122"/>
                <a:ea typeface="黑体" panose="02010609060101010101" pitchFamily="49" charset="-122"/>
              </a:rPr>
              <a:t>给出最终页表值</a:t>
            </a:r>
            <a:endParaRPr kumimoji="1" lang="en-US" altLang="zh-CN" sz="2400" dirty="0">
              <a:solidFill>
                <a:srgbClr val="000000"/>
              </a:solidFill>
              <a:latin typeface="黑体" panose="02010609060101010101" pitchFamily="49" charset="-122"/>
              <a:ea typeface="黑体" panose="02010609060101010101" pitchFamily="49" charset="-122"/>
            </a:endParaRPr>
          </a:p>
          <a:p>
            <a:endParaRPr lang="zh-CN" altLang="en-US" b="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96542309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期中考试解答</a:t>
            </a:r>
            <a:endParaRPr lang="zh-CN" altLang="en-US" dirty="0"/>
          </a:p>
        </p:txBody>
      </p:sp>
      <p:sp>
        <p:nvSpPr>
          <p:cNvPr id="3" name="内容占位符 2"/>
          <p:cNvSpPr>
            <a:spLocks noGrp="1"/>
          </p:cNvSpPr>
          <p:nvPr>
            <p:ph idx="1"/>
          </p:nvPr>
        </p:nvSpPr>
        <p:spPr/>
        <p:txBody>
          <a:bodyPr/>
          <a:lstStyle/>
          <a:p>
            <a:pPr marL="342900" lvl="1" indent="-342900">
              <a:buSzPct val="60000"/>
              <a:buFont typeface="Wingdings 2" pitchFamily="18" charset="2"/>
              <a:buChar char="¢"/>
            </a:pPr>
            <a:r>
              <a:rPr kumimoji="1" lang="en-US" altLang="zh-CN" sz="2400" dirty="0">
                <a:solidFill>
                  <a:srgbClr val="000000"/>
                </a:solidFill>
                <a:latin typeface="黑体" panose="02010609060101010101" pitchFamily="49" charset="-122"/>
                <a:ea typeface="黑体" panose="02010609060101010101" pitchFamily="49" charset="-122"/>
              </a:rPr>
              <a:t>1)</a:t>
            </a:r>
            <a:r>
              <a:rPr kumimoji="1" lang="zh-CN" altLang="en-US" sz="2400" dirty="0">
                <a:solidFill>
                  <a:srgbClr val="000000"/>
                </a:solidFill>
                <a:latin typeface="黑体" panose="02010609060101010101" pitchFamily="49" charset="-122"/>
                <a:ea typeface="黑体" panose="02010609060101010101" pitchFamily="49" charset="-122"/>
              </a:rPr>
              <a:t>虚拟地址共有几位？有哪几个字段，并说明各字段的含义及位数？虚存空间有多大？</a:t>
            </a:r>
          </a:p>
          <a:p>
            <a:pPr marL="0" indent="0">
              <a:buNone/>
            </a:pPr>
            <a:endParaRPr lang="en-US" altLang="zh-CN" dirty="0" smtClean="0"/>
          </a:p>
          <a:p>
            <a:pPr marL="0" indent="0">
              <a:buNone/>
            </a:pPr>
            <a:r>
              <a:rPr lang="zh-CN" altLang="en-US" dirty="0" smtClean="0"/>
              <a:t>逻辑页号  页内地址</a:t>
            </a:r>
            <a:endParaRPr lang="en-US" altLang="zh-CN" dirty="0" smtClean="0"/>
          </a:p>
          <a:p>
            <a:pPr marL="0" indent="0">
              <a:buNone/>
            </a:pPr>
            <a:r>
              <a:rPr lang="zh-CN" altLang="en-US" dirty="0" smtClean="0"/>
              <a:t>虚地址空间为</a:t>
            </a:r>
            <a:r>
              <a:rPr lang="en-US" altLang="zh-CN" dirty="0" smtClean="0"/>
              <a:t>32</a:t>
            </a:r>
            <a:r>
              <a:rPr lang="zh-CN" altLang="en-US" dirty="0" smtClean="0"/>
              <a:t>页     页号</a:t>
            </a:r>
            <a:r>
              <a:rPr lang="en-US" altLang="zh-CN" dirty="0" smtClean="0"/>
              <a:t>5</a:t>
            </a:r>
            <a:r>
              <a:rPr lang="zh-CN" altLang="en-US" dirty="0" smtClean="0"/>
              <a:t>位</a:t>
            </a:r>
            <a:endParaRPr lang="en-US" altLang="zh-CN" dirty="0" smtClean="0"/>
          </a:p>
          <a:p>
            <a:pPr marL="0" indent="0">
              <a:buNone/>
            </a:pPr>
            <a:r>
              <a:rPr lang="zh-CN" altLang="en-US" dirty="0" smtClean="0"/>
              <a:t>页长</a:t>
            </a:r>
            <a:r>
              <a:rPr lang="en-US" altLang="zh-CN" dirty="0" smtClean="0"/>
              <a:t>1KB   </a:t>
            </a:r>
            <a:r>
              <a:rPr lang="zh-CN" altLang="en-US" dirty="0" smtClean="0"/>
              <a:t>页内地址   </a:t>
            </a:r>
            <a:r>
              <a:rPr lang="en-US" altLang="zh-CN" dirty="0" smtClean="0"/>
              <a:t>10</a:t>
            </a:r>
            <a:r>
              <a:rPr lang="zh-CN" altLang="en-US" dirty="0" smtClean="0"/>
              <a:t>位</a:t>
            </a:r>
            <a:endParaRPr lang="en-US" altLang="zh-CN" dirty="0" smtClean="0"/>
          </a:p>
          <a:p>
            <a:pPr marL="0" indent="0">
              <a:buNone/>
            </a:pPr>
            <a:r>
              <a:rPr lang="zh-CN" altLang="en-US" dirty="0"/>
              <a:t>虚</a:t>
            </a:r>
            <a:r>
              <a:rPr lang="zh-CN" altLang="en-US" dirty="0" smtClean="0"/>
              <a:t>存空间</a:t>
            </a:r>
            <a:r>
              <a:rPr lang="en-US" altLang="zh-CN" dirty="0" smtClean="0"/>
              <a:t>32KB</a:t>
            </a:r>
            <a:endParaRPr lang="en-US" altLang="zh-CN" dirty="0"/>
          </a:p>
        </p:txBody>
      </p:sp>
    </p:spTree>
    <p:extLst>
      <p:ext uri="{BB962C8B-B14F-4D97-AF65-F5344CB8AC3E}">
        <p14:creationId xmlns:p14="http://schemas.microsoft.com/office/powerpoint/2010/main" val="12665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期中考试详解</a:t>
            </a:r>
            <a:endParaRPr lang="zh-CN" altLang="en-US" dirty="0"/>
          </a:p>
        </p:txBody>
      </p:sp>
      <p:sp>
        <p:nvSpPr>
          <p:cNvPr id="3" name="内容占位符 2"/>
          <p:cNvSpPr>
            <a:spLocks noGrp="1"/>
          </p:cNvSpPr>
          <p:nvPr>
            <p:ph idx="1"/>
          </p:nvPr>
        </p:nvSpPr>
        <p:spPr>
          <a:xfrm>
            <a:off x="396875" y="1226253"/>
            <a:ext cx="8061325" cy="4972050"/>
          </a:xfrm>
        </p:spPr>
        <p:txBody>
          <a:bodyPr/>
          <a:lstStyle/>
          <a:p>
            <a:pPr marL="0" lvl="0" indent="0" eaLnBrk="0" hangingPunct="0">
              <a:spcBef>
                <a:spcPct val="0"/>
              </a:spcBef>
              <a:buClrTx/>
              <a:buSzTx/>
              <a:buNone/>
              <a:defRPr/>
            </a:pPr>
            <a:r>
              <a:rPr kumimoji="1" lang="zh-CN" altLang="en-US" b="0" kern="1200" dirty="0">
                <a:solidFill>
                  <a:srgbClr val="000000"/>
                </a:solidFill>
                <a:latin typeface="Times New Roman" panose="02020603050405020304" pitchFamily="18" charset="0"/>
                <a:ea typeface="黑体" panose="02010609060101010101" pitchFamily="49" charset="-122"/>
              </a:rPr>
              <a:t>设</a:t>
            </a:r>
            <a:r>
              <a:rPr kumimoji="1" lang="en-US" altLang="zh-CN" b="0" kern="1200" dirty="0">
                <a:solidFill>
                  <a:srgbClr val="000000"/>
                </a:solidFill>
                <a:latin typeface="Times New Roman" panose="02020603050405020304" pitchFamily="18" charset="0"/>
                <a:ea typeface="黑体" panose="02010609060101010101" pitchFamily="49" charset="-122"/>
              </a:rPr>
              <a:t>CPU</a:t>
            </a:r>
            <a:r>
              <a:rPr kumimoji="1" lang="zh-CN" altLang="en-US" b="0" kern="1200" dirty="0">
                <a:solidFill>
                  <a:srgbClr val="000000"/>
                </a:solidFill>
                <a:latin typeface="Times New Roman" panose="02020603050405020304" pitchFamily="18" charset="0"/>
                <a:ea typeface="黑体" panose="02010609060101010101" pitchFamily="49" charset="-122"/>
              </a:rPr>
              <a:t>有</a:t>
            </a:r>
            <a:r>
              <a:rPr kumimoji="1" lang="en-US" altLang="zh-CN" b="0" kern="1200" dirty="0">
                <a:solidFill>
                  <a:srgbClr val="000000"/>
                </a:solidFill>
                <a:latin typeface="Times New Roman" panose="02020603050405020304" pitchFamily="18" charset="0"/>
                <a:ea typeface="黑体" panose="02010609060101010101" pitchFamily="49" charset="-122"/>
              </a:rPr>
              <a:t>16</a:t>
            </a:r>
            <a:r>
              <a:rPr kumimoji="1" lang="zh-CN" altLang="en-US" b="0" kern="1200" dirty="0">
                <a:solidFill>
                  <a:srgbClr val="000000"/>
                </a:solidFill>
                <a:latin typeface="Times New Roman" panose="02020603050405020304" pitchFamily="18" charset="0"/>
                <a:ea typeface="黑体" panose="02010609060101010101" pitchFamily="49" charset="-122"/>
              </a:rPr>
              <a:t>根地址线，</a:t>
            </a:r>
            <a:r>
              <a:rPr kumimoji="1" lang="en-US" altLang="zh-CN" b="0" kern="1200" dirty="0">
                <a:solidFill>
                  <a:srgbClr val="000000"/>
                </a:solidFill>
                <a:latin typeface="Times New Roman" panose="02020603050405020304" pitchFamily="18" charset="0"/>
                <a:ea typeface="黑体" panose="02010609060101010101" pitchFamily="49" charset="-122"/>
              </a:rPr>
              <a:t>8</a:t>
            </a:r>
            <a:r>
              <a:rPr kumimoji="1" lang="zh-CN" altLang="en-US" b="0" kern="1200" dirty="0">
                <a:solidFill>
                  <a:srgbClr val="000000"/>
                </a:solidFill>
                <a:latin typeface="Times New Roman" panose="02020603050405020304" pitchFamily="18" charset="0"/>
                <a:ea typeface="黑体" panose="02010609060101010101" pitchFamily="49" charset="-122"/>
              </a:rPr>
              <a:t>根数据线，并用 作访存控制信号（低电平有效），用 作读</a:t>
            </a:r>
            <a:r>
              <a:rPr kumimoji="1" lang="en-US" altLang="zh-CN" b="0" kern="1200" dirty="0">
                <a:solidFill>
                  <a:srgbClr val="000000"/>
                </a:solidFill>
                <a:latin typeface="Times New Roman" panose="02020603050405020304" pitchFamily="18" charset="0"/>
                <a:ea typeface="黑体" panose="02010609060101010101" pitchFamily="49" charset="-122"/>
              </a:rPr>
              <a:t>/</a:t>
            </a:r>
            <a:r>
              <a:rPr kumimoji="1" lang="zh-CN" altLang="en-US" b="0" kern="1200" dirty="0">
                <a:solidFill>
                  <a:srgbClr val="000000"/>
                </a:solidFill>
                <a:latin typeface="Times New Roman" panose="02020603050405020304" pitchFamily="18" charset="0"/>
                <a:ea typeface="黑体" panose="02010609060101010101" pitchFamily="49" charset="-122"/>
              </a:rPr>
              <a:t>写控制信号（高电平为读，低电平为写）。现有下列存储芯片</a:t>
            </a:r>
            <a:endParaRPr kumimoji="1" lang="en-US" altLang="zh-CN" b="0" kern="1200" dirty="0">
              <a:solidFill>
                <a:srgbClr val="000000"/>
              </a:solidFill>
              <a:latin typeface="Times New Roman" panose="02020603050405020304" pitchFamily="18" charset="0"/>
              <a:ea typeface="黑体" panose="02010609060101010101" pitchFamily="49" charset="-122"/>
            </a:endParaRPr>
          </a:p>
          <a:p>
            <a:pPr marL="457200" lvl="0" indent="-457200" eaLnBrk="0" hangingPunct="0">
              <a:spcBef>
                <a:spcPct val="0"/>
              </a:spcBef>
              <a:buClrTx/>
              <a:buSzTx/>
              <a:buFont typeface="+mj-ea"/>
              <a:buAutoNum type="circleNumDbPlain"/>
              <a:defRPr/>
            </a:pPr>
            <a:r>
              <a:rPr kumimoji="1" lang="en-US" altLang="zh-CN" b="0" kern="1200" dirty="0">
                <a:solidFill>
                  <a:srgbClr val="000000"/>
                </a:solidFill>
                <a:latin typeface="Times New Roman" panose="02020603050405020304" pitchFamily="18" charset="0"/>
                <a:ea typeface="黑体" panose="02010609060101010101" pitchFamily="49" charset="-122"/>
              </a:rPr>
              <a:t>1K×4</a:t>
            </a:r>
            <a:r>
              <a:rPr kumimoji="1" lang="zh-CN" altLang="en-US" b="0" kern="1200" dirty="0">
                <a:solidFill>
                  <a:srgbClr val="000000"/>
                </a:solidFill>
                <a:latin typeface="Times New Roman" panose="02020603050405020304" pitchFamily="18" charset="0"/>
                <a:ea typeface="黑体" panose="02010609060101010101" pitchFamily="49" charset="-122"/>
              </a:rPr>
              <a:t>位</a:t>
            </a:r>
            <a:r>
              <a:rPr kumimoji="1" lang="en-US" altLang="zh-CN" b="0" kern="1200" dirty="0">
                <a:solidFill>
                  <a:srgbClr val="000000"/>
                </a:solidFill>
                <a:latin typeface="Times New Roman" panose="02020603050405020304" pitchFamily="18" charset="0"/>
                <a:ea typeface="黑体" panose="02010609060101010101" pitchFamily="49" charset="-122"/>
              </a:rPr>
              <a:t>RAM</a:t>
            </a:r>
            <a:r>
              <a:rPr kumimoji="1" lang="zh-CN" altLang="en-US" b="0" kern="1200" dirty="0">
                <a:solidFill>
                  <a:srgbClr val="000000"/>
                </a:solidFill>
                <a:latin typeface="Times New Roman" panose="02020603050405020304" pitchFamily="18" charset="0"/>
                <a:ea typeface="黑体" panose="02010609060101010101" pitchFamily="49" charset="-122"/>
              </a:rPr>
              <a:t>；学号 </a:t>
            </a:r>
            <a:r>
              <a:rPr kumimoji="1" lang="en-US" altLang="zh-CN" b="0" kern="1200" dirty="0">
                <a:solidFill>
                  <a:srgbClr val="000000"/>
                </a:solidFill>
                <a:latin typeface="Times New Roman" panose="02020603050405020304" pitchFamily="18" charset="0"/>
                <a:ea typeface="黑体" panose="02010609060101010101" pitchFamily="49" charset="-122"/>
              </a:rPr>
              <a:t>mod</a:t>
            </a:r>
            <a:r>
              <a:rPr kumimoji="1" lang="zh-CN" altLang="en-US" b="0" kern="1200" dirty="0">
                <a:solidFill>
                  <a:srgbClr val="000000"/>
                </a:solidFill>
                <a:latin typeface="Times New Roman" panose="02020603050405020304" pitchFamily="18" charset="0"/>
                <a:ea typeface="黑体" panose="02010609060101010101" pitchFamily="49" charset="-122"/>
              </a:rPr>
              <a:t> </a:t>
            </a:r>
            <a:r>
              <a:rPr kumimoji="1" lang="en-US" altLang="zh-CN" b="0" kern="1200" dirty="0">
                <a:solidFill>
                  <a:srgbClr val="000000"/>
                </a:solidFill>
                <a:latin typeface="Times New Roman" panose="02020603050405020304" pitchFamily="18" charset="0"/>
                <a:ea typeface="黑体" panose="02010609060101010101" pitchFamily="49" charset="-122"/>
              </a:rPr>
              <a:t>10=</a:t>
            </a:r>
            <a:r>
              <a:rPr kumimoji="1" lang="zh-CN" altLang="en-US" b="0" kern="1200" dirty="0">
                <a:solidFill>
                  <a:srgbClr val="000000"/>
                </a:solidFill>
                <a:latin typeface="Times New Roman" panose="02020603050405020304" pitchFamily="18" charset="0"/>
                <a:ea typeface="黑体" panose="02010609060101010101" pitchFamily="49" charset="-122"/>
              </a:rPr>
              <a:t>奇数   可以选择</a:t>
            </a:r>
            <a:endParaRPr kumimoji="1" lang="en-US" altLang="zh-CN" b="0" kern="1200" dirty="0">
              <a:solidFill>
                <a:srgbClr val="000000"/>
              </a:solidFill>
              <a:latin typeface="Times New Roman" panose="02020603050405020304" pitchFamily="18" charset="0"/>
              <a:ea typeface="黑体" panose="02010609060101010101" pitchFamily="49" charset="-122"/>
            </a:endParaRPr>
          </a:p>
          <a:p>
            <a:pPr marL="457200" lvl="0" indent="-457200" eaLnBrk="0" hangingPunct="0">
              <a:spcBef>
                <a:spcPct val="0"/>
              </a:spcBef>
              <a:buClrTx/>
              <a:buSzTx/>
              <a:buFont typeface="+mj-ea"/>
              <a:buAutoNum type="circleNumDbPlain"/>
              <a:defRPr/>
            </a:pPr>
            <a:r>
              <a:rPr kumimoji="1" lang="en-US" altLang="zh-CN" b="0" kern="1200" dirty="0">
                <a:solidFill>
                  <a:srgbClr val="000000"/>
                </a:solidFill>
                <a:latin typeface="Times New Roman" panose="02020603050405020304" pitchFamily="18" charset="0"/>
                <a:ea typeface="黑体" panose="02010609060101010101" pitchFamily="49" charset="-122"/>
              </a:rPr>
              <a:t>1K×8</a:t>
            </a:r>
            <a:r>
              <a:rPr kumimoji="1" lang="zh-CN" altLang="en-US" b="0" kern="1200" dirty="0">
                <a:solidFill>
                  <a:srgbClr val="000000"/>
                </a:solidFill>
                <a:latin typeface="Times New Roman" panose="02020603050405020304" pitchFamily="18" charset="0"/>
                <a:ea typeface="黑体" panose="02010609060101010101" pitchFamily="49" charset="-122"/>
              </a:rPr>
              <a:t>位</a:t>
            </a:r>
            <a:r>
              <a:rPr kumimoji="1" lang="en-US" altLang="zh-CN" b="0" kern="1200" dirty="0">
                <a:solidFill>
                  <a:srgbClr val="000000"/>
                </a:solidFill>
                <a:latin typeface="Times New Roman" panose="02020603050405020304" pitchFamily="18" charset="0"/>
                <a:ea typeface="黑体" panose="02010609060101010101" pitchFamily="49" charset="-122"/>
              </a:rPr>
              <a:t>RAM</a:t>
            </a:r>
            <a:r>
              <a:rPr kumimoji="1" lang="zh-CN" altLang="en-US" b="0" kern="1200" dirty="0">
                <a:solidFill>
                  <a:srgbClr val="000000"/>
                </a:solidFill>
                <a:latin typeface="Times New Roman" panose="02020603050405020304" pitchFamily="18" charset="0"/>
                <a:ea typeface="黑体" panose="02010609060101010101" pitchFamily="49" charset="-122"/>
              </a:rPr>
              <a:t>；学号 </a:t>
            </a:r>
            <a:r>
              <a:rPr kumimoji="1" lang="en-US" altLang="zh-CN" b="0" kern="1200" dirty="0">
                <a:solidFill>
                  <a:srgbClr val="000000"/>
                </a:solidFill>
                <a:latin typeface="Times New Roman" panose="02020603050405020304" pitchFamily="18" charset="0"/>
                <a:ea typeface="黑体" panose="02010609060101010101" pitchFamily="49" charset="-122"/>
              </a:rPr>
              <a:t>mod</a:t>
            </a:r>
            <a:r>
              <a:rPr kumimoji="1" lang="zh-CN" altLang="en-US" b="0" kern="1200" dirty="0">
                <a:solidFill>
                  <a:srgbClr val="000000"/>
                </a:solidFill>
                <a:latin typeface="Times New Roman" panose="02020603050405020304" pitchFamily="18" charset="0"/>
                <a:ea typeface="黑体" panose="02010609060101010101" pitchFamily="49" charset="-122"/>
              </a:rPr>
              <a:t> </a:t>
            </a:r>
            <a:r>
              <a:rPr kumimoji="1" lang="en-US" altLang="zh-CN" b="0" kern="1200" dirty="0">
                <a:solidFill>
                  <a:srgbClr val="000000"/>
                </a:solidFill>
                <a:latin typeface="Times New Roman" panose="02020603050405020304" pitchFamily="18" charset="0"/>
                <a:ea typeface="黑体" panose="02010609060101010101" pitchFamily="49" charset="-122"/>
              </a:rPr>
              <a:t>10=</a:t>
            </a:r>
            <a:r>
              <a:rPr kumimoji="1" lang="zh-CN" altLang="en-US" b="0" kern="1200" dirty="0">
                <a:solidFill>
                  <a:srgbClr val="000000"/>
                </a:solidFill>
                <a:latin typeface="Times New Roman" panose="02020603050405020304" pitchFamily="18" charset="0"/>
                <a:ea typeface="黑体" panose="02010609060101010101" pitchFamily="49" charset="-122"/>
              </a:rPr>
              <a:t>偶数   可以选择</a:t>
            </a:r>
            <a:endParaRPr kumimoji="1" lang="en-US" altLang="zh-CN" b="0" kern="1200" dirty="0">
              <a:solidFill>
                <a:srgbClr val="000000"/>
              </a:solidFill>
              <a:latin typeface="Times New Roman" panose="02020603050405020304" pitchFamily="18" charset="0"/>
              <a:ea typeface="黑体" panose="02010609060101010101" pitchFamily="49" charset="-122"/>
            </a:endParaRPr>
          </a:p>
          <a:p>
            <a:pPr marL="457200" lvl="0" indent="-457200" eaLnBrk="0" hangingPunct="0">
              <a:spcBef>
                <a:spcPct val="0"/>
              </a:spcBef>
              <a:buClrTx/>
              <a:buSzTx/>
              <a:buFont typeface="+mj-ea"/>
              <a:buAutoNum type="circleNumDbPlain"/>
              <a:defRPr/>
            </a:pPr>
            <a:r>
              <a:rPr kumimoji="1" lang="en-US" altLang="zh-CN" b="0" kern="1200" dirty="0">
                <a:solidFill>
                  <a:srgbClr val="000000"/>
                </a:solidFill>
                <a:latin typeface="Times New Roman" panose="02020603050405020304" pitchFamily="18" charset="0"/>
                <a:ea typeface="黑体" panose="02010609060101010101" pitchFamily="49" charset="-122"/>
              </a:rPr>
              <a:t>4K×8</a:t>
            </a:r>
            <a:r>
              <a:rPr kumimoji="1" lang="zh-CN" altLang="en-US" b="0" kern="1200" dirty="0">
                <a:solidFill>
                  <a:srgbClr val="000000"/>
                </a:solidFill>
                <a:latin typeface="Times New Roman" panose="02020603050405020304" pitchFamily="18" charset="0"/>
                <a:ea typeface="黑体" panose="02010609060101010101" pitchFamily="49" charset="-122"/>
              </a:rPr>
              <a:t>位</a:t>
            </a:r>
            <a:r>
              <a:rPr kumimoji="1" lang="en-US" altLang="zh-CN" b="0" kern="1200" dirty="0">
                <a:solidFill>
                  <a:srgbClr val="000000"/>
                </a:solidFill>
                <a:latin typeface="Times New Roman" panose="02020603050405020304" pitchFamily="18" charset="0"/>
                <a:ea typeface="黑体" panose="02010609060101010101" pitchFamily="49" charset="-122"/>
              </a:rPr>
              <a:t>RAM</a:t>
            </a:r>
            <a:r>
              <a:rPr kumimoji="1" lang="zh-CN" altLang="en-US" b="0" kern="1200" dirty="0">
                <a:solidFill>
                  <a:srgbClr val="000000"/>
                </a:solidFill>
                <a:latin typeface="Times New Roman" panose="02020603050405020304" pitchFamily="18" charset="0"/>
                <a:ea typeface="黑体" panose="02010609060101010101" pitchFamily="49" charset="-122"/>
              </a:rPr>
              <a:t>；学号 </a:t>
            </a:r>
            <a:r>
              <a:rPr kumimoji="1" lang="en-US" altLang="zh-CN" b="0" kern="1200" dirty="0">
                <a:solidFill>
                  <a:srgbClr val="000000"/>
                </a:solidFill>
                <a:latin typeface="Times New Roman" panose="02020603050405020304" pitchFamily="18" charset="0"/>
                <a:ea typeface="黑体" panose="02010609060101010101" pitchFamily="49" charset="-122"/>
              </a:rPr>
              <a:t>mod</a:t>
            </a:r>
            <a:r>
              <a:rPr kumimoji="1" lang="zh-CN" altLang="en-US" b="0" kern="1200" dirty="0">
                <a:solidFill>
                  <a:srgbClr val="000000"/>
                </a:solidFill>
                <a:latin typeface="Times New Roman" panose="02020603050405020304" pitchFamily="18" charset="0"/>
                <a:ea typeface="黑体" panose="02010609060101010101" pitchFamily="49" charset="-122"/>
              </a:rPr>
              <a:t> </a:t>
            </a:r>
            <a:r>
              <a:rPr kumimoji="1" lang="en-US" altLang="zh-CN" b="0" kern="1200" dirty="0">
                <a:solidFill>
                  <a:srgbClr val="000000"/>
                </a:solidFill>
                <a:latin typeface="Times New Roman" panose="02020603050405020304" pitchFamily="18" charset="0"/>
                <a:ea typeface="黑体" panose="02010609060101010101" pitchFamily="49" charset="-122"/>
              </a:rPr>
              <a:t>10=1</a:t>
            </a:r>
            <a:r>
              <a:rPr kumimoji="1" lang="zh-CN" altLang="en-US" b="0" kern="1200" dirty="0">
                <a:solidFill>
                  <a:srgbClr val="000000"/>
                </a:solidFill>
                <a:latin typeface="Times New Roman" panose="02020603050405020304" pitchFamily="18" charset="0"/>
                <a:ea typeface="黑体" panose="02010609060101010101" pitchFamily="49" charset="-122"/>
              </a:rPr>
              <a:t>，</a:t>
            </a:r>
            <a:r>
              <a:rPr kumimoji="1" lang="en-US" altLang="zh-CN" b="0" kern="1200" dirty="0">
                <a:solidFill>
                  <a:srgbClr val="000000"/>
                </a:solidFill>
                <a:latin typeface="Times New Roman" panose="02020603050405020304" pitchFamily="18" charset="0"/>
                <a:ea typeface="黑体" panose="02010609060101010101" pitchFamily="49" charset="-122"/>
              </a:rPr>
              <a:t>2</a:t>
            </a:r>
            <a:r>
              <a:rPr kumimoji="1" lang="zh-CN" altLang="en-US" b="0" kern="1200" dirty="0">
                <a:solidFill>
                  <a:srgbClr val="000000"/>
                </a:solidFill>
                <a:latin typeface="Times New Roman" panose="02020603050405020304" pitchFamily="18" charset="0"/>
                <a:ea typeface="黑体" panose="02010609060101010101" pitchFamily="49" charset="-122"/>
              </a:rPr>
              <a:t>，</a:t>
            </a:r>
            <a:r>
              <a:rPr kumimoji="1" lang="en-US" altLang="zh-CN" b="0" kern="1200" dirty="0">
                <a:solidFill>
                  <a:srgbClr val="000000"/>
                </a:solidFill>
                <a:latin typeface="Times New Roman" panose="02020603050405020304" pitchFamily="18" charset="0"/>
                <a:ea typeface="黑体" panose="02010609060101010101" pitchFamily="49" charset="-122"/>
              </a:rPr>
              <a:t>3</a:t>
            </a:r>
            <a:r>
              <a:rPr kumimoji="1" lang="zh-CN" altLang="en-US" b="0" kern="1200" dirty="0">
                <a:solidFill>
                  <a:srgbClr val="000000"/>
                </a:solidFill>
                <a:latin typeface="Times New Roman" panose="02020603050405020304" pitchFamily="18" charset="0"/>
                <a:ea typeface="黑体" panose="02010609060101010101" pitchFamily="49" charset="-122"/>
              </a:rPr>
              <a:t>，</a:t>
            </a:r>
            <a:r>
              <a:rPr kumimoji="1" lang="en-US" altLang="zh-CN" b="0" kern="1200" dirty="0">
                <a:solidFill>
                  <a:srgbClr val="000000"/>
                </a:solidFill>
                <a:latin typeface="Times New Roman" panose="02020603050405020304" pitchFamily="18" charset="0"/>
                <a:ea typeface="黑体" panose="02010609060101010101" pitchFamily="49" charset="-122"/>
              </a:rPr>
              <a:t>4</a:t>
            </a:r>
            <a:r>
              <a:rPr kumimoji="1" lang="zh-CN" altLang="en-US" b="0" kern="1200" dirty="0">
                <a:solidFill>
                  <a:srgbClr val="000000"/>
                </a:solidFill>
                <a:latin typeface="Times New Roman" panose="02020603050405020304" pitchFamily="18" charset="0"/>
                <a:ea typeface="黑体" panose="02010609060101010101" pitchFamily="49" charset="-122"/>
              </a:rPr>
              <a:t>，</a:t>
            </a:r>
            <a:r>
              <a:rPr kumimoji="1" lang="en-US" altLang="zh-CN" b="0" kern="1200" dirty="0">
                <a:solidFill>
                  <a:srgbClr val="000000"/>
                </a:solidFill>
                <a:latin typeface="Times New Roman" panose="02020603050405020304" pitchFamily="18" charset="0"/>
                <a:ea typeface="黑体" panose="02010609060101010101" pitchFamily="49" charset="-122"/>
              </a:rPr>
              <a:t>5</a:t>
            </a:r>
            <a:r>
              <a:rPr kumimoji="1" lang="zh-CN" altLang="en-US" b="0" kern="1200" dirty="0">
                <a:solidFill>
                  <a:srgbClr val="000000"/>
                </a:solidFill>
                <a:latin typeface="Times New Roman" panose="02020603050405020304" pitchFamily="18" charset="0"/>
                <a:ea typeface="黑体" panose="02010609060101010101" pitchFamily="49" charset="-122"/>
              </a:rPr>
              <a:t>   可以选择</a:t>
            </a:r>
            <a:endParaRPr kumimoji="1" lang="en-US" altLang="zh-CN" b="0" kern="1200" dirty="0">
              <a:solidFill>
                <a:srgbClr val="000000"/>
              </a:solidFill>
              <a:latin typeface="Times New Roman" panose="02020603050405020304" pitchFamily="18" charset="0"/>
              <a:ea typeface="黑体" panose="02010609060101010101" pitchFamily="49" charset="-122"/>
            </a:endParaRPr>
          </a:p>
          <a:p>
            <a:pPr marL="457200" lvl="0" indent="-457200" eaLnBrk="0" hangingPunct="0">
              <a:spcBef>
                <a:spcPct val="0"/>
              </a:spcBef>
              <a:buClrTx/>
              <a:buSzTx/>
              <a:buFont typeface="+mj-ea"/>
              <a:buAutoNum type="circleNumDbPlain"/>
              <a:defRPr/>
            </a:pPr>
            <a:r>
              <a:rPr kumimoji="1" lang="en-US" altLang="zh-CN" b="0" kern="1200" dirty="0">
                <a:solidFill>
                  <a:srgbClr val="000000"/>
                </a:solidFill>
                <a:latin typeface="Times New Roman" panose="02020603050405020304" pitchFamily="18" charset="0"/>
                <a:ea typeface="黑体" panose="02010609060101010101" pitchFamily="49" charset="-122"/>
              </a:rPr>
              <a:t>8K×8</a:t>
            </a:r>
            <a:r>
              <a:rPr kumimoji="1" lang="zh-CN" altLang="en-US" b="0" kern="1200" dirty="0">
                <a:solidFill>
                  <a:srgbClr val="000000"/>
                </a:solidFill>
                <a:latin typeface="Times New Roman" panose="02020603050405020304" pitchFamily="18" charset="0"/>
                <a:ea typeface="黑体" panose="02010609060101010101" pitchFamily="49" charset="-122"/>
              </a:rPr>
              <a:t>位</a:t>
            </a:r>
            <a:r>
              <a:rPr kumimoji="1" lang="en-US" altLang="zh-CN" b="0" kern="1200" dirty="0">
                <a:solidFill>
                  <a:srgbClr val="000000"/>
                </a:solidFill>
                <a:latin typeface="Times New Roman" panose="02020603050405020304" pitchFamily="18" charset="0"/>
                <a:ea typeface="黑体" panose="02010609060101010101" pitchFamily="49" charset="-122"/>
              </a:rPr>
              <a:t>RAM</a:t>
            </a:r>
            <a:r>
              <a:rPr kumimoji="1" lang="zh-CN" altLang="en-US" b="0" kern="1200" dirty="0">
                <a:solidFill>
                  <a:srgbClr val="000000"/>
                </a:solidFill>
                <a:latin typeface="Times New Roman" panose="02020603050405020304" pitchFamily="18" charset="0"/>
                <a:ea typeface="黑体" panose="02010609060101010101" pitchFamily="49" charset="-122"/>
              </a:rPr>
              <a:t>；学号 </a:t>
            </a:r>
            <a:r>
              <a:rPr kumimoji="1" lang="en-US" altLang="zh-CN" b="0" kern="1200" dirty="0">
                <a:solidFill>
                  <a:srgbClr val="000000"/>
                </a:solidFill>
                <a:latin typeface="Times New Roman" panose="02020603050405020304" pitchFamily="18" charset="0"/>
                <a:ea typeface="黑体" panose="02010609060101010101" pitchFamily="49" charset="-122"/>
              </a:rPr>
              <a:t>mod</a:t>
            </a:r>
            <a:r>
              <a:rPr kumimoji="1" lang="zh-CN" altLang="en-US" b="0" kern="1200" dirty="0">
                <a:solidFill>
                  <a:srgbClr val="000000"/>
                </a:solidFill>
                <a:latin typeface="Times New Roman" panose="02020603050405020304" pitchFamily="18" charset="0"/>
                <a:ea typeface="黑体" panose="02010609060101010101" pitchFamily="49" charset="-122"/>
              </a:rPr>
              <a:t> </a:t>
            </a:r>
            <a:r>
              <a:rPr kumimoji="1" lang="en-US" altLang="zh-CN" b="0" kern="1200" dirty="0">
                <a:solidFill>
                  <a:srgbClr val="000000"/>
                </a:solidFill>
                <a:latin typeface="Times New Roman" panose="02020603050405020304" pitchFamily="18" charset="0"/>
                <a:ea typeface="黑体" panose="02010609060101010101" pitchFamily="49" charset="-122"/>
              </a:rPr>
              <a:t>10=6</a:t>
            </a:r>
            <a:r>
              <a:rPr kumimoji="1" lang="zh-CN" altLang="en-US" b="0" kern="1200" dirty="0">
                <a:solidFill>
                  <a:srgbClr val="000000"/>
                </a:solidFill>
                <a:latin typeface="Times New Roman" panose="02020603050405020304" pitchFamily="18" charset="0"/>
                <a:ea typeface="黑体" panose="02010609060101010101" pitchFamily="49" charset="-122"/>
              </a:rPr>
              <a:t>，</a:t>
            </a:r>
            <a:r>
              <a:rPr kumimoji="1" lang="en-US" altLang="zh-CN" b="0" kern="1200" dirty="0">
                <a:solidFill>
                  <a:srgbClr val="000000"/>
                </a:solidFill>
                <a:latin typeface="Times New Roman" panose="02020603050405020304" pitchFamily="18" charset="0"/>
                <a:ea typeface="黑体" panose="02010609060101010101" pitchFamily="49" charset="-122"/>
              </a:rPr>
              <a:t>7</a:t>
            </a:r>
            <a:r>
              <a:rPr kumimoji="1" lang="zh-CN" altLang="en-US" b="0" kern="1200" dirty="0">
                <a:solidFill>
                  <a:srgbClr val="000000"/>
                </a:solidFill>
                <a:latin typeface="Times New Roman" panose="02020603050405020304" pitchFamily="18" charset="0"/>
                <a:ea typeface="黑体" panose="02010609060101010101" pitchFamily="49" charset="-122"/>
              </a:rPr>
              <a:t>，</a:t>
            </a:r>
            <a:r>
              <a:rPr kumimoji="1" lang="en-US" altLang="zh-CN" b="0" kern="1200" dirty="0">
                <a:solidFill>
                  <a:srgbClr val="000000"/>
                </a:solidFill>
                <a:latin typeface="Times New Roman" panose="02020603050405020304" pitchFamily="18" charset="0"/>
                <a:ea typeface="黑体" panose="02010609060101010101" pitchFamily="49" charset="-122"/>
              </a:rPr>
              <a:t>8</a:t>
            </a:r>
            <a:r>
              <a:rPr kumimoji="1" lang="zh-CN" altLang="en-US" b="0" kern="1200" dirty="0">
                <a:solidFill>
                  <a:srgbClr val="000000"/>
                </a:solidFill>
                <a:latin typeface="Times New Roman" panose="02020603050405020304" pitchFamily="18" charset="0"/>
                <a:ea typeface="黑体" panose="02010609060101010101" pitchFamily="49" charset="-122"/>
              </a:rPr>
              <a:t>，</a:t>
            </a:r>
            <a:r>
              <a:rPr kumimoji="1" lang="en-US" altLang="zh-CN" b="0" kern="1200" dirty="0">
                <a:solidFill>
                  <a:srgbClr val="000000"/>
                </a:solidFill>
                <a:latin typeface="Times New Roman" panose="02020603050405020304" pitchFamily="18" charset="0"/>
                <a:ea typeface="黑体" panose="02010609060101010101" pitchFamily="49" charset="-122"/>
              </a:rPr>
              <a:t>9</a:t>
            </a:r>
            <a:r>
              <a:rPr kumimoji="1" lang="zh-CN" altLang="en-US" b="0" kern="1200" dirty="0">
                <a:solidFill>
                  <a:srgbClr val="000000"/>
                </a:solidFill>
                <a:latin typeface="Times New Roman" panose="02020603050405020304" pitchFamily="18" charset="0"/>
                <a:ea typeface="黑体" panose="02010609060101010101" pitchFamily="49" charset="-122"/>
              </a:rPr>
              <a:t>，</a:t>
            </a:r>
            <a:r>
              <a:rPr kumimoji="1" lang="en-US" altLang="zh-CN" b="0" kern="1200" dirty="0">
                <a:solidFill>
                  <a:srgbClr val="000000"/>
                </a:solidFill>
                <a:latin typeface="Times New Roman" panose="02020603050405020304" pitchFamily="18" charset="0"/>
                <a:ea typeface="黑体" panose="02010609060101010101" pitchFamily="49" charset="-122"/>
              </a:rPr>
              <a:t>0</a:t>
            </a:r>
            <a:r>
              <a:rPr kumimoji="1" lang="zh-CN" altLang="en-US" b="0" kern="1200" dirty="0">
                <a:solidFill>
                  <a:srgbClr val="000000"/>
                </a:solidFill>
                <a:latin typeface="Times New Roman" panose="02020603050405020304" pitchFamily="18" charset="0"/>
                <a:ea typeface="黑体" panose="02010609060101010101" pitchFamily="49" charset="-122"/>
              </a:rPr>
              <a:t>  可以选择</a:t>
            </a:r>
            <a:endParaRPr kumimoji="1" lang="en-US" altLang="zh-CN" b="0" kern="1200" dirty="0">
              <a:solidFill>
                <a:srgbClr val="000000"/>
              </a:solidFill>
              <a:latin typeface="Times New Roman" panose="02020603050405020304" pitchFamily="18" charset="0"/>
              <a:ea typeface="黑体" panose="02010609060101010101" pitchFamily="49" charset="-122"/>
            </a:endParaRPr>
          </a:p>
          <a:p>
            <a:pPr marL="457200" lvl="0" indent="-457200" eaLnBrk="0" hangingPunct="0">
              <a:spcBef>
                <a:spcPct val="0"/>
              </a:spcBef>
              <a:buClrTx/>
              <a:buSzTx/>
              <a:buFont typeface="+mj-ea"/>
              <a:buAutoNum type="circleNumDbPlain"/>
              <a:defRPr/>
            </a:pPr>
            <a:r>
              <a:rPr kumimoji="1" lang="en-US" altLang="zh-CN" b="0" kern="1200" dirty="0">
                <a:solidFill>
                  <a:srgbClr val="000000"/>
                </a:solidFill>
                <a:latin typeface="Times New Roman" panose="02020603050405020304" pitchFamily="18" charset="0"/>
                <a:ea typeface="黑体" panose="02010609060101010101" pitchFamily="49" charset="-122"/>
              </a:rPr>
              <a:t>2K×8</a:t>
            </a:r>
            <a:r>
              <a:rPr kumimoji="1" lang="zh-CN" altLang="en-US" b="0" kern="1200" dirty="0">
                <a:solidFill>
                  <a:srgbClr val="000000"/>
                </a:solidFill>
                <a:latin typeface="Times New Roman" panose="02020603050405020304" pitchFamily="18" charset="0"/>
                <a:ea typeface="黑体" panose="02010609060101010101" pitchFamily="49" charset="-122"/>
              </a:rPr>
              <a:t>位</a:t>
            </a:r>
            <a:r>
              <a:rPr kumimoji="1" lang="en-US" altLang="zh-CN" b="0" kern="1200" dirty="0">
                <a:solidFill>
                  <a:srgbClr val="000000"/>
                </a:solidFill>
                <a:latin typeface="Times New Roman" panose="02020603050405020304" pitchFamily="18" charset="0"/>
                <a:ea typeface="黑体" panose="02010609060101010101" pitchFamily="49" charset="-122"/>
              </a:rPr>
              <a:t>ROM</a:t>
            </a:r>
            <a:r>
              <a:rPr kumimoji="1" lang="zh-CN" altLang="en-US" b="0" kern="1200" dirty="0">
                <a:solidFill>
                  <a:srgbClr val="000000"/>
                </a:solidFill>
                <a:latin typeface="Times New Roman" panose="02020603050405020304" pitchFamily="18" charset="0"/>
                <a:ea typeface="黑体" panose="02010609060101010101" pitchFamily="49" charset="-122"/>
              </a:rPr>
              <a:t>；学号 </a:t>
            </a:r>
            <a:r>
              <a:rPr kumimoji="1" lang="en-US" altLang="zh-CN" b="0" kern="1200" dirty="0">
                <a:solidFill>
                  <a:srgbClr val="000000"/>
                </a:solidFill>
                <a:latin typeface="Times New Roman" panose="02020603050405020304" pitchFamily="18" charset="0"/>
                <a:ea typeface="黑体" panose="02010609060101010101" pitchFamily="49" charset="-122"/>
              </a:rPr>
              <a:t>mod</a:t>
            </a:r>
            <a:r>
              <a:rPr kumimoji="1" lang="zh-CN" altLang="en-US" b="0" kern="1200" dirty="0">
                <a:solidFill>
                  <a:srgbClr val="000000"/>
                </a:solidFill>
                <a:latin typeface="Times New Roman" panose="02020603050405020304" pitchFamily="18" charset="0"/>
                <a:ea typeface="黑体" panose="02010609060101010101" pitchFamily="49" charset="-122"/>
              </a:rPr>
              <a:t> </a:t>
            </a:r>
            <a:r>
              <a:rPr kumimoji="1" lang="en-US" altLang="zh-CN" b="0" kern="1200" dirty="0">
                <a:solidFill>
                  <a:srgbClr val="000000"/>
                </a:solidFill>
                <a:latin typeface="Times New Roman" panose="02020603050405020304" pitchFamily="18" charset="0"/>
                <a:ea typeface="黑体" panose="02010609060101010101" pitchFamily="49" charset="-122"/>
              </a:rPr>
              <a:t>10=1</a:t>
            </a:r>
            <a:r>
              <a:rPr kumimoji="1" lang="zh-CN" altLang="en-US" b="0" kern="1200" dirty="0">
                <a:solidFill>
                  <a:srgbClr val="000000"/>
                </a:solidFill>
                <a:latin typeface="Times New Roman" panose="02020603050405020304" pitchFamily="18" charset="0"/>
                <a:ea typeface="黑体" panose="02010609060101010101" pitchFamily="49" charset="-122"/>
              </a:rPr>
              <a:t>，</a:t>
            </a:r>
            <a:r>
              <a:rPr kumimoji="1" lang="en-US" altLang="zh-CN" b="0" kern="1200" dirty="0">
                <a:solidFill>
                  <a:srgbClr val="000000"/>
                </a:solidFill>
                <a:latin typeface="Times New Roman" panose="02020603050405020304" pitchFamily="18" charset="0"/>
                <a:ea typeface="黑体" panose="02010609060101010101" pitchFamily="49" charset="-122"/>
              </a:rPr>
              <a:t>3</a:t>
            </a:r>
            <a:r>
              <a:rPr kumimoji="1" lang="zh-CN" altLang="en-US" b="0" kern="1200" dirty="0">
                <a:solidFill>
                  <a:srgbClr val="000000"/>
                </a:solidFill>
                <a:latin typeface="Times New Roman" panose="02020603050405020304" pitchFamily="18" charset="0"/>
                <a:ea typeface="黑体" panose="02010609060101010101" pitchFamily="49" charset="-122"/>
              </a:rPr>
              <a:t>，</a:t>
            </a:r>
            <a:r>
              <a:rPr kumimoji="1" lang="en-US" altLang="zh-CN" b="0" kern="1200" dirty="0">
                <a:solidFill>
                  <a:srgbClr val="000000"/>
                </a:solidFill>
                <a:latin typeface="Times New Roman" panose="02020603050405020304" pitchFamily="18" charset="0"/>
                <a:ea typeface="黑体" panose="02010609060101010101" pitchFamily="49" charset="-122"/>
              </a:rPr>
              <a:t>7</a:t>
            </a:r>
            <a:r>
              <a:rPr kumimoji="1" lang="zh-CN" altLang="en-US" b="0" kern="1200" dirty="0">
                <a:solidFill>
                  <a:srgbClr val="000000"/>
                </a:solidFill>
                <a:latin typeface="Times New Roman" panose="02020603050405020304" pitchFamily="18" charset="0"/>
                <a:ea typeface="黑体" panose="02010609060101010101" pitchFamily="49" charset="-122"/>
              </a:rPr>
              <a:t>，</a:t>
            </a:r>
            <a:r>
              <a:rPr kumimoji="1" lang="en-US" altLang="zh-CN" b="0" kern="1200" dirty="0">
                <a:solidFill>
                  <a:srgbClr val="000000"/>
                </a:solidFill>
                <a:latin typeface="Times New Roman" panose="02020603050405020304" pitchFamily="18" charset="0"/>
                <a:ea typeface="黑体" panose="02010609060101010101" pitchFamily="49" charset="-122"/>
              </a:rPr>
              <a:t>9</a:t>
            </a:r>
            <a:r>
              <a:rPr kumimoji="1" lang="zh-CN" altLang="en-US" b="0" kern="1200" dirty="0">
                <a:solidFill>
                  <a:srgbClr val="000000"/>
                </a:solidFill>
                <a:latin typeface="Times New Roman" panose="02020603050405020304" pitchFamily="18" charset="0"/>
                <a:ea typeface="黑体" panose="02010609060101010101" pitchFamily="49" charset="-122"/>
              </a:rPr>
              <a:t>，</a:t>
            </a:r>
            <a:r>
              <a:rPr kumimoji="1" lang="en-US" altLang="zh-CN" b="0" kern="1200" dirty="0">
                <a:solidFill>
                  <a:srgbClr val="000000"/>
                </a:solidFill>
                <a:latin typeface="Times New Roman" panose="02020603050405020304" pitchFamily="18" charset="0"/>
                <a:ea typeface="黑体" panose="02010609060101010101" pitchFamily="49" charset="-122"/>
              </a:rPr>
              <a:t>0</a:t>
            </a:r>
            <a:r>
              <a:rPr kumimoji="1" lang="zh-CN" altLang="en-US" b="0" kern="1200" dirty="0">
                <a:solidFill>
                  <a:srgbClr val="000000"/>
                </a:solidFill>
                <a:latin typeface="Times New Roman" panose="02020603050405020304" pitchFamily="18" charset="0"/>
                <a:ea typeface="黑体" panose="02010609060101010101" pitchFamily="49" charset="-122"/>
              </a:rPr>
              <a:t>   可以选择</a:t>
            </a:r>
            <a:endParaRPr kumimoji="1" lang="en-US" altLang="zh-CN" b="0" kern="1200" dirty="0">
              <a:solidFill>
                <a:srgbClr val="000000"/>
              </a:solidFill>
              <a:latin typeface="Times New Roman" panose="02020603050405020304" pitchFamily="18" charset="0"/>
              <a:ea typeface="黑体" panose="02010609060101010101" pitchFamily="49" charset="-122"/>
            </a:endParaRPr>
          </a:p>
          <a:p>
            <a:pPr marL="457200" lvl="0" indent="-457200" eaLnBrk="0" hangingPunct="0">
              <a:spcBef>
                <a:spcPct val="0"/>
              </a:spcBef>
              <a:buClrTx/>
              <a:buSzTx/>
              <a:buFont typeface="+mj-ea"/>
              <a:buAutoNum type="circleNumDbPlain"/>
              <a:defRPr/>
            </a:pPr>
            <a:r>
              <a:rPr kumimoji="1" lang="en-US" altLang="zh-CN" b="0" kern="1200" dirty="0">
                <a:solidFill>
                  <a:srgbClr val="000000"/>
                </a:solidFill>
                <a:latin typeface="Times New Roman" panose="02020603050405020304" pitchFamily="18" charset="0"/>
                <a:ea typeface="黑体" panose="02010609060101010101" pitchFamily="49" charset="-122"/>
              </a:rPr>
              <a:t>4K×8</a:t>
            </a:r>
            <a:r>
              <a:rPr kumimoji="1" lang="zh-CN" altLang="en-US" b="0" kern="1200" dirty="0">
                <a:solidFill>
                  <a:srgbClr val="000000"/>
                </a:solidFill>
                <a:latin typeface="Times New Roman" panose="02020603050405020304" pitchFamily="18" charset="0"/>
                <a:ea typeface="黑体" panose="02010609060101010101" pitchFamily="49" charset="-122"/>
              </a:rPr>
              <a:t>位</a:t>
            </a:r>
            <a:r>
              <a:rPr kumimoji="1" lang="en-US" altLang="zh-CN" b="0" kern="1200" dirty="0">
                <a:solidFill>
                  <a:srgbClr val="000000"/>
                </a:solidFill>
                <a:latin typeface="Times New Roman" panose="02020603050405020304" pitchFamily="18" charset="0"/>
                <a:ea typeface="黑体" panose="02010609060101010101" pitchFamily="49" charset="-122"/>
              </a:rPr>
              <a:t>ROM</a:t>
            </a:r>
            <a:r>
              <a:rPr kumimoji="1" lang="zh-CN" altLang="en-US" b="0" kern="1200" dirty="0">
                <a:solidFill>
                  <a:srgbClr val="000000"/>
                </a:solidFill>
                <a:latin typeface="Times New Roman" panose="02020603050405020304" pitchFamily="18" charset="0"/>
                <a:ea typeface="黑体" panose="02010609060101010101" pitchFamily="49" charset="-122"/>
              </a:rPr>
              <a:t>；学号 </a:t>
            </a:r>
            <a:r>
              <a:rPr kumimoji="1" lang="en-US" altLang="zh-CN" b="0" kern="1200" dirty="0">
                <a:solidFill>
                  <a:srgbClr val="000000"/>
                </a:solidFill>
                <a:latin typeface="Times New Roman" panose="02020603050405020304" pitchFamily="18" charset="0"/>
                <a:ea typeface="黑体" panose="02010609060101010101" pitchFamily="49" charset="-122"/>
              </a:rPr>
              <a:t>mod</a:t>
            </a:r>
            <a:r>
              <a:rPr kumimoji="1" lang="zh-CN" altLang="en-US" b="0" kern="1200" dirty="0">
                <a:solidFill>
                  <a:srgbClr val="000000"/>
                </a:solidFill>
                <a:latin typeface="Times New Roman" panose="02020603050405020304" pitchFamily="18" charset="0"/>
                <a:ea typeface="黑体" panose="02010609060101010101" pitchFamily="49" charset="-122"/>
              </a:rPr>
              <a:t> </a:t>
            </a:r>
            <a:r>
              <a:rPr kumimoji="1" lang="en-US" altLang="zh-CN" b="0" kern="1200" dirty="0">
                <a:solidFill>
                  <a:srgbClr val="000000"/>
                </a:solidFill>
                <a:latin typeface="Times New Roman" panose="02020603050405020304" pitchFamily="18" charset="0"/>
                <a:ea typeface="黑体" panose="02010609060101010101" pitchFamily="49" charset="-122"/>
              </a:rPr>
              <a:t>10=2</a:t>
            </a:r>
            <a:r>
              <a:rPr kumimoji="1" lang="zh-CN" altLang="en-US" b="0" kern="1200" dirty="0">
                <a:solidFill>
                  <a:srgbClr val="000000"/>
                </a:solidFill>
                <a:latin typeface="Times New Roman" panose="02020603050405020304" pitchFamily="18" charset="0"/>
                <a:ea typeface="黑体" panose="02010609060101010101" pitchFamily="49" charset="-122"/>
              </a:rPr>
              <a:t>，</a:t>
            </a:r>
            <a:r>
              <a:rPr kumimoji="1" lang="en-US" altLang="zh-CN" b="0" kern="1200" dirty="0">
                <a:solidFill>
                  <a:srgbClr val="000000"/>
                </a:solidFill>
                <a:latin typeface="Times New Roman" panose="02020603050405020304" pitchFamily="18" charset="0"/>
                <a:ea typeface="黑体" panose="02010609060101010101" pitchFamily="49" charset="-122"/>
              </a:rPr>
              <a:t>4</a:t>
            </a:r>
            <a:r>
              <a:rPr kumimoji="1" lang="zh-CN" altLang="en-US" b="0" kern="1200" dirty="0">
                <a:solidFill>
                  <a:srgbClr val="000000"/>
                </a:solidFill>
                <a:latin typeface="Times New Roman" panose="02020603050405020304" pitchFamily="18" charset="0"/>
                <a:ea typeface="黑体" panose="02010609060101010101" pitchFamily="49" charset="-122"/>
              </a:rPr>
              <a:t>，</a:t>
            </a:r>
            <a:r>
              <a:rPr kumimoji="1" lang="en-US" altLang="zh-CN" b="0" kern="1200" dirty="0">
                <a:solidFill>
                  <a:srgbClr val="000000"/>
                </a:solidFill>
                <a:latin typeface="Times New Roman" panose="02020603050405020304" pitchFamily="18" charset="0"/>
                <a:ea typeface="黑体" panose="02010609060101010101" pitchFamily="49" charset="-122"/>
              </a:rPr>
              <a:t>5</a:t>
            </a:r>
            <a:r>
              <a:rPr kumimoji="1" lang="zh-CN" altLang="en-US" b="0" kern="1200" dirty="0">
                <a:solidFill>
                  <a:srgbClr val="000000"/>
                </a:solidFill>
                <a:latin typeface="Times New Roman" panose="02020603050405020304" pitchFamily="18" charset="0"/>
                <a:ea typeface="黑体" panose="02010609060101010101" pitchFamily="49" charset="-122"/>
              </a:rPr>
              <a:t>，</a:t>
            </a:r>
            <a:r>
              <a:rPr kumimoji="1" lang="en-US" altLang="zh-CN" b="0" kern="1200" dirty="0">
                <a:solidFill>
                  <a:srgbClr val="000000"/>
                </a:solidFill>
                <a:latin typeface="Times New Roman" panose="02020603050405020304" pitchFamily="18" charset="0"/>
                <a:ea typeface="黑体" panose="02010609060101010101" pitchFamily="49" charset="-122"/>
              </a:rPr>
              <a:t>6</a:t>
            </a:r>
            <a:r>
              <a:rPr kumimoji="1" lang="zh-CN" altLang="en-US" b="0" kern="1200" dirty="0">
                <a:solidFill>
                  <a:srgbClr val="000000"/>
                </a:solidFill>
                <a:latin typeface="Times New Roman" panose="02020603050405020304" pitchFamily="18" charset="0"/>
                <a:ea typeface="黑体" panose="02010609060101010101" pitchFamily="49" charset="-122"/>
              </a:rPr>
              <a:t>，</a:t>
            </a:r>
            <a:r>
              <a:rPr kumimoji="1" lang="en-US" altLang="zh-CN" b="0" kern="1200" dirty="0">
                <a:solidFill>
                  <a:srgbClr val="000000"/>
                </a:solidFill>
                <a:latin typeface="Times New Roman" panose="02020603050405020304" pitchFamily="18" charset="0"/>
                <a:ea typeface="黑体" panose="02010609060101010101" pitchFamily="49" charset="-122"/>
              </a:rPr>
              <a:t>8</a:t>
            </a:r>
            <a:r>
              <a:rPr kumimoji="1" lang="zh-CN" altLang="en-US" b="0" kern="1200" dirty="0">
                <a:solidFill>
                  <a:srgbClr val="000000"/>
                </a:solidFill>
                <a:latin typeface="Times New Roman" panose="02020603050405020304" pitchFamily="18" charset="0"/>
                <a:ea typeface="黑体" panose="02010609060101010101" pitchFamily="49" charset="-122"/>
              </a:rPr>
              <a:t>   可以选择</a:t>
            </a:r>
            <a:endParaRPr kumimoji="1" lang="en-US" altLang="zh-CN" b="0" kern="1200" dirty="0">
              <a:solidFill>
                <a:srgbClr val="000000"/>
              </a:solidFill>
              <a:latin typeface="Times New Roman" panose="02020603050405020304" pitchFamily="18" charset="0"/>
              <a:ea typeface="黑体" panose="02010609060101010101" pitchFamily="49" charset="-122"/>
            </a:endParaRPr>
          </a:p>
          <a:p>
            <a:pPr marL="0" lvl="0" indent="0" eaLnBrk="0" hangingPunct="0">
              <a:spcBef>
                <a:spcPct val="0"/>
              </a:spcBef>
              <a:buClrTx/>
              <a:buSzTx/>
              <a:buNone/>
              <a:defRPr/>
            </a:pPr>
            <a:r>
              <a:rPr kumimoji="1" lang="en-US" altLang="zh-CN" sz="2000" b="0" kern="1200" dirty="0">
                <a:solidFill>
                  <a:srgbClr val="000000"/>
                </a:solidFill>
                <a:latin typeface="Times New Roman" panose="02020603050405020304" pitchFamily="18" charset="0"/>
                <a:ea typeface="黑体" panose="02010609060101010101" pitchFamily="49" charset="-122"/>
              </a:rPr>
              <a:t>8K×8</a:t>
            </a:r>
            <a:r>
              <a:rPr kumimoji="1" lang="zh-CN" altLang="en-US" sz="2000" b="0" kern="1200" dirty="0">
                <a:solidFill>
                  <a:srgbClr val="000000"/>
                </a:solidFill>
                <a:latin typeface="Times New Roman" panose="02020603050405020304" pitchFamily="18" charset="0"/>
                <a:ea typeface="黑体" panose="02010609060101010101" pitchFamily="49" charset="-122"/>
              </a:rPr>
              <a:t>位</a:t>
            </a:r>
            <a:r>
              <a:rPr kumimoji="1" lang="en-US" altLang="zh-CN" sz="2000" b="0" kern="1200" dirty="0">
                <a:solidFill>
                  <a:srgbClr val="000000"/>
                </a:solidFill>
                <a:latin typeface="Times New Roman" panose="02020603050405020304" pitchFamily="18" charset="0"/>
                <a:ea typeface="黑体" panose="02010609060101010101" pitchFamily="49" charset="-122"/>
              </a:rPr>
              <a:t>ROM</a:t>
            </a:r>
            <a:r>
              <a:rPr kumimoji="1" lang="zh-CN" altLang="en-US" sz="2000" b="0" kern="1200" dirty="0">
                <a:solidFill>
                  <a:srgbClr val="000000"/>
                </a:solidFill>
                <a:latin typeface="Times New Roman" panose="02020603050405020304" pitchFamily="18" charset="0"/>
                <a:ea typeface="黑体" panose="02010609060101010101" pitchFamily="49" charset="-122"/>
              </a:rPr>
              <a:t>及</a:t>
            </a:r>
            <a:r>
              <a:rPr kumimoji="1" lang="en-US" altLang="zh-CN" sz="2000" b="0" kern="1200" dirty="0">
                <a:solidFill>
                  <a:srgbClr val="000000"/>
                </a:solidFill>
                <a:latin typeface="Times New Roman" panose="02020603050405020304" pitchFamily="18" charset="0"/>
                <a:ea typeface="黑体" panose="02010609060101010101" pitchFamily="49" charset="-122"/>
              </a:rPr>
              <a:t>74LS138</a:t>
            </a:r>
            <a:r>
              <a:rPr kumimoji="1" lang="zh-CN" altLang="en-US" sz="2000" b="0" kern="1200" dirty="0">
                <a:solidFill>
                  <a:srgbClr val="000000"/>
                </a:solidFill>
                <a:latin typeface="Times New Roman" panose="02020603050405020304" pitchFamily="18" charset="0"/>
                <a:ea typeface="黑体" panose="02010609060101010101" pitchFamily="49" charset="-122"/>
              </a:rPr>
              <a:t>译码器和各种门电路。画出</a:t>
            </a:r>
            <a:r>
              <a:rPr kumimoji="1" lang="en-US" altLang="zh-CN" sz="2000" b="0" kern="1200" dirty="0">
                <a:solidFill>
                  <a:srgbClr val="000000"/>
                </a:solidFill>
                <a:latin typeface="Times New Roman" panose="02020603050405020304" pitchFamily="18" charset="0"/>
                <a:ea typeface="黑体" panose="02010609060101010101" pitchFamily="49" charset="-122"/>
              </a:rPr>
              <a:t>CPU</a:t>
            </a:r>
            <a:r>
              <a:rPr kumimoji="1" lang="zh-CN" altLang="en-US" sz="2000" b="0" kern="1200" dirty="0">
                <a:solidFill>
                  <a:srgbClr val="000000"/>
                </a:solidFill>
                <a:latin typeface="Times New Roman" panose="02020603050405020304" pitchFamily="18" charset="0"/>
                <a:ea typeface="黑体" panose="02010609060101010101" pitchFamily="49" charset="-122"/>
              </a:rPr>
              <a:t>与存储器的连接图，要求 </a:t>
            </a:r>
          </a:p>
          <a:p>
            <a:pPr marL="0" lvl="0" indent="0" eaLnBrk="0" hangingPunct="0">
              <a:spcBef>
                <a:spcPct val="0"/>
              </a:spcBef>
              <a:buClrTx/>
              <a:buSzTx/>
              <a:buNone/>
              <a:defRPr/>
            </a:pPr>
            <a:r>
              <a:rPr kumimoji="1" lang="zh-CN" altLang="en-US" b="0" kern="1200" dirty="0">
                <a:solidFill>
                  <a:srgbClr val="000000"/>
                </a:solidFill>
                <a:latin typeface="Times New Roman" panose="02020603050405020304" pitchFamily="18" charset="0"/>
                <a:ea typeface="黑体" panose="02010609060101010101" pitchFamily="49" charset="-122"/>
              </a:rPr>
              <a:t>（</a:t>
            </a:r>
            <a:r>
              <a:rPr kumimoji="1" lang="en-US" altLang="zh-CN" b="0" kern="1200" dirty="0">
                <a:solidFill>
                  <a:srgbClr val="000000"/>
                </a:solidFill>
                <a:latin typeface="Times New Roman" panose="02020603050405020304" pitchFamily="18" charset="0"/>
                <a:ea typeface="黑体" panose="02010609060101010101" pitchFamily="49" charset="-122"/>
              </a:rPr>
              <a:t>1</a:t>
            </a:r>
            <a:r>
              <a:rPr kumimoji="1" lang="zh-CN" altLang="en-US" b="0" kern="1200" dirty="0">
                <a:solidFill>
                  <a:srgbClr val="000000"/>
                </a:solidFill>
                <a:latin typeface="Times New Roman" panose="02020603050405020304" pitchFamily="18" charset="0"/>
                <a:ea typeface="黑体" panose="02010609060101010101" pitchFamily="49" charset="-122"/>
              </a:rPr>
              <a:t>）主存地址空间分配：</a:t>
            </a:r>
            <a:r>
              <a:rPr kumimoji="1" lang="en-US" altLang="zh-CN" b="0" kern="1200" dirty="0">
                <a:solidFill>
                  <a:srgbClr val="000000"/>
                </a:solidFill>
                <a:latin typeface="Times New Roman" panose="02020603050405020304" pitchFamily="18" charset="0"/>
                <a:ea typeface="黑体" panose="02010609060101010101" pitchFamily="49" charset="-122"/>
              </a:rPr>
              <a:t>6000H</a:t>
            </a:r>
            <a:r>
              <a:rPr kumimoji="1" lang="zh-CN" altLang="en-US" b="0" kern="1200" dirty="0">
                <a:solidFill>
                  <a:srgbClr val="000000"/>
                </a:solidFill>
                <a:latin typeface="Times New Roman" panose="02020603050405020304" pitchFamily="18" charset="0"/>
                <a:ea typeface="黑体" panose="02010609060101010101" pitchFamily="49" charset="-122"/>
              </a:rPr>
              <a:t>～</a:t>
            </a:r>
            <a:r>
              <a:rPr kumimoji="1" lang="en-US" altLang="zh-CN" b="0" kern="1200" dirty="0">
                <a:solidFill>
                  <a:srgbClr val="000000"/>
                </a:solidFill>
                <a:latin typeface="Times New Roman" panose="02020603050405020304" pitchFamily="18" charset="0"/>
                <a:ea typeface="黑体" panose="02010609060101010101" pitchFamily="49" charset="-122"/>
              </a:rPr>
              <a:t>67FFH</a:t>
            </a:r>
            <a:r>
              <a:rPr kumimoji="1" lang="zh-CN" altLang="en-US" b="0" kern="1200" dirty="0">
                <a:solidFill>
                  <a:srgbClr val="000000"/>
                </a:solidFill>
                <a:latin typeface="Times New Roman" panose="02020603050405020304" pitchFamily="18" charset="0"/>
                <a:ea typeface="黑体" panose="02010609060101010101" pitchFamily="49" charset="-122"/>
              </a:rPr>
              <a:t>为系统程序区</a:t>
            </a:r>
            <a:r>
              <a:rPr kumimoji="1" lang="en-US" altLang="zh-CN" b="0" kern="1200" dirty="0">
                <a:solidFill>
                  <a:srgbClr val="000000"/>
                </a:solidFill>
                <a:latin typeface="Times New Roman" panose="02020603050405020304" pitchFamily="18" charset="0"/>
                <a:ea typeface="黑体" panose="02010609060101010101" pitchFamily="49" charset="-122"/>
              </a:rPr>
              <a:t>(ROM)</a:t>
            </a:r>
            <a:r>
              <a:rPr kumimoji="1" lang="zh-CN" altLang="en-US" b="0" kern="1200" dirty="0">
                <a:solidFill>
                  <a:srgbClr val="000000"/>
                </a:solidFill>
                <a:latin typeface="Times New Roman" panose="02020603050405020304" pitchFamily="18" charset="0"/>
                <a:ea typeface="黑体" panose="02010609060101010101" pitchFamily="49" charset="-122"/>
              </a:rPr>
              <a:t>；</a:t>
            </a:r>
            <a:r>
              <a:rPr kumimoji="1" lang="en-US" altLang="zh-CN" b="0" kern="1200" dirty="0">
                <a:solidFill>
                  <a:srgbClr val="000000"/>
                </a:solidFill>
                <a:latin typeface="Times New Roman" panose="02020603050405020304" pitchFamily="18" charset="0"/>
                <a:ea typeface="黑体" panose="02010609060101010101" pitchFamily="49" charset="-122"/>
              </a:rPr>
              <a:t>6800H</a:t>
            </a:r>
            <a:r>
              <a:rPr kumimoji="1" lang="zh-CN" altLang="en-US" b="0" kern="1200" dirty="0">
                <a:solidFill>
                  <a:srgbClr val="000000"/>
                </a:solidFill>
                <a:latin typeface="Times New Roman" panose="02020603050405020304" pitchFamily="18" charset="0"/>
                <a:ea typeface="黑体" panose="02010609060101010101" pitchFamily="49" charset="-122"/>
              </a:rPr>
              <a:t>～</a:t>
            </a:r>
            <a:r>
              <a:rPr kumimoji="1" lang="en-US" altLang="zh-CN" b="0" kern="1200" dirty="0">
                <a:solidFill>
                  <a:srgbClr val="000000"/>
                </a:solidFill>
                <a:latin typeface="Times New Roman" panose="02020603050405020304" pitchFamily="18" charset="0"/>
                <a:ea typeface="黑体" panose="02010609060101010101" pitchFamily="49" charset="-122"/>
              </a:rPr>
              <a:t>6BFFH</a:t>
            </a:r>
            <a:r>
              <a:rPr kumimoji="1" lang="zh-CN" altLang="en-US" b="0" kern="1200" dirty="0">
                <a:solidFill>
                  <a:srgbClr val="000000"/>
                </a:solidFill>
                <a:latin typeface="Times New Roman" panose="02020603050405020304" pitchFamily="18" charset="0"/>
                <a:ea typeface="黑体" panose="02010609060101010101" pitchFamily="49" charset="-122"/>
              </a:rPr>
              <a:t>为用户程序区</a:t>
            </a:r>
            <a:r>
              <a:rPr kumimoji="1" lang="en-US" altLang="zh-CN" b="0" kern="1200" dirty="0">
                <a:solidFill>
                  <a:srgbClr val="000000"/>
                </a:solidFill>
                <a:latin typeface="Times New Roman" panose="02020603050405020304" pitchFamily="18" charset="0"/>
                <a:ea typeface="黑体" panose="02010609060101010101" pitchFamily="49" charset="-122"/>
              </a:rPr>
              <a:t>(RAM)</a:t>
            </a:r>
            <a:r>
              <a:rPr kumimoji="1" lang="zh-CN" altLang="en-US" b="0" kern="1200" dirty="0">
                <a:solidFill>
                  <a:srgbClr val="000000"/>
                </a:solidFill>
                <a:latin typeface="Times New Roman" panose="02020603050405020304" pitchFamily="18" charset="0"/>
                <a:ea typeface="黑体" panose="02010609060101010101" pitchFamily="49" charset="-122"/>
              </a:rPr>
              <a:t>。</a:t>
            </a:r>
          </a:p>
          <a:p>
            <a:pPr marL="0" lvl="0" indent="0" eaLnBrk="0" hangingPunct="0">
              <a:spcBef>
                <a:spcPct val="0"/>
              </a:spcBef>
              <a:buClrTx/>
              <a:buSzTx/>
              <a:buNone/>
              <a:defRPr/>
            </a:pPr>
            <a:r>
              <a:rPr kumimoji="1" lang="zh-CN" altLang="en-US" b="0" kern="1200" dirty="0">
                <a:solidFill>
                  <a:srgbClr val="000000"/>
                </a:solidFill>
                <a:latin typeface="Times New Roman" panose="02020603050405020304" pitchFamily="18" charset="0"/>
                <a:ea typeface="黑体" panose="02010609060101010101" pitchFamily="49" charset="-122"/>
              </a:rPr>
              <a:t>（</a:t>
            </a:r>
            <a:r>
              <a:rPr kumimoji="1" lang="en-US" altLang="zh-CN" b="0" kern="1200" dirty="0">
                <a:solidFill>
                  <a:srgbClr val="000000"/>
                </a:solidFill>
                <a:latin typeface="Times New Roman" panose="02020603050405020304" pitchFamily="18" charset="0"/>
                <a:ea typeface="黑体" panose="02010609060101010101" pitchFamily="49" charset="-122"/>
              </a:rPr>
              <a:t>2</a:t>
            </a:r>
            <a:r>
              <a:rPr kumimoji="1" lang="zh-CN" altLang="en-US" b="0" kern="1200" dirty="0">
                <a:solidFill>
                  <a:srgbClr val="000000"/>
                </a:solidFill>
                <a:latin typeface="Times New Roman" panose="02020603050405020304" pitchFamily="18" charset="0"/>
                <a:ea typeface="黑体" panose="02010609060101010101" pitchFamily="49" charset="-122"/>
              </a:rPr>
              <a:t>）合理选用上述存储芯片，说明各选几片？</a:t>
            </a:r>
          </a:p>
          <a:p>
            <a:pPr marL="0" lvl="0" indent="0" eaLnBrk="0" hangingPunct="0">
              <a:spcBef>
                <a:spcPct val="0"/>
              </a:spcBef>
              <a:buClrTx/>
              <a:buSzTx/>
              <a:buNone/>
              <a:defRPr/>
            </a:pPr>
            <a:r>
              <a:rPr kumimoji="1" lang="zh-CN" altLang="en-US" b="0" kern="1200" dirty="0">
                <a:solidFill>
                  <a:srgbClr val="000000"/>
                </a:solidFill>
                <a:latin typeface="Times New Roman" panose="02020603050405020304" pitchFamily="18" charset="0"/>
                <a:ea typeface="黑体" panose="02010609060101010101" pitchFamily="49" charset="-122"/>
              </a:rPr>
              <a:t>（</a:t>
            </a:r>
            <a:r>
              <a:rPr kumimoji="1" lang="en-US" altLang="zh-CN" b="0" kern="1200" dirty="0">
                <a:solidFill>
                  <a:srgbClr val="000000"/>
                </a:solidFill>
                <a:latin typeface="Times New Roman" panose="02020603050405020304" pitchFamily="18" charset="0"/>
                <a:ea typeface="黑体" panose="02010609060101010101" pitchFamily="49" charset="-122"/>
              </a:rPr>
              <a:t>3</a:t>
            </a:r>
            <a:r>
              <a:rPr kumimoji="1" lang="zh-CN" altLang="en-US" b="0" kern="1200" dirty="0">
                <a:solidFill>
                  <a:srgbClr val="000000"/>
                </a:solidFill>
                <a:latin typeface="Times New Roman" panose="02020603050405020304" pitchFamily="18" charset="0"/>
                <a:ea typeface="黑体" panose="02010609060101010101" pitchFamily="49" charset="-122"/>
              </a:rPr>
              <a:t>）详细画出存储芯片的片选逻辑图。</a:t>
            </a:r>
          </a:p>
          <a:p>
            <a:endParaRPr lang="zh-CN" altLang="en-US" sz="2800" dirty="0"/>
          </a:p>
        </p:txBody>
      </p:sp>
    </p:spTree>
    <p:extLst>
      <p:ext uri="{BB962C8B-B14F-4D97-AF65-F5344CB8AC3E}">
        <p14:creationId xmlns:p14="http://schemas.microsoft.com/office/powerpoint/2010/main" val="216000860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步骤</a:t>
            </a:r>
            <a:endParaRPr lang="zh-CN" altLang="en-US" dirty="0"/>
          </a:p>
        </p:txBody>
      </p:sp>
      <p:sp>
        <p:nvSpPr>
          <p:cNvPr id="3" name="内容占位符 2"/>
          <p:cNvSpPr>
            <a:spLocks noGrp="1"/>
          </p:cNvSpPr>
          <p:nvPr>
            <p:ph idx="1"/>
          </p:nvPr>
        </p:nvSpPr>
        <p:spPr/>
        <p:txBody>
          <a:bodyPr/>
          <a:lstStyle/>
          <a:p>
            <a:r>
              <a:rPr lang="zh-CN" altLang="en-US" sz="3200" dirty="0"/>
              <a:t>地址规划</a:t>
            </a:r>
          </a:p>
          <a:p>
            <a:r>
              <a:rPr lang="zh-CN" altLang="en-US" sz="3200" dirty="0"/>
              <a:t>选择</a:t>
            </a:r>
            <a:r>
              <a:rPr lang="zh-CN" altLang="en-US" sz="3200" dirty="0" smtClean="0"/>
              <a:t>芯片</a:t>
            </a:r>
            <a:endParaRPr lang="en-US" altLang="zh-CN" sz="3200" dirty="0" smtClean="0"/>
          </a:p>
          <a:p>
            <a:r>
              <a:rPr lang="zh-CN" altLang="en-US" sz="3200" dirty="0" smtClean="0"/>
              <a:t>确定片选信号</a:t>
            </a:r>
            <a:endParaRPr lang="zh-CN" altLang="en-US" sz="3200" dirty="0"/>
          </a:p>
          <a:p>
            <a:pPr lvl="1"/>
            <a:r>
              <a:rPr lang="zh-CN" altLang="en-US" sz="2800" dirty="0"/>
              <a:t>真值表</a:t>
            </a:r>
          </a:p>
          <a:p>
            <a:pPr lvl="1"/>
            <a:r>
              <a:rPr lang="zh-CN" altLang="en-US" sz="2800" dirty="0"/>
              <a:t>译码器电路</a:t>
            </a:r>
            <a:r>
              <a:rPr lang="zh-CN" altLang="en-US" sz="2800" dirty="0" smtClean="0"/>
              <a:t>表达式</a:t>
            </a:r>
            <a:endParaRPr lang="zh-CN" altLang="en-US" sz="2800" dirty="0"/>
          </a:p>
        </p:txBody>
      </p:sp>
    </p:spTree>
    <p:extLst>
      <p:ext uri="{BB962C8B-B14F-4D97-AF65-F5344CB8AC3E}">
        <p14:creationId xmlns:p14="http://schemas.microsoft.com/office/powerpoint/2010/main" val="299841374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写出对应的二进制地址码</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7017" y="1447800"/>
            <a:ext cx="8714605" cy="2971800"/>
          </a:xfrm>
          <a:prstGeom prst="rect">
            <a:avLst/>
          </a:prstGeom>
        </p:spPr>
      </p:pic>
      <p:sp>
        <p:nvSpPr>
          <p:cNvPr id="5" name="矩形 4"/>
          <p:cNvSpPr/>
          <p:nvPr/>
        </p:nvSpPr>
        <p:spPr bwMode="auto">
          <a:xfrm>
            <a:off x="357018" y="1447800"/>
            <a:ext cx="2462382" cy="1371600"/>
          </a:xfrm>
          <a:prstGeom prst="rect">
            <a:avLst/>
          </a:prstGeom>
          <a:noFill/>
          <a:ln w="25400" cap="flat" cmpd="sng" algn="ctr">
            <a:solidFill>
              <a:srgbClr val="CC000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Narrow" pitchFamily="34" charset="0"/>
            </a:endParaRPr>
          </a:p>
        </p:txBody>
      </p:sp>
      <p:sp>
        <p:nvSpPr>
          <p:cNvPr id="6" name="矩形 5"/>
          <p:cNvSpPr/>
          <p:nvPr/>
        </p:nvSpPr>
        <p:spPr bwMode="auto">
          <a:xfrm>
            <a:off x="357016" y="2968580"/>
            <a:ext cx="2843384" cy="1371600"/>
          </a:xfrm>
          <a:prstGeom prst="rect">
            <a:avLst/>
          </a:prstGeom>
          <a:noFill/>
          <a:ln w="25400" cap="flat" cmpd="sng" algn="ctr">
            <a:solidFill>
              <a:srgbClr val="CC000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Narrow" pitchFamily="34" charset="0"/>
            </a:endParaRPr>
          </a:p>
        </p:txBody>
      </p:sp>
      <p:sp>
        <p:nvSpPr>
          <p:cNvPr id="7" name="文本框 6"/>
          <p:cNvSpPr txBox="1"/>
          <p:nvPr/>
        </p:nvSpPr>
        <p:spPr>
          <a:xfrm>
            <a:off x="357018" y="5029200"/>
            <a:ext cx="7415382" cy="1569660"/>
          </a:xfrm>
          <a:prstGeom prst="rect">
            <a:avLst/>
          </a:prstGeom>
          <a:noFill/>
        </p:spPr>
        <p:txBody>
          <a:bodyPr wrap="square" rtlCol="0">
            <a:spAutoFit/>
          </a:bodyPr>
          <a:lstStyle/>
          <a:p>
            <a:r>
              <a:rPr lang="en-US" altLang="zh-CN" sz="3200" dirty="0" smtClean="0">
                <a:latin typeface="Calibri" pitchFamily="34" charset="0"/>
              </a:rPr>
              <a:t>A10-A0 </a:t>
            </a:r>
            <a:r>
              <a:rPr lang="zh-CN" altLang="en-US" sz="3200" dirty="0" smtClean="0">
                <a:latin typeface="Calibri" pitchFamily="34" charset="0"/>
              </a:rPr>
              <a:t>接</a:t>
            </a:r>
            <a:r>
              <a:rPr lang="en-US" altLang="zh-CN" sz="3200" dirty="0" smtClean="0">
                <a:latin typeface="Calibri" pitchFamily="34" charset="0"/>
              </a:rPr>
              <a:t>2K*8</a:t>
            </a:r>
            <a:r>
              <a:rPr lang="zh-CN" altLang="en-US" sz="3200" dirty="0" smtClean="0">
                <a:latin typeface="Calibri" pitchFamily="34" charset="0"/>
              </a:rPr>
              <a:t>位 </a:t>
            </a:r>
            <a:r>
              <a:rPr lang="en-US" altLang="zh-CN" sz="3200" dirty="0" smtClean="0">
                <a:latin typeface="Calibri" pitchFamily="34" charset="0"/>
              </a:rPr>
              <a:t>ROM</a:t>
            </a:r>
            <a:r>
              <a:rPr lang="zh-CN" altLang="en-US" sz="3200" dirty="0" smtClean="0">
                <a:latin typeface="Calibri" pitchFamily="34" charset="0"/>
              </a:rPr>
              <a:t>的地址线</a:t>
            </a:r>
            <a:endParaRPr lang="en-US" altLang="zh-CN" sz="3200" dirty="0" smtClean="0">
              <a:latin typeface="Calibri" pitchFamily="34" charset="0"/>
            </a:endParaRPr>
          </a:p>
          <a:p>
            <a:r>
              <a:rPr lang="en-US" altLang="zh-CN" sz="3200" dirty="0" smtClean="0">
                <a:latin typeface="Calibri" pitchFamily="34" charset="0"/>
              </a:rPr>
              <a:t>A9-A0</a:t>
            </a:r>
            <a:r>
              <a:rPr lang="zh-CN" altLang="en-US" sz="3200" dirty="0" smtClean="0">
                <a:latin typeface="Calibri" pitchFamily="34" charset="0"/>
              </a:rPr>
              <a:t>接</a:t>
            </a:r>
            <a:r>
              <a:rPr lang="en-US" altLang="zh-CN" sz="3200" dirty="0" smtClean="0">
                <a:latin typeface="Calibri" pitchFamily="34" charset="0"/>
              </a:rPr>
              <a:t>1K*4</a:t>
            </a:r>
            <a:r>
              <a:rPr lang="zh-CN" altLang="en-US" sz="3200" dirty="0" smtClean="0">
                <a:latin typeface="Calibri" pitchFamily="34" charset="0"/>
              </a:rPr>
              <a:t>位</a:t>
            </a:r>
            <a:r>
              <a:rPr lang="en-US" altLang="zh-CN" sz="3200" dirty="0" smtClean="0">
                <a:latin typeface="Calibri" pitchFamily="34" charset="0"/>
              </a:rPr>
              <a:t>RAM</a:t>
            </a:r>
            <a:r>
              <a:rPr lang="zh-CN" altLang="en-US" sz="3200" dirty="0" smtClean="0">
                <a:latin typeface="Calibri" pitchFamily="34" charset="0"/>
              </a:rPr>
              <a:t>的地址线</a:t>
            </a:r>
            <a:endParaRPr lang="en-US" altLang="zh-CN" sz="3200" dirty="0" smtClean="0">
              <a:latin typeface="Calibri" pitchFamily="34" charset="0"/>
            </a:endParaRPr>
          </a:p>
          <a:p>
            <a:r>
              <a:rPr lang="en-US" altLang="zh-CN" sz="3200" dirty="0" smtClean="0">
                <a:latin typeface="Calibri" pitchFamily="34" charset="0"/>
              </a:rPr>
              <a:t>A10 </a:t>
            </a:r>
            <a:r>
              <a:rPr lang="zh-CN" altLang="en-US" sz="3200" dirty="0" smtClean="0">
                <a:latin typeface="Calibri" pitchFamily="34" charset="0"/>
              </a:rPr>
              <a:t>特殊</a:t>
            </a:r>
            <a:endParaRPr lang="zh-CN" altLang="en-US" sz="3200" dirty="0" smtClean="0">
              <a:latin typeface="Calibri" pitchFamily="34" charset="0"/>
            </a:endParaRPr>
          </a:p>
        </p:txBody>
      </p:sp>
    </p:spTree>
    <p:extLst>
      <p:ext uri="{BB962C8B-B14F-4D97-AF65-F5344CB8AC3E}">
        <p14:creationId xmlns:p14="http://schemas.microsoft.com/office/powerpoint/2010/main" val="13619736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确定片选信号</a:t>
            </a:r>
            <a:endParaRPr lang="zh-CN" altLang="en-US" dirty="0"/>
          </a:p>
        </p:txBody>
      </p:sp>
      <p:sp>
        <p:nvSpPr>
          <p:cNvPr id="3" name="内容占位符 2"/>
          <p:cNvSpPr>
            <a:spLocks noGrp="1"/>
          </p:cNvSpPr>
          <p:nvPr>
            <p:ph idx="1"/>
          </p:nvPr>
        </p:nvSpPr>
        <p:spPr/>
        <p:txBody>
          <a:bodyPr/>
          <a:lstStyle/>
          <a:p>
            <a:r>
              <a:rPr lang="en-US" altLang="zh-CN" dirty="0" smtClean="0"/>
              <a:t>A11-A13</a:t>
            </a:r>
          </a:p>
          <a:p>
            <a:r>
              <a:rPr lang="en-US" altLang="zh-CN" dirty="0" smtClean="0"/>
              <a:t>A10</a:t>
            </a:r>
            <a:r>
              <a:rPr lang="zh-CN" altLang="en-US" dirty="0" smtClean="0"/>
              <a:t>是上面芯片的片内地址   </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1600" y="2286000"/>
            <a:ext cx="5562600" cy="4541581"/>
          </a:xfrm>
          <a:prstGeom prst="rect">
            <a:avLst/>
          </a:prstGeom>
        </p:spPr>
      </p:pic>
    </p:spTree>
    <p:extLst>
      <p:ext uri="{BB962C8B-B14F-4D97-AF65-F5344CB8AC3E}">
        <p14:creationId xmlns:p14="http://schemas.microsoft.com/office/powerpoint/2010/main" val="22125115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XPOINTINIT" val=""/>
  <p:tag name="USEAMSFONTS" val="True"/>
  <p:tag name="EMBEDFONTS" val="False"/>
  <p:tag name="USEBOLDAMS" val="False"/>
  <p:tag name="DEFAULTDISPLAYSOURCE" val="\documentclass{slides}\pagestyle{empty}&#10;\begin{document}&#10;&#10;\end{document}&#10;"/>
  <p:tag name="TEX2PS" val="latex $(base).tex; dvips -D $(res) -E -o $(base).ps $(base).dvi"/>
  <p:tag name="EXTERNALEDITCOMMAND" val="notepad %"/>
  <p:tag name="GHOSTSCRIPTCOMMAND" val="gswin32c"/>
  <p:tag name="DEFAULTBITMAP" val="pngmono"/>
  <p:tag name="DEFAULTBLEND" val="False"/>
  <p:tag name="DEFAULTTRANSPARENT" val="False"/>
  <p:tag name="DEFAULTWORKAROUNDTRANSPARENCYBUG" val="False"/>
  <p:tag name="DEFAULTRESOLUTION" val="1200"/>
  <p:tag name="DEFAULTMAGNIFICATION" val="0.8"/>
  <p:tag name="DEFAULTFONTSIZE" val="10"/>
  <p:tag name="DEFAULTWIDTH" val="418"/>
  <p:tag name="DEFAULTHEIGHT" val="316"/>
</p:tagLst>
</file>

<file path=ppt/theme/theme1.xml><?xml version="1.0" encoding="utf-8"?>
<a:theme xmlns:a="http://schemas.openxmlformats.org/drawingml/2006/main" name="ICS">
  <a:themeElements>
    <a:clrScheme name="Custom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00000"/>
      </a:hlink>
      <a:folHlink>
        <a:srgbClr val="C00000"/>
      </a:folHlink>
    </a:clrScheme>
    <a:fontScheme name="Custom 1">
      <a:majorFont>
        <a:latin typeface="Arial Narrow"/>
        <a:ea typeface=""/>
        <a:cs typeface=""/>
      </a:majorFont>
      <a:minorFont>
        <a:latin typeface="Arial Narr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5400" cap="flat" cmpd="sng" algn="ctr">
          <a:solidFill>
            <a:srgbClr val="CC0000"/>
          </a:solidFill>
          <a:prstDash val="solid"/>
          <a:round/>
          <a:headEnd type="none" w="med" len="med"/>
          <a:tailEnd type="triangl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1"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noFill/>
        <a:ln w="25400" cap="flat" cmpd="sng" algn="ctr">
          <a:solidFill>
            <a:srgbClr val="CC0000"/>
          </a:solidFill>
          <a:prstDash val="solid"/>
          <a:round/>
          <a:headEnd type="none" w="med" len="med"/>
          <a:tailEnd type="triangl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1" i="0" u="none" strike="noStrike" cap="none" normalizeH="0" baseline="0" smtClean="0">
            <a:ln>
              <a:noFill/>
            </a:ln>
            <a:solidFill>
              <a:schemeClr val="tx1"/>
            </a:solidFill>
            <a:effectLst/>
            <a:latin typeface="Arial Narrow" pitchFamily="34" charset="0"/>
          </a:defRPr>
        </a:defPPr>
      </a:lstStyle>
    </a:lnDef>
    <a:txDef>
      <a:spPr>
        <a:noFill/>
      </a:spPr>
      <a:bodyPr wrap="none" rtlCol="0">
        <a:spAutoFit/>
      </a:bodyPr>
      <a:lstStyle>
        <a:defPPr>
          <a:defRPr dirty="0" smtClean="0">
            <a:latin typeface="Calibri" pitchFamily="34" charset="0"/>
          </a:defRPr>
        </a:defPPr>
      </a:lstStyle>
    </a:txDef>
  </a:objectDefaults>
  <a:extraClrSchemeLst>
    <a:extraClrScheme>
      <a:clrScheme name="class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lass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lass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lass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lass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lass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lass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ICS" id="{BFB7FEFA-8734-0B42-B755-C9D64BE0CB38}" vid="{E9469454-AAA5-594F-867D-BCE1B1026FFC}"/>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template2007</Template>
  <TotalTime>26661</TotalTime>
  <Words>5163</Words>
  <Application>Microsoft Office PowerPoint</Application>
  <PresentationFormat>全屏显示(4:3)</PresentationFormat>
  <Paragraphs>474</Paragraphs>
  <Slides>56</Slides>
  <Notes>33</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56</vt:i4>
      </vt:variant>
    </vt:vector>
  </HeadingPairs>
  <TitlesOfParts>
    <vt:vector size="70" baseType="lpstr">
      <vt:lpstr>ＭＳ Ｐゴシック</vt:lpstr>
      <vt:lpstr>仿宋_GB2312</vt:lpstr>
      <vt:lpstr>黑体</vt:lpstr>
      <vt:lpstr>华文楷体</vt:lpstr>
      <vt:lpstr>楷体_GB2312</vt:lpstr>
      <vt:lpstr>宋体</vt:lpstr>
      <vt:lpstr>Arial</vt:lpstr>
      <vt:lpstr>Arial Narrow</vt:lpstr>
      <vt:lpstr>Calibri</vt:lpstr>
      <vt:lpstr>Symbol</vt:lpstr>
      <vt:lpstr>Times New Roman</vt:lpstr>
      <vt:lpstr>Wingdings</vt:lpstr>
      <vt:lpstr>Wingdings 2</vt:lpstr>
      <vt:lpstr>ICS</vt:lpstr>
      <vt:lpstr>计算机组成原理 </vt:lpstr>
      <vt:lpstr>PowerPoint 演示文稿</vt:lpstr>
      <vt:lpstr>知识点复习</vt:lpstr>
      <vt:lpstr>习题解答</vt:lpstr>
      <vt:lpstr>PowerPoint 演示文稿</vt:lpstr>
      <vt:lpstr>习题解答</vt:lpstr>
      <vt:lpstr>PowerPoint 演示文稿</vt:lpstr>
      <vt:lpstr>知识点复习：32位浮点数的IEEE754表示</vt:lpstr>
      <vt:lpstr>习题解答</vt:lpstr>
      <vt:lpstr>PowerPoint 演示文稿</vt:lpstr>
      <vt:lpstr>习题解答</vt:lpstr>
      <vt:lpstr>PowerPoint 演示文稿</vt:lpstr>
      <vt:lpstr>PowerPoint 演示文稿</vt:lpstr>
      <vt:lpstr>  知识点：以定点整数为例,用数轴形式说明原码、反码、补码、移码表示范围和可能的数码组合情况</vt:lpstr>
      <vt:lpstr>浮点数的数据表示范围</vt:lpstr>
      <vt:lpstr>PowerPoint 演示文稿</vt:lpstr>
      <vt:lpstr>知识点复习：海明码——确定校验位的位数</vt:lpstr>
      <vt:lpstr>习题解答</vt:lpstr>
      <vt:lpstr>PowerPoint 演示文稿</vt:lpstr>
      <vt:lpstr>快表(TLB)的引入</vt:lpstr>
      <vt:lpstr>快表是什么？</vt:lpstr>
      <vt:lpstr>加入TLB后地址转换过程示意</vt:lpstr>
      <vt:lpstr>习题解答</vt:lpstr>
      <vt:lpstr>PowerPoint 演示文稿</vt:lpstr>
      <vt:lpstr>知识点：变址寻址</vt:lpstr>
      <vt:lpstr>知识点：基址寻址</vt:lpstr>
      <vt:lpstr>习题解答</vt:lpstr>
      <vt:lpstr>PowerPoint 演示文稿</vt:lpstr>
      <vt:lpstr>PowerPoint 演示文稿</vt:lpstr>
      <vt:lpstr>知识点：流水CPU</vt:lpstr>
      <vt:lpstr>习题解答</vt:lpstr>
      <vt:lpstr>PowerPoint 演示文稿</vt:lpstr>
      <vt:lpstr>知识点  总线带宽</vt:lpstr>
      <vt:lpstr>习题解答</vt:lpstr>
      <vt:lpstr>PowerPoint 演示文稿</vt:lpstr>
      <vt:lpstr>知识点  总线数据传送模式</vt:lpstr>
      <vt:lpstr>PowerPoint 演示文稿</vt:lpstr>
      <vt:lpstr>PowerPoint 演示文稿</vt:lpstr>
      <vt:lpstr>PowerPoint 演示文稿</vt:lpstr>
      <vt:lpstr>PowerPoint 演示文稿</vt:lpstr>
      <vt:lpstr>知识点  磁盘存储器的主要技术指标</vt:lpstr>
      <vt:lpstr>习题解答</vt:lpstr>
      <vt:lpstr>期中考试详解</vt:lpstr>
      <vt:lpstr>期中考试详解</vt:lpstr>
      <vt:lpstr>知识点 浮点数加减运算</vt:lpstr>
      <vt:lpstr>浮点数加减运算——两操作数对阶</vt:lpstr>
      <vt:lpstr>浮点数加减运算——结果的规格化处理</vt:lpstr>
      <vt:lpstr>浮点数加减运算——结果的舍入处理</vt:lpstr>
      <vt:lpstr>浮点数加减运算——结果的溢出判断</vt:lpstr>
      <vt:lpstr>期中考试详解</vt:lpstr>
      <vt:lpstr>期中考试详解</vt:lpstr>
      <vt:lpstr>期中考试解答</vt:lpstr>
      <vt:lpstr>期中考试详解</vt:lpstr>
      <vt:lpstr>步骤</vt:lpstr>
      <vt:lpstr>写出对应的二进制地址码</vt:lpstr>
      <vt:lpstr>确定片选信号</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Computer Systems 15-213/18-243, spring 2009 1st Lecture, Jan. 12th</dc:title>
  <dc:creator>Markus Pueschel</dc:creator>
  <dc:description>Redesign of slides created by Randal E. Bryant and David R. O'Hallaron</dc:description>
  <cp:lastModifiedBy>Haoyu Wang</cp:lastModifiedBy>
  <cp:revision>3303</cp:revision>
  <cp:lastPrinted>2014-08-28T06:23:39Z</cp:lastPrinted>
  <dcterms:created xsi:type="dcterms:W3CDTF">2012-09-04T17:29:26Z</dcterms:created>
  <dcterms:modified xsi:type="dcterms:W3CDTF">2017-06-14T19:21:12Z</dcterms:modified>
</cp:coreProperties>
</file>